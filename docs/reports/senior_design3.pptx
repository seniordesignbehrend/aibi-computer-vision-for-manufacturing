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272" r:id="rId1"/>
  </p:sldMasterIdLst>
  <p:notesMasterIdLst>
    <p:notesMasterId r:id="rId40"/>
  </p:notesMasterIdLst>
  <p:sldIdLst>
    <p:sldId id="259" r:id="rId2"/>
    <p:sldId id="273" r:id="rId3"/>
    <p:sldId id="301" r:id="rId4"/>
    <p:sldId id="331" r:id="rId5"/>
    <p:sldId id="332" r:id="rId6"/>
    <p:sldId id="333" r:id="rId7"/>
    <p:sldId id="329" r:id="rId8"/>
    <p:sldId id="328" r:id="rId9"/>
    <p:sldId id="319" r:id="rId10"/>
    <p:sldId id="307" r:id="rId11"/>
    <p:sldId id="320" r:id="rId12"/>
    <p:sldId id="321" r:id="rId13"/>
    <p:sldId id="268" r:id="rId14"/>
    <p:sldId id="305" r:id="rId15"/>
    <p:sldId id="304" r:id="rId16"/>
    <p:sldId id="306" r:id="rId17"/>
    <p:sldId id="330" r:id="rId18"/>
    <p:sldId id="327" r:id="rId19"/>
    <p:sldId id="311" r:id="rId20"/>
    <p:sldId id="313" r:id="rId21"/>
    <p:sldId id="314" r:id="rId22"/>
    <p:sldId id="315" r:id="rId23"/>
    <p:sldId id="316" r:id="rId24"/>
    <p:sldId id="317" r:id="rId25"/>
    <p:sldId id="322" r:id="rId26"/>
    <p:sldId id="323" r:id="rId27"/>
    <p:sldId id="324" r:id="rId28"/>
    <p:sldId id="326" r:id="rId29"/>
    <p:sldId id="270" r:id="rId30"/>
    <p:sldId id="289" r:id="rId31"/>
    <p:sldId id="271" r:id="rId32"/>
    <p:sldId id="275" r:id="rId33"/>
    <p:sldId id="277" r:id="rId34"/>
    <p:sldId id="278" r:id="rId35"/>
    <p:sldId id="302" r:id="rId36"/>
    <p:sldId id="308" r:id="rId37"/>
    <p:sldId id="272" r:id="rId38"/>
    <p:sldId id="309" r:id="rId3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04E5A927-2E4D-2362-15DC-5DFE07CD6FB3}" name="Dzikowski, Jacob John" initials="DJ" userId="S::jjd6349@psu.edu::4895814a-dc03-4c39-8378-dc19ab9f5be6" providerId="AD"/>
  <p188:author id="{1CA73F28-E147-6B8C-100B-0A7FBD428FF7}" name="Miller, Collin" initials="CM" userId="S::ckm5913@psu.edu::ff908cb6-7d6f-4875-b4f5-278d20c7e956" providerId="AD"/>
  <p188:author id="{90A73376-2957-628E-A3BA-9A35FC3F89D5}" name="DiGilio, Nathan Michael" initials="ND" userId="S::nmd5752@psu.edu::6de92994-7294-401c-8d7d-1533f7e9bf00" providerId="AD"/>
  <p188:author id="{5970E0C0-434A-75B7-D3C8-51FF4DE5CB15}" name="Pora, Daniel Joseph" initials="PD" userId="S::djp6208@psu.edu::1357b16c-6670-4578-8a58-65b560130820" providerId="AD"/>
  <p188:author id="{73E7C8C7-1286-7D18-8433-CFACF2081A2E}" name="DiGilio, Nathan Michael" initials="" userId="S::nmd5752@PSU.EDU::6de92994-7294-401c-8d7d-1533f7e9bf00" providerId="AD"/>
  <p188:author id="{79B83EE5-10CA-116C-49E1-8AF6F3E4095F}" name="Pora, Daniel Joseph" initials="" userId="S::djp6208@PSU.EDU::1357b16c-6670-4578-8a58-65b56013082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B9CB53-BF8D-4F8A-88A4-8834F1C3A7C9}" v="207" dt="2026-02-23T01:44:41.471"/>
    <p1510:client id="{6787373B-2D4F-BB10-5639-2B5A74F49FA8}" v="355" dt="2026-02-23T01:36:40.439"/>
    <p1510:client id="{8F73BDC5-3F98-F0B1-F059-A3AEA9B5D7AD}" v="19" dt="2026-02-23T01:32:37.2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45" Type="http://schemas.microsoft.com/office/2016/11/relationships/changesInfo" Target="changesInfos/changesInfo1.xml"/><Relationship Id="rId46" Type="http://schemas.microsoft.com/office/2015/10/relationships/revisionInfo" Target="revisionInfo.xml"/><Relationship Id="rId4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zikowski, Jacob John" userId="S::jjd6349@psu.edu::4895814a-dc03-4c39-8378-dc19ab9f5be6" providerId="AD" clId="Web-{6787373B-2D4F-BB10-5639-2B5A74F49FA8}"/>
    <pc:docChg chg="modSld">
      <pc:chgData name="Dzikowski, Jacob John" userId="S::jjd6349@psu.edu::4895814a-dc03-4c39-8378-dc19ab9f5be6" providerId="AD" clId="Web-{6787373B-2D4F-BB10-5639-2B5A74F49FA8}" dt="2026-02-23T01:36:40.251" v="261" actId="20577"/>
      <pc:docMkLst>
        <pc:docMk/>
      </pc:docMkLst>
      <pc:sldChg chg="addSp delSp modSp">
        <pc:chgData name="Dzikowski, Jacob John" userId="S::jjd6349@psu.edu::4895814a-dc03-4c39-8378-dc19ab9f5be6" providerId="AD" clId="Web-{6787373B-2D4F-BB10-5639-2B5A74F49FA8}" dt="2026-02-23T01:25:51.341" v="251"/>
        <pc:sldMkLst>
          <pc:docMk/>
          <pc:sldMk cId="1304618324" sldId="277"/>
        </pc:sldMkLst>
        <pc:spChg chg="add del mod">
          <ac:chgData name="Dzikowski, Jacob John" userId="S::jjd6349@psu.edu::4895814a-dc03-4c39-8378-dc19ab9f5be6" providerId="AD" clId="Web-{6787373B-2D4F-BB10-5639-2B5A74F49FA8}" dt="2026-02-23T01:17:37.231" v="28"/>
          <ac:spMkLst>
            <pc:docMk/>
            <pc:sldMk cId="1304618324" sldId="277"/>
            <ac:spMk id="8" creationId="{EC2ED11E-8A6E-F012-F76D-7464A474DCD5}"/>
          </ac:spMkLst>
        </pc:spChg>
        <pc:spChg chg="add del mod">
          <ac:chgData name="Dzikowski, Jacob John" userId="S::jjd6349@psu.edu::4895814a-dc03-4c39-8378-dc19ab9f5be6" providerId="AD" clId="Web-{6787373B-2D4F-BB10-5639-2B5A74F49FA8}" dt="2026-02-23T01:18:10.686" v="58"/>
          <ac:spMkLst>
            <pc:docMk/>
            <pc:sldMk cId="1304618324" sldId="277"/>
            <ac:spMk id="14" creationId="{20E314E4-ABAD-213C-D391-855ED348F6AD}"/>
          </ac:spMkLst>
        </pc:spChg>
        <pc:spChg chg="add del mod">
          <ac:chgData name="Dzikowski, Jacob John" userId="S::jjd6349@psu.edu::4895814a-dc03-4c39-8378-dc19ab9f5be6" providerId="AD" clId="Web-{6787373B-2D4F-BB10-5639-2B5A74F49FA8}" dt="2026-02-23T01:22:50.680" v="192"/>
          <ac:spMkLst>
            <pc:docMk/>
            <pc:sldMk cId="1304618324" sldId="277"/>
            <ac:spMk id="16" creationId="{37261D47-B0C6-3844-5414-F7F272D28E66}"/>
          </ac:spMkLst>
        </pc:spChg>
        <pc:graphicFrameChg chg="add del mod">
          <ac:chgData name="Dzikowski, Jacob John" userId="S::jjd6349@psu.edu::4895814a-dc03-4c39-8378-dc19ab9f5be6" providerId="AD" clId="Web-{6787373B-2D4F-BB10-5639-2B5A74F49FA8}" dt="2026-02-23T01:17:33.981" v="24"/>
          <ac:graphicFrameMkLst>
            <pc:docMk/>
            <pc:sldMk cId="1304618324" sldId="277"/>
            <ac:graphicFrameMk id="5" creationId="{4C58C95E-EBDF-7133-139B-8E2281E86A89}"/>
          </ac:graphicFrameMkLst>
        </pc:graphicFrameChg>
        <pc:graphicFrameChg chg="add del mod modGraphic">
          <ac:chgData name="Dzikowski, Jacob John" userId="S::jjd6349@psu.edu::4895814a-dc03-4c39-8378-dc19ab9f5be6" providerId="AD" clId="Web-{6787373B-2D4F-BB10-5639-2B5A74F49FA8}" dt="2026-02-23T01:19:00.907" v="69"/>
          <ac:graphicFrameMkLst>
            <pc:docMk/>
            <pc:sldMk cId="1304618324" sldId="277"/>
            <ac:graphicFrameMk id="7" creationId="{35A5F8B1-1595-821B-5E3A-29A5578C353A}"/>
          </ac:graphicFrameMkLst>
        </pc:graphicFrameChg>
        <pc:graphicFrameChg chg="add del mod modGraphic">
          <ac:chgData name="Dzikowski, Jacob John" userId="S::jjd6349@psu.edu::4895814a-dc03-4c39-8378-dc19ab9f5be6" providerId="AD" clId="Web-{6787373B-2D4F-BB10-5639-2B5A74F49FA8}" dt="2026-02-23T01:17:47.059" v="32"/>
          <ac:graphicFrameMkLst>
            <pc:docMk/>
            <pc:sldMk cId="1304618324" sldId="277"/>
            <ac:graphicFrameMk id="10" creationId="{F9B06EE6-E2D9-3183-EDD4-F802DBF9FABF}"/>
          </ac:graphicFrameMkLst>
        </pc:graphicFrameChg>
        <pc:graphicFrameChg chg="add mod modGraphic">
          <ac:chgData name="Dzikowski, Jacob John" userId="S::jjd6349@psu.edu::4895814a-dc03-4c39-8378-dc19ab9f5be6" providerId="AD" clId="Web-{6787373B-2D4F-BB10-5639-2B5A74F49FA8}" dt="2026-02-23T01:25:51.341" v="251"/>
          <ac:graphicFrameMkLst>
            <pc:docMk/>
            <pc:sldMk cId="1304618324" sldId="277"/>
            <ac:graphicFrameMk id="12" creationId="{1D33345E-6BCA-1743-2E0D-B2B81DBED7F8}"/>
          </ac:graphicFrameMkLst>
        </pc:graphicFrameChg>
      </pc:sldChg>
      <pc:sldChg chg="modSp">
        <pc:chgData name="Dzikowski, Jacob John" userId="S::jjd6349@psu.edu::4895814a-dc03-4c39-8378-dc19ab9f5be6" providerId="AD" clId="Web-{6787373B-2D4F-BB10-5639-2B5A74F49FA8}" dt="2026-02-23T01:36:40.251" v="261" actId="20577"/>
        <pc:sldMkLst>
          <pc:docMk/>
          <pc:sldMk cId="3216472259" sldId="331"/>
        </pc:sldMkLst>
        <pc:spChg chg="mod">
          <ac:chgData name="Dzikowski, Jacob John" userId="S::jjd6349@psu.edu::4895814a-dc03-4c39-8378-dc19ab9f5be6" providerId="AD" clId="Web-{6787373B-2D4F-BB10-5639-2B5A74F49FA8}" dt="2026-02-23T01:36:40.251" v="261" actId="20577"/>
          <ac:spMkLst>
            <pc:docMk/>
            <pc:sldMk cId="3216472259" sldId="331"/>
            <ac:spMk id="3" creationId="{27C2114E-B9B5-E2EF-F5F9-B76C16C240D3}"/>
          </ac:spMkLst>
        </pc:spChg>
      </pc:sldChg>
    </pc:docChg>
  </pc:docChgLst>
  <pc:docChgLst>
    <pc:chgData name="Pora, Daniel Joseph" userId="1357b16c-6670-4578-8a58-65b560130820" providerId="ADAL" clId="{93E7EBD3-B055-4AF5-BF9D-15140254E714}"/>
    <pc:docChg chg="undo custSel modSld">
      <pc:chgData name="Pora, Daniel Joseph" userId="1357b16c-6670-4578-8a58-65b560130820" providerId="ADAL" clId="{93E7EBD3-B055-4AF5-BF9D-15140254E714}" dt="2026-02-23T01:44:41.471" v="206" actId="20577"/>
      <pc:docMkLst>
        <pc:docMk/>
      </pc:docMkLst>
      <pc:sldChg chg="addSp delSp modSp mod setBg setClrOvrMap">
        <pc:chgData name="Pora, Daniel Joseph" userId="1357b16c-6670-4578-8a58-65b560130820" providerId="ADAL" clId="{93E7EBD3-B055-4AF5-BF9D-15140254E714}" dt="2026-02-23T01:44:41.471" v="206" actId="20577"/>
        <pc:sldMkLst>
          <pc:docMk/>
          <pc:sldMk cId="2754428458" sldId="304"/>
        </pc:sldMkLst>
        <pc:spChg chg="mod">
          <ac:chgData name="Pora, Daniel Joseph" userId="1357b16c-6670-4578-8a58-65b560130820" providerId="ADAL" clId="{93E7EBD3-B055-4AF5-BF9D-15140254E714}" dt="2026-02-23T01:43:27.184" v="195" actId="255"/>
          <ac:spMkLst>
            <pc:docMk/>
            <pc:sldMk cId="2754428458" sldId="304"/>
            <ac:spMk id="2" creationId="{598E4621-979C-F553-4266-415F3E1C7894}"/>
          </ac:spMkLst>
        </pc:spChg>
        <pc:spChg chg="mod">
          <ac:chgData name="Pora, Daniel Joseph" userId="1357b16c-6670-4578-8a58-65b560130820" providerId="ADAL" clId="{93E7EBD3-B055-4AF5-BF9D-15140254E714}" dt="2026-02-23T01:41:52.950" v="187" actId="26606"/>
          <ac:spMkLst>
            <pc:docMk/>
            <pc:sldMk cId="2754428458" sldId="304"/>
            <ac:spMk id="4" creationId="{97772CB6-4208-D25E-B7DE-2F0AB93CC03B}"/>
          </ac:spMkLst>
        </pc:spChg>
        <pc:spChg chg="add mod">
          <ac:chgData name="Pora, Daniel Joseph" userId="1357b16c-6670-4578-8a58-65b560130820" providerId="ADAL" clId="{93E7EBD3-B055-4AF5-BF9D-15140254E714}" dt="2026-02-23T01:44:41.471" v="206" actId="20577"/>
          <ac:spMkLst>
            <pc:docMk/>
            <pc:sldMk cId="2754428458" sldId="304"/>
            <ac:spMk id="5" creationId="{F77914A2-D7AF-99B9-8BFF-38CB2155D13B}"/>
          </ac:spMkLst>
        </pc:spChg>
        <pc:spChg chg="add del">
          <ac:chgData name="Pora, Daniel Joseph" userId="1357b16c-6670-4578-8a58-65b560130820" providerId="ADAL" clId="{93E7EBD3-B055-4AF5-BF9D-15140254E714}" dt="2026-02-23T01:41:52.950" v="187" actId="26606"/>
          <ac:spMkLst>
            <pc:docMk/>
            <pc:sldMk cId="2754428458" sldId="304"/>
            <ac:spMk id="12" creationId="{B4AAD3FD-83A5-4B89-9F8F-01B8870865BE}"/>
          </ac:spMkLst>
        </pc:spChg>
        <pc:spChg chg="add del">
          <ac:chgData name="Pora, Daniel Joseph" userId="1357b16c-6670-4578-8a58-65b560130820" providerId="ADAL" clId="{93E7EBD3-B055-4AF5-BF9D-15140254E714}" dt="2026-02-23T01:41:52.950" v="187" actId="26606"/>
          <ac:spMkLst>
            <pc:docMk/>
            <pc:sldMk cId="2754428458" sldId="304"/>
            <ac:spMk id="14" creationId="{61752F1D-FC0F-4103-9584-630E643CCDA6}"/>
          </ac:spMkLst>
        </pc:spChg>
        <pc:spChg chg="add del">
          <ac:chgData name="Pora, Daniel Joseph" userId="1357b16c-6670-4578-8a58-65b560130820" providerId="ADAL" clId="{93E7EBD3-B055-4AF5-BF9D-15140254E714}" dt="2026-02-23T01:41:52.950" v="187" actId="26606"/>
          <ac:spMkLst>
            <pc:docMk/>
            <pc:sldMk cId="2754428458" sldId="304"/>
            <ac:spMk id="16" creationId="{70151CB7-E7DE-4917-B831-01DF9CE01306}"/>
          </ac:spMkLst>
        </pc:spChg>
        <pc:spChg chg="add del">
          <ac:chgData name="Pora, Daniel Joseph" userId="1357b16c-6670-4578-8a58-65b560130820" providerId="ADAL" clId="{93E7EBD3-B055-4AF5-BF9D-15140254E714}" dt="2026-02-23T01:41:52.950" v="187" actId="26606"/>
          <ac:spMkLst>
            <pc:docMk/>
            <pc:sldMk cId="2754428458" sldId="304"/>
            <ac:spMk id="18" creationId="{A92A1116-1C84-41DF-B803-1F7B0883EC82}"/>
          </ac:spMkLst>
        </pc:spChg>
        <pc:spChg chg="add del">
          <ac:chgData name="Pora, Daniel Joseph" userId="1357b16c-6670-4578-8a58-65b560130820" providerId="ADAL" clId="{93E7EBD3-B055-4AF5-BF9D-15140254E714}" dt="2026-02-23T01:41:52.922" v="186" actId="26606"/>
          <ac:spMkLst>
            <pc:docMk/>
            <pc:sldMk cId="2754428458" sldId="304"/>
            <ac:spMk id="23" creationId="{A93A089E-0A16-452C-B341-0F769780D262}"/>
          </ac:spMkLst>
        </pc:spChg>
        <pc:picChg chg="del mod">
          <ac:chgData name="Pora, Daniel Joseph" userId="1357b16c-6670-4578-8a58-65b560130820" providerId="ADAL" clId="{93E7EBD3-B055-4AF5-BF9D-15140254E714}" dt="2026-02-23T01:40:32.776" v="104" actId="478"/>
          <ac:picMkLst>
            <pc:docMk/>
            <pc:sldMk cId="2754428458" sldId="304"/>
            <ac:picMk id="6" creationId="{3B7C2E33-0423-7B05-C6C2-2C54DB7268B7}"/>
          </ac:picMkLst>
        </pc:picChg>
        <pc:picChg chg="add mod ord">
          <ac:chgData name="Pora, Daniel Joseph" userId="1357b16c-6670-4578-8a58-65b560130820" providerId="ADAL" clId="{93E7EBD3-B055-4AF5-BF9D-15140254E714}" dt="2026-02-23T01:43:08.980" v="194" actId="1076"/>
          <ac:picMkLst>
            <pc:docMk/>
            <pc:sldMk cId="2754428458" sldId="304"/>
            <ac:picMk id="7" creationId="{88FC28F5-39D6-6571-8863-3296D09BB27A}"/>
          </ac:picMkLst>
        </pc:picChg>
      </pc:sldChg>
      <pc:sldChg chg="addSp delSp modSp mod setBg setClrOvrMap">
        <pc:chgData name="Pora, Daniel Joseph" userId="1357b16c-6670-4578-8a58-65b560130820" providerId="ADAL" clId="{93E7EBD3-B055-4AF5-BF9D-15140254E714}" dt="2026-02-23T01:39:24.566" v="102" actId="1076"/>
        <pc:sldMkLst>
          <pc:docMk/>
          <pc:sldMk cId="3647372978" sldId="305"/>
        </pc:sldMkLst>
        <pc:spChg chg="mod">
          <ac:chgData name="Pora, Daniel Joseph" userId="1357b16c-6670-4578-8a58-65b560130820" providerId="ADAL" clId="{93E7EBD3-B055-4AF5-BF9D-15140254E714}" dt="2026-02-23T01:39:19.167" v="101" actId="1076"/>
          <ac:spMkLst>
            <pc:docMk/>
            <pc:sldMk cId="3647372978" sldId="305"/>
            <ac:spMk id="2" creationId="{5C94AE06-9F3B-82BF-C3CF-0B00DF291EEE}"/>
          </ac:spMkLst>
        </pc:spChg>
        <pc:spChg chg="add mod">
          <ac:chgData name="Pora, Daniel Joseph" userId="1357b16c-6670-4578-8a58-65b560130820" providerId="ADAL" clId="{93E7EBD3-B055-4AF5-BF9D-15140254E714}" dt="2026-02-23T01:39:24.566" v="102" actId="1076"/>
          <ac:spMkLst>
            <pc:docMk/>
            <pc:sldMk cId="3647372978" sldId="305"/>
            <ac:spMk id="6" creationId="{1F94CAB5-61F2-A343-6667-6C9211C93EAD}"/>
          </ac:spMkLst>
        </pc:spChg>
        <pc:spChg chg="del">
          <ac:chgData name="Pora, Daniel Joseph" userId="1357b16c-6670-4578-8a58-65b560130820" providerId="ADAL" clId="{93E7EBD3-B055-4AF5-BF9D-15140254E714}" dt="2026-02-23T01:38:40.477" v="93" actId="26606"/>
          <ac:spMkLst>
            <pc:docMk/>
            <pc:sldMk cId="3647372978" sldId="305"/>
            <ac:spMk id="55" creationId="{4AC0CD9D-7610-4620-93B4-798CCD9AB581}"/>
          </ac:spMkLst>
        </pc:spChg>
        <pc:spChg chg="del">
          <ac:chgData name="Pora, Daniel Joseph" userId="1357b16c-6670-4578-8a58-65b560130820" providerId="ADAL" clId="{93E7EBD3-B055-4AF5-BF9D-15140254E714}" dt="2026-02-23T01:38:40.477" v="93" actId="26606"/>
          <ac:spMkLst>
            <pc:docMk/>
            <pc:sldMk cId="3647372978" sldId="305"/>
            <ac:spMk id="61" creationId="{DE4D62F9-188E-4530-84C2-24BDEE4BEB82}"/>
          </ac:spMkLst>
        </pc:spChg>
        <pc:spChg chg="add">
          <ac:chgData name="Pora, Daniel Joseph" userId="1357b16c-6670-4578-8a58-65b560130820" providerId="ADAL" clId="{93E7EBD3-B055-4AF5-BF9D-15140254E714}" dt="2026-02-23T01:38:40.477" v="93" actId="26606"/>
          <ac:spMkLst>
            <pc:docMk/>
            <pc:sldMk cId="3647372978" sldId="305"/>
            <ac:spMk id="66" creationId="{5F3FC718-FDE3-4EF7-921E-A5F374EAF824}"/>
          </ac:spMkLst>
        </pc:spChg>
        <pc:spChg chg="add">
          <ac:chgData name="Pora, Daniel Joseph" userId="1357b16c-6670-4578-8a58-65b560130820" providerId="ADAL" clId="{93E7EBD3-B055-4AF5-BF9D-15140254E714}" dt="2026-02-23T01:38:40.477" v="93" actId="26606"/>
          <ac:spMkLst>
            <pc:docMk/>
            <pc:sldMk cId="3647372978" sldId="305"/>
            <ac:spMk id="68" creationId="{FAA0F719-3DC8-4F08-AD8F-5A845658CB9D}"/>
          </ac:spMkLst>
        </pc:spChg>
        <pc:spChg chg="add">
          <ac:chgData name="Pora, Daniel Joseph" userId="1357b16c-6670-4578-8a58-65b560130820" providerId="ADAL" clId="{93E7EBD3-B055-4AF5-BF9D-15140254E714}" dt="2026-02-23T01:38:40.477" v="93" actId="26606"/>
          <ac:spMkLst>
            <pc:docMk/>
            <pc:sldMk cId="3647372978" sldId="305"/>
            <ac:spMk id="70" creationId="{7DCB61BE-FA0F-4EFB-BE0E-268BAD8E30D6}"/>
          </ac:spMkLst>
        </pc:spChg>
        <pc:spChg chg="add">
          <ac:chgData name="Pora, Daniel Joseph" userId="1357b16c-6670-4578-8a58-65b560130820" providerId="ADAL" clId="{93E7EBD3-B055-4AF5-BF9D-15140254E714}" dt="2026-02-23T01:38:40.477" v="93" actId="26606"/>
          <ac:spMkLst>
            <pc:docMk/>
            <pc:sldMk cId="3647372978" sldId="305"/>
            <ac:spMk id="72" creationId="{A4B31EAA-7423-46F7-9B90-4AB2B09C35C4}"/>
          </ac:spMkLst>
        </pc:spChg>
        <pc:picChg chg="add mod">
          <ac:chgData name="Pora, Daniel Joseph" userId="1357b16c-6670-4578-8a58-65b560130820" providerId="ADAL" clId="{93E7EBD3-B055-4AF5-BF9D-15140254E714}" dt="2026-02-23T01:38:49.821" v="96" actId="1076"/>
          <ac:picMkLst>
            <pc:docMk/>
            <pc:sldMk cId="3647372978" sldId="305"/>
            <ac:picMk id="3" creationId="{12196ECD-EF56-80A6-CED0-D8EF4859046B}"/>
          </ac:picMkLst>
        </pc:picChg>
        <pc:picChg chg="add mod">
          <ac:chgData name="Pora, Daniel Joseph" userId="1357b16c-6670-4578-8a58-65b560130820" providerId="ADAL" clId="{93E7EBD3-B055-4AF5-BF9D-15140254E714}" dt="2026-02-23T01:35:17.004" v="6"/>
          <ac:picMkLst>
            <pc:docMk/>
            <pc:sldMk cId="3647372978" sldId="305"/>
            <ac:picMk id="5" creationId="{8802D591-0688-5FB1-EBE0-EA9FFB2598D6}"/>
          </ac:picMkLst>
        </pc:picChg>
        <pc:picChg chg="del">
          <ac:chgData name="Pora, Daniel Joseph" userId="1357b16c-6670-4578-8a58-65b560130820" providerId="ADAL" clId="{93E7EBD3-B055-4AF5-BF9D-15140254E714}" dt="2026-02-23T01:34:46.865" v="1" actId="478"/>
          <ac:picMkLst>
            <pc:docMk/>
            <pc:sldMk cId="3647372978" sldId="305"/>
            <ac:picMk id="8" creationId="{7C24BF1C-606D-C8F2-1EF8-2847769D77FD}"/>
          </ac:picMkLst>
        </pc:picChg>
        <pc:picChg chg="del">
          <ac:chgData name="Pora, Daniel Joseph" userId="1357b16c-6670-4578-8a58-65b560130820" providerId="ADAL" clId="{93E7EBD3-B055-4AF5-BF9D-15140254E714}" dt="2026-02-23T01:38:40.477" v="93" actId="26606"/>
          <ac:picMkLst>
            <pc:docMk/>
            <pc:sldMk cId="3647372978" sldId="305"/>
            <ac:picMk id="51" creationId="{41B68C77-138E-4BF7-A276-BD0C78A4219F}"/>
          </ac:picMkLst>
        </pc:picChg>
        <pc:picChg chg="del">
          <ac:chgData name="Pora, Daniel Joseph" userId="1357b16c-6670-4578-8a58-65b560130820" providerId="ADAL" clId="{93E7EBD3-B055-4AF5-BF9D-15140254E714}" dt="2026-02-23T01:38:40.477" v="93" actId="26606"/>
          <ac:picMkLst>
            <pc:docMk/>
            <pc:sldMk cId="3647372978" sldId="305"/>
            <ac:picMk id="57" creationId="{B9238B3E-24AA-439A-B527-6C5DF6D72145}"/>
          </ac:picMkLst>
        </pc:picChg>
      </pc:sldChg>
    </pc:docChg>
  </pc:docChgLst>
  <pc:docChgLst>
    <pc:chgData name="Pora, Daniel Joseph" userId="S::djp6208@psu.edu::1357b16c-6670-4578-8a58-65b560130820" providerId="AD" clId="Web-{8F73BDC5-3F98-F0B1-F059-A3AEA9B5D7AD}"/>
    <pc:docChg chg="modSld">
      <pc:chgData name="Pora, Daniel Joseph" userId="S::djp6208@psu.edu::1357b16c-6670-4578-8a58-65b560130820" providerId="AD" clId="Web-{8F73BDC5-3F98-F0B1-F059-A3AEA9B5D7AD}" dt="2026-02-23T01:32:36.788" v="18" actId="20577"/>
      <pc:docMkLst>
        <pc:docMk/>
      </pc:docMkLst>
      <pc:sldChg chg="modSp">
        <pc:chgData name="Pora, Daniel Joseph" userId="S::djp6208@psu.edu::1357b16c-6670-4578-8a58-65b560130820" providerId="AD" clId="Web-{8F73BDC5-3F98-F0B1-F059-A3AEA9B5D7AD}" dt="2026-02-23T01:32:36.788" v="18" actId="20577"/>
        <pc:sldMkLst>
          <pc:docMk/>
          <pc:sldMk cId="3647372978" sldId="305"/>
        </pc:sldMkLst>
        <pc:spChg chg="mod">
          <ac:chgData name="Pora, Daniel Joseph" userId="S::djp6208@psu.edu::1357b16c-6670-4578-8a58-65b560130820" providerId="AD" clId="Web-{8F73BDC5-3F98-F0B1-F059-A3AEA9B5D7AD}" dt="2026-02-23T01:32:36.788" v="18" actId="20577"/>
          <ac:spMkLst>
            <pc:docMk/>
            <pc:sldMk cId="3647372978" sldId="305"/>
            <ac:spMk id="2" creationId="{5C94AE06-9F3B-82BF-C3CF-0B00DF291EE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AEAB6421-F735-4573-AE20-370E40D15E5A}" type="datetimeFigureOut">
              <a:t>2/22/2026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7CBE16C9-E44E-4755-862A-693F531BB02F}" type="slidenum">
              <a:t>‹#›</a:t>
            </a:fld>
            <a:endParaRPr lang="en-US"/>
          </a:p>
        </p:txBody>
      </p:sp>
    </p:spTree>
    <p:extLst>
      <p:ext uri="{BB962C8B-B14F-4D97-AF65-F5344CB8AC3E}">
        <p14:creationId xmlns:p14="http://schemas.microsoft.com/office/powerpoint/2010/main" val="9589736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everyone. </a:t>
            </a:r>
            <a:br>
              <a:rPr lang="en-US"/>
            </a:br>
            <a:br>
              <a:rPr lang="en-US"/>
            </a:br>
            <a:r>
              <a:rPr lang="en-US"/>
              <a:t>This is the senior design presentation 2 for the AIBI Computer Vision for Manufacturing.  </a:t>
            </a:r>
            <a:br>
              <a:rPr lang="en-US"/>
            </a:br>
            <a:br>
              <a:rPr lang="en-US"/>
            </a:br>
            <a:r>
              <a:rPr lang="en-US"/>
              <a:t>I am Collin, etc.</a:t>
            </a:r>
          </a:p>
        </p:txBody>
      </p:sp>
      <p:sp>
        <p:nvSpPr>
          <p:cNvPr id="4" name="Slide Number Placeholder 3"/>
          <p:cNvSpPr>
            <a:spLocks noGrp="1"/>
          </p:cNvSpPr>
          <p:nvPr>
            <p:ph type="sldNum" sz="quarter" idx="5"/>
          </p:nvPr>
        </p:nvSpPr>
        <p:spPr/>
        <p:txBody>
          <a:bodyPr/>
          <a:lstStyle/>
          <a:p>
            <a:fld id="{7CBE16C9-E44E-4755-862A-693F531BB02F}" type="slidenum">
              <a:rPr lang="en-US" smtClean="0"/>
              <a:t>1</a:t>
            </a:fld>
            <a:endParaRPr lang="en-US"/>
          </a:p>
        </p:txBody>
      </p:sp>
    </p:spTree>
    <p:extLst>
      <p:ext uri="{BB962C8B-B14F-4D97-AF65-F5344CB8AC3E}">
        <p14:creationId xmlns:p14="http://schemas.microsoft.com/office/powerpoint/2010/main" val="7871621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an outline of where this presentation is heading. </a:t>
            </a:r>
            <a:br>
              <a:rPr lang="en-US"/>
            </a:br>
            <a:br>
              <a:rPr lang="en-US"/>
            </a:br>
            <a:r>
              <a:rPr lang="en-US"/>
              <a:t>We plan on having time at the end for any questions or clarifications, so please hold questions until the end if possible.</a:t>
            </a:r>
          </a:p>
        </p:txBody>
      </p:sp>
      <p:sp>
        <p:nvSpPr>
          <p:cNvPr id="4" name="Slide Number Placeholder 3"/>
          <p:cNvSpPr>
            <a:spLocks noGrp="1"/>
          </p:cNvSpPr>
          <p:nvPr>
            <p:ph type="sldNum" sz="quarter" idx="5"/>
          </p:nvPr>
        </p:nvSpPr>
        <p:spPr/>
        <p:txBody>
          <a:bodyPr/>
          <a:lstStyle/>
          <a:p>
            <a:fld id="{7CBE16C9-E44E-4755-862A-693F531BB02F}" type="slidenum">
              <a:rPr lang="en-US" smtClean="0"/>
              <a:t>2</a:t>
            </a:fld>
            <a:endParaRPr lang="en-US"/>
          </a:p>
        </p:txBody>
      </p:sp>
    </p:spTree>
    <p:extLst>
      <p:ext uri="{BB962C8B-B14F-4D97-AF65-F5344CB8AC3E}">
        <p14:creationId xmlns:p14="http://schemas.microsoft.com/office/powerpoint/2010/main" val="609762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are going to start with a little recap of what we talked about last time starting with the background of the </a:t>
            </a:r>
            <a:r>
              <a:rPr lang="en-US" err="1"/>
              <a:t>sponsor</a:t>
            </a:r>
            <a:r>
              <a:rPr lang="en-US"/>
              <a:t>.</a:t>
            </a:r>
          </a:p>
        </p:txBody>
      </p:sp>
      <p:sp>
        <p:nvSpPr>
          <p:cNvPr id="4" name="Slide Number Placeholder 3"/>
          <p:cNvSpPr>
            <a:spLocks noGrp="1"/>
          </p:cNvSpPr>
          <p:nvPr>
            <p:ph type="sldNum" sz="quarter" idx="5"/>
          </p:nvPr>
        </p:nvSpPr>
        <p:spPr/>
        <p:txBody>
          <a:bodyPr/>
          <a:lstStyle/>
          <a:p>
            <a:fld id="{7CBE16C9-E44E-4755-862A-693F531BB02F}" type="slidenum">
              <a:rPr lang="en-US" smtClean="0"/>
              <a:t>3</a:t>
            </a:fld>
            <a:endParaRPr lang="en-US"/>
          </a:p>
        </p:txBody>
      </p:sp>
    </p:spTree>
    <p:extLst>
      <p:ext uri="{BB962C8B-B14F-4D97-AF65-F5344CB8AC3E}">
        <p14:creationId xmlns:p14="http://schemas.microsoft.com/office/powerpoint/2010/main" val="20858391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AIBI Solutions is a spin-off of KMD Technology Solutions that specialized is AI solutions that do not need the cloud. This way, the AI runs on the infrastructure and avoids security risks</a:t>
            </a:r>
          </a:p>
          <a:p>
            <a:endParaRPr lang="en-US">
              <a:ea typeface="Calibri"/>
              <a:cs typeface="Calibri"/>
            </a:endParaRPr>
          </a:p>
          <a:p>
            <a:r>
              <a:rPr lang="en-US">
                <a:ea typeface="Calibri"/>
                <a:cs typeface="Calibri"/>
              </a:rPr>
              <a:t>KMD Technology Solutions has been developing since 2003, but noticed problems that AI could supplement if not solve.</a:t>
            </a:r>
          </a:p>
          <a:p>
            <a:endParaRPr lang="en-US">
              <a:ea typeface="Calibri"/>
              <a:cs typeface="Calibri"/>
            </a:endParaRPr>
          </a:p>
          <a:p>
            <a:r>
              <a:rPr lang="en-US">
                <a:ea typeface="Calibri"/>
                <a:cs typeface="Calibri"/>
              </a:rPr>
              <a:t>AIBI was then created to offer those unique AI solutions to manufacturers who cannot use cloud-based solutions</a:t>
            </a:r>
          </a:p>
        </p:txBody>
      </p:sp>
      <p:sp>
        <p:nvSpPr>
          <p:cNvPr id="4" name="Slide Number Placeholder 3"/>
          <p:cNvSpPr>
            <a:spLocks noGrp="1"/>
          </p:cNvSpPr>
          <p:nvPr>
            <p:ph type="sldNum" sz="quarter" idx="5"/>
          </p:nvPr>
        </p:nvSpPr>
        <p:spPr/>
        <p:txBody>
          <a:bodyPr/>
          <a:lstStyle/>
          <a:p>
            <a:fld id="{7CBE16C9-E44E-4755-862A-693F531BB02F}" type="slidenum">
              <a:rPr lang="en-US"/>
              <a:t>4</a:t>
            </a:fld>
            <a:endParaRPr lang="en-US"/>
          </a:p>
        </p:txBody>
      </p:sp>
    </p:spTree>
    <p:extLst>
      <p:ext uri="{BB962C8B-B14F-4D97-AF65-F5344CB8AC3E}">
        <p14:creationId xmlns:p14="http://schemas.microsoft.com/office/powerpoint/2010/main" val="28848440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Our solution needs to be accurate, traceable, and fully accountable</a:t>
            </a:r>
          </a:p>
          <a:p>
            <a:endParaRPr lang="en-US">
              <a:ea typeface="Calibri"/>
              <a:cs typeface="Calibri"/>
            </a:endParaRPr>
          </a:p>
          <a:p>
            <a:r>
              <a:rPr lang="en-US">
                <a:ea typeface="Calibri"/>
                <a:cs typeface="Calibri"/>
              </a:rPr>
              <a:t>Since our system will be scanning the QR codes, this will remove the human error that comes with manual scanning</a:t>
            </a:r>
          </a:p>
          <a:p>
            <a:r>
              <a:rPr lang="en-US">
                <a:ea typeface="Calibri"/>
                <a:cs typeface="Calibri"/>
              </a:rPr>
              <a:t>This process also takes time to complete by hand.</a:t>
            </a:r>
          </a:p>
          <a:p>
            <a:endParaRPr lang="en-US">
              <a:ea typeface="Calibri"/>
              <a:cs typeface="Calibri"/>
            </a:endParaRPr>
          </a:p>
          <a:p>
            <a:r>
              <a:rPr lang="en-US">
                <a:ea typeface="Calibri"/>
                <a:cs typeface="Calibri"/>
              </a:rPr>
              <a:t>This solution must be more accurate than hand tracking and completely on premises</a:t>
            </a:r>
          </a:p>
        </p:txBody>
      </p:sp>
      <p:sp>
        <p:nvSpPr>
          <p:cNvPr id="4" name="Slide Number Placeholder 3"/>
          <p:cNvSpPr>
            <a:spLocks noGrp="1"/>
          </p:cNvSpPr>
          <p:nvPr>
            <p:ph type="sldNum" sz="quarter" idx="5"/>
          </p:nvPr>
        </p:nvSpPr>
        <p:spPr/>
        <p:txBody>
          <a:bodyPr/>
          <a:lstStyle/>
          <a:p>
            <a:fld id="{7CBE16C9-E44E-4755-862A-693F531BB02F}" type="slidenum">
              <a:rPr lang="en-US"/>
              <a:t>5</a:t>
            </a:fld>
            <a:endParaRPr lang="en-US"/>
          </a:p>
        </p:txBody>
      </p:sp>
    </p:spTree>
    <p:extLst>
      <p:ext uri="{BB962C8B-B14F-4D97-AF65-F5344CB8AC3E}">
        <p14:creationId xmlns:p14="http://schemas.microsoft.com/office/powerpoint/2010/main" val="14305382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Our system will have 2 main components: QR detection and process verification</a:t>
            </a:r>
          </a:p>
          <a:p>
            <a:endParaRPr lang="en-US">
              <a:ea typeface="Calibri"/>
              <a:cs typeface="Calibri"/>
            </a:endParaRPr>
          </a:p>
          <a:p>
            <a:r>
              <a:rPr lang="en-US">
                <a:ea typeface="Calibri"/>
                <a:cs typeface="Calibri"/>
              </a:rPr>
              <a:t>The QR detection will automatically identify and extract data from QR codes without requiring a worker to manually scan them. This will help improve efficiency and accuracy by reducing the chance of human error</a:t>
            </a:r>
          </a:p>
          <a:p>
            <a:endParaRPr lang="en-US">
              <a:ea typeface="Calibri"/>
              <a:cs typeface="Calibri"/>
            </a:endParaRPr>
          </a:p>
          <a:p>
            <a:r>
              <a:rPr lang="en-US">
                <a:ea typeface="Calibri"/>
                <a:cs typeface="Calibri"/>
              </a:rPr>
              <a:t>Our design will handle multiple QR codes at once, for example, a sheet with QR codes and run entirely on local systems</a:t>
            </a:r>
          </a:p>
          <a:p>
            <a:endParaRPr lang="en-US">
              <a:ea typeface="Calibri"/>
              <a:cs typeface="Calibri"/>
            </a:endParaRPr>
          </a:p>
          <a:p>
            <a:r>
              <a:rPr lang="en-US">
                <a:ea typeface="Calibri"/>
                <a:cs typeface="Calibri"/>
              </a:rPr>
              <a:t>The process verification ensures that each step for a process is completed in the correct order. If one is missed or performed out of sequence, the system will immediately alert a supervisor</a:t>
            </a:r>
          </a:p>
          <a:p>
            <a:endParaRPr lang="en-US">
              <a:ea typeface="Calibri"/>
              <a:cs typeface="Calibri"/>
            </a:endParaRPr>
          </a:p>
          <a:p>
            <a:r>
              <a:rPr lang="en-US">
                <a:ea typeface="Calibri"/>
                <a:cs typeface="Calibri"/>
              </a:rPr>
              <a:t>This feature helps maintain workflow integrity and ensures consistent, high-quality production without adding unnecessary complexity to the process</a:t>
            </a:r>
          </a:p>
          <a:p>
            <a:endParaRPr lang="en-US">
              <a:ea typeface="Calibri"/>
              <a:cs typeface="Calibri"/>
            </a:endParaRPr>
          </a:p>
          <a:p>
            <a:r>
              <a:rPr lang="en-US">
                <a:ea typeface="Calibri"/>
                <a:cs typeface="Calibri"/>
              </a:rPr>
              <a:t>Together, these two components enhance manufacturing efficiency, reliability, and security while keeping the system lightweight and easy to use on-site</a:t>
            </a:r>
          </a:p>
        </p:txBody>
      </p:sp>
      <p:sp>
        <p:nvSpPr>
          <p:cNvPr id="4" name="Slide Number Placeholder 3"/>
          <p:cNvSpPr>
            <a:spLocks noGrp="1"/>
          </p:cNvSpPr>
          <p:nvPr>
            <p:ph type="sldNum" sz="quarter" idx="5"/>
          </p:nvPr>
        </p:nvSpPr>
        <p:spPr/>
        <p:txBody>
          <a:bodyPr/>
          <a:lstStyle/>
          <a:p>
            <a:fld id="{7CBE16C9-E44E-4755-862A-693F531BB02F}" type="slidenum">
              <a:rPr lang="en-US"/>
              <a:t>6</a:t>
            </a:fld>
            <a:endParaRPr lang="en-US"/>
          </a:p>
        </p:txBody>
      </p:sp>
    </p:spTree>
    <p:extLst>
      <p:ext uri="{BB962C8B-B14F-4D97-AF65-F5344CB8AC3E}">
        <p14:creationId xmlns:p14="http://schemas.microsoft.com/office/powerpoint/2010/main" val="40546217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Recap of broader impact</a:t>
            </a:r>
          </a:p>
          <a:p>
            <a:endParaRPr lang="en-US">
              <a:ea typeface="Calibri"/>
              <a:cs typeface="Calibri"/>
            </a:endParaRPr>
          </a:p>
          <a:p>
            <a:r>
              <a:rPr lang="en-US">
                <a:ea typeface="Calibri"/>
                <a:cs typeface="Calibri"/>
              </a:rPr>
              <a:t>Enables on-premises semantic AI which means that there will be no cloud usage or manual labeling.</a:t>
            </a:r>
          </a:p>
          <a:p>
            <a:endParaRPr lang="en-US">
              <a:ea typeface="Calibri"/>
              <a:cs typeface="Calibri"/>
            </a:endParaRPr>
          </a:p>
          <a:p>
            <a:r>
              <a:rPr lang="en-US">
                <a:ea typeface="Calibri"/>
                <a:cs typeface="Calibri"/>
              </a:rPr>
              <a:t>Could be expanded to include real time safety monitoring, training feedback, and automated auditing</a:t>
            </a:r>
          </a:p>
          <a:p>
            <a:endParaRPr lang="en-US">
              <a:ea typeface="Calibri"/>
              <a:cs typeface="Calibri"/>
            </a:endParaRPr>
          </a:p>
          <a:p>
            <a:r>
              <a:rPr lang="en-US">
                <a:ea typeface="Calibri"/>
                <a:cs typeface="Calibri"/>
              </a:rPr>
              <a:t>This also promotes data privacy, compliance, and ownership while modernizing workflows</a:t>
            </a:r>
          </a:p>
        </p:txBody>
      </p:sp>
      <p:sp>
        <p:nvSpPr>
          <p:cNvPr id="4" name="Slide Number Placeholder 3"/>
          <p:cNvSpPr>
            <a:spLocks noGrp="1"/>
          </p:cNvSpPr>
          <p:nvPr>
            <p:ph type="sldNum" sz="quarter" idx="5"/>
          </p:nvPr>
        </p:nvSpPr>
        <p:spPr/>
        <p:txBody>
          <a:bodyPr/>
          <a:lstStyle/>
          <a:p>
            <a:fld id="{7CBE16C9-E44E-4755-862A-693F531BB02F}" type="slidenum">
              <a:rPr lang="en-US"/>
              <a:t>7</a:t>
            </a:fld>
            <a:endParaRPr lang="en-US"/>
          </a:p>
        </p:txBody>
      </p:sp>
    </p:spTree>
    <p:extLst>
      <p:ext uri="{BB962C8B-B14F-4D97-AF65-F5344CB8AC3E}">
        <p14:creationId xmlns:p14="http://schemas.microsoft.com/office/powerpoint/2010/main" val="2348500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We still have been trying to have our weekly meetings with both our faculty advisor, prof. Liaw and our industry mentor, Mr. </a:t>
            </a:r>
            <a:r>
              <a:rPr lang="en-US" err="1">
                <a:ea typeface="Calibri"/>
                <a:cs typeface="Calibri"/>
              </a:rPr>
              <a:t>DiGilio</a:t>
            </a:r>
            <a:r>
              <a:rPr lang="en-US">
                <a:ea typeface="Calibri"/>
                <a:cs typeface="Calibri"/>
              </a:rPr>
              <a:t>. For the QR scanning portion, we are at about 82% implementation. Although this seems high, we are currently only 56% done with entire project </a:t>
            </a:r>
            <a:r>
              <a:rPr lang="en-US" err="1">
                <a:ea typeface="Calibri"/>
                <a:cs typeface="Calibri"/>
              </a:rPr>
              <a:t>andwe</a:t>
            </a:r>
            <a:r>
              <a:rPr lang="en-US">
                <a:ea typeface="Calibri"/>
                <a:cs typeface="Calibri"/>
              </a:rPr>
              <a:t> are still gathering requirements for the second part. The QR scanning is a simpler task that we were able to figure out really quick so we can have something to show you today. We are still missing some big requirements that have to deal with KMD integration like External Interoperability Requirement 1 which is to integrate with KMD. We will be outputting the data from our scans into a form that Mr. </a:t>
            </a:r>
            <a:r>
              <a:rPr lang="en-US" err="1">
                <a:ea typeface="Calibri"/>
                <a:cs typeface="Calibri"/>
              </a:rPr>
              <a:t>DiGilio</a:t>
            </a:r>
            <a:r>
              <a:rPr lang="en-US">
                <a:ea typeface="Calibri"/>
                <a:cs typeface="Calibri"/>
              </a:rPr>
              <a:t> is currently making</a:t>
            </a:r>
          </a:p>
        </p:txBody>
      </p:sp>
      <p:sp>
        <p:nvSpPr>
          <p:cNvPr id="4" name="Slide Number Placeholder 3"/>
          <p:cNvSpPr>
            <a:spLocks noGrp="1"/>
          </p:cNvSpPr>
          <p:nvPr>
            <p:ph type="sldNum" sz="quarter" idx="5"/>
          </p:nvPr>
        </p:nvSpPr>
        <p:spPr/>
        <p:txBody>
          <a:bodyPr/>
          <a:lstStyle/>
          <a:p>
            <a:fld id="{7CBE16C9-E44E-4755-862A-693F531BB02F}" type="slidenum">
              <a:rPr lang="en-US"/>
              <a:t>8</a:t>
            </a:fld>
            <a:endParaRPr lang="en-US"/>
          </a:p>
        </p:txBody>
      </p:sp>
    </p:spTree>
    <p:extLst>
      <p:ext uri="{BB962C8B-B14F-4D97-AF65-F5344CB8AC3E}">
        <p14:creationId xmlns:p14="http://schemas.microsoft.com/office/powerpoint/2010/main" val="16480021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 of the biggest changes we made is that we will not be scanning barcodes. We will only be dealing with QR codes.</a:t>
            </a:r>
          </a:p>
          <a:p>
            <a:endParaRPr lang="en-US"/>
          </a:p>
          <a:p>
            <a:r>
              <a:rPr lang="en-US"/>
              <a:t>I also went in and fixed the issues with our use case diagram</a:t>
            </a:r>
          </a:p>
          <a:p>
            <a:endParaRPr lang="en-US"/>
          </a:p>
          <a:p>
            <a:r>
              <a:rPr lang="en-US"/>
              <a:t>Finally, I went in and split the system requirements up to make them more specific and more importantly, testable.</a:t>
            </a:r>
          </a:p>
        </p:txBody>
      </p:sp>
      <p:sp>
        <p:nvSpPr>
          <p:cNvPr id="4" name="Slide Number Placeholder 3"/>
          <p:cNvSpPr>
            <a:spLocks noGrp="1"/>
          </p:cNvSpPr>
          <p:nvPr>
            <p:ph type="sldNum" sz="quarter" idx="5"/>
          </p:nvPr>
        </p:nvSpPr>
        <p:spPr/>
        <p:txBody>
          <a:bodyPr/>
          <a:lstStyle/>
          <a:p>
            <a:fld id="{7CBE16C9-E44E-4755-862A-693F531BB02F}" type="slidenum">
              <a:rPr lang="en-US" smtClean="0"/>
              <a:t>9</a:t>
            </a:fld>
            <a:endParaRPr lang="en-US"/>
          </a:p>
        </p:txBody>
      </p:sp>
    </p:spTree>
    <p:extLst>
      <p:ext uri="{BB962C8B-B14F-4D97-AF65-F5344CB8AC3E}">
        <p14:creationId xmlns:p14="http://schemas.microsoft.com/office/powerpoint/2010/main" val="36016507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 what is happening now? </a:t>
            </a:r>
          </a:p>
          <a:p>
            <a:pPr marL="171450" indent="-171450">
              <a:buFontTx/>
              <a:buChar char="-"/>
            </a:pPr>
            <a:r>
              <a:rPr lang="en-US"/>
              <a:t>We decided to focus on the first part of our project which is the QR code scanning, this is much more doable than part two and will not take up as much time to complete</a:t>
            </a:r>
          </a:p>
          <a:p>
            <a:pPr marL="171450" indent="-171450">
              <a:buFontTx/>
              <a:buChar char="-"/>
            </a:pPr>
            <a:r>
              <a:rPr lang="en-US"/>
              <a:t>We plan on tackling the Process Verification when the QR scanning portion is complete</a:t>
            </a:r>
          </a:p>
          <a:p>
            <a:pPr marL="171450" indent="-171450">
              <a:buFontTx/>
              <a:buChar char="-"/>
            </a:pPr>
            <a:endParaRPr lang="en-US"/>
          </a:p>
          <a:p>
            <a:pPr marL="0" indent="0">
              <a:buFontTx/>
              <a:buNone/>
            </a:pPr>
            <a:r>
              <a:rPr lang="en-US"/>
              <a:t>We took a tour of the facility,</a:t>
            </a:r>
          </a:p>
          <a:p>
            <a:pPr marL="171450" indent="-171450">
              <a:buFontTx/>
              <a:buChar char="-"/>
            </a:pPr>
            <a:r>
              <a:rPr lang="en-US"/>
              <a:t>The tour broadened our scope with what we actually have to do.</a:t>
            </a:r>
          </a:p>
          <a:p>
            <a:pPr marL="171450" indent="-171450">
              <a:buFontTx/>
              <a:buChar char="-"/>
            </a:pPr>
            <a:r>
              <a:rPr lang="en-US"/>
              <a:t>This did give us a good understanding on everything. The lighting in the facility is great for the scanning. Camera position will definitely be a challenge</a:t>
            </a:r>
          </a:p>
        </p:txBody>
      </p:sp>
      <p:sp>
        <p:nvSpPr>
          <p:cNvPr id="4" name="Slide Number Placeholder 3"/>
          <p:cNvSpPr>
            <a:spLocks noGrp="1"/>
          </p:cNvSpPr>
          <p:nvPr>
            <p:ph type="sldNum" sz="quarter" idx="5"/>
          </p:nvPr>
        </p:nvSpPr>
        <p:spPr/>
        <p:txBody>
          <a:bodyPr/>
          <a:lstStyle/>
          <a:p>
            <a:fld id="{7CBE16C9-E44E-4755-862A-693F531BB02F}" type="slidenum">
              <a:rPr lang="en-US" smtClean="0"/>
              <a:t>10</a:t>
            </a:fld>
            <a:endParaRPr lang="en-US"/>
          </a:p>
        </p:txBody>
      </p:sp>
    </p:spTree>
    <p:extLst>
      <p:ext uri="{BB962C8B-B14F-4D97-AF65-F5344CB8AC3E}">
        <p14:creationId xmlns:p14="http://schemas.microsoft.com/office/powerpoint/2010/main" val="3816020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get into our use case diagram, it has been mainly unchanged. We did remove Senior Design students as a main actor and also added a border to the system.</a:t>
            </a:r>
          </a:p>
        </p:txBody>
      </p:sp>
      <p:sp>
        <p:nvSpPr>
          <p:cNvPr id="4" name="Slide Number Placeholder 3"/>
          <p:cNvSpPr>
            <a:spLocks noGrp="1"/>
          </p:cNvSpPr>
          <p:nvPr>
            <p:ph type="sldNum" sz="quarter" idx="5"/>
          </p:nvPr>
        </p:nvSpPr>
        <p:spPr/>
        <p:txBody>
          <a:bodyPr/>
          <a:lstStyle/>
          <a:p>
            <a:fld id="{7CBE16C9-E44E-4755-862A-693F531BB02F}" type="slidenum">
              <a:rPr lang="en-US" smtClean="0"/>
              <a:t>11</a:t>
            </a:fld>
            <a:endParaRPr lang="en-US"/>
          </a:p>
        </p:txBody>
      </p:sp>
    </p:spTree>
    <p:extLst>
      <p:ext uri="{BB962C8B-B14F-4D97-AF65-F5344CB8AC3E}">
        <p14:creationId xmlns:p14="http://schemas.microsoft.com/office/powerpoint/2010/main" val="2836817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three main system requirements I want to go over are System functional 13, 17, and 18. These were originally all one requirement under System Functional 13. We made SFR 17 and 18 highest priority mainly for testing and to potentially show our client our system.</a:t>
            </a:r>
          </a:p>
        </p:txBody>
      </p:sp>
      <p:sp>
        <p:nvSpPr>
          <p:cNvPr id="4" name="Slide Number Placeholder 3"/>
          <p:cNvSpPr>
            <a:spLocks noGrp="1"/>
          </p:cNvSpPr>
          <p:nvPr>
            <p:ph type="sldNum" sz="quarter" idx="5"/>
          </p:nvPr>
        </p:nvSpPr>
        <p:spPr/>
        <p:txBody>
          <a:bodyPr/>
          <a:lstStyle/>
          <a:p>
            <a:fld id="{7CBE16C9-E44E-4755-862A-693F531BB02F}" type="slidenum">
              <a:rPr lang="en-US" smtClean="0"/>
              <a:t>12</a:t>
            </a:fld>
            <a:endParaRPr lang="en-US"/>
          </a:p>
        </p:txBody>
      </p:sp>
    </p:spTree>
    <p:extLst>
      <p:ext uri="{BB962C8B-B14F-4D97-AF65-F5344CB8AC3E}">
        <p14:creationId xmlns:p14="http://schemas.microsoft.com/office/powerpoint/2010/main" val="3753507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this section I will be talking about the </a:t>
            </a:r>
            <a:r>
              <a:rPr lang="en-US" err="1"/>
              <a:t>whats</a:t>
            </a:r>
            <a:r>
              <a:rPr lang="en-US"/>
              <a:t> and </a:t>
            </a:r>
            <a:r>
              <a:rPr lang="en-US" err="1"/>
              <a:t>hows</a:t>
            </a:r>
            <a:r>
              <a:rPr lang="en-US"/>
              <a:t> of our system. I’ll start by talking about the general WHAT our system is going to look like through our package diagram, this should give us a nice overview of some of the high-level details of our system. Following this, I will then go a little bit lower in level and talk more in detail of the structure through the class design. Then, I’ll swap over to our activity diagram, which will focus on the HOW our system will behave.</a:t>
            </a:r>
          </a:p>
        </p:txBody>
      </p:sp>
      <p:sp>
        <p:nvSpPr>
          <p:cNvPr id="4" name="Slide Number Placeholder 3"/>
          <p:cNvSpPr>
            <a:spLocks noGrp="1"/>
          </p:cNvSpPr>
          <p:nvPr>
            <p:ph type="sldNum" sz="quarter" idx="5"/>
          </p:nvPr>
        </p:nvSpPr>
        <p:spPr/>
        <p:txBody>
          <a:bodyPr/>
          <a:lstStyle/>
          <a:p>
            <a:fld id="{7CBE16C9-E44E-4755-862A-693F531BB02F}" type="slidenum">
              <a:rPr lang="en-US" smtClean="0"/>
              <a:t>13</a:t>
            </a:fld>
            <a:endParaRPr lang="en-US"/>
          </a:p>
        </p:txBody>
      </p:sp>
    </p:spTree>
    <p:extLst>
      <p:ext uri="{BB962C8B-B14F-4D97-AF65-F5344CB8AC3E}">
        <p14:creationId xmlns:p14="http://schemas.microsoft.com/office/powerpoint/2010/main" val="35621793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2329-9043-FB36-EC57-FAE989CD06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A7D160-9C79-E6FA-44FE-23CB7F6B93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75779-5295-A491-6E10-13C3E73BC68B}"/>
              </a:ext>
            </a:extLst>
          </p:cNvPr>
          <p:cNvSpPr>
            <a:spLocks noGrp="1"/>
          </p:cNvSpPr>
          <p:nvPr>
            <p:ph type="body" idx="1"/>
          </p:nvPr>
        </p:nvSpPr>
        <p:spPr/>
        <p:txBody>
          <a:bodyPr/>
          <a:lstStyle/>
          <a:p>
            <a:r>
              <a:rPr lang="en-US"/>
              <a:t>So, first, starting with our package diagram. You can see our entire system is in the AIBI CV package, in here we have 5 internal packages [list out] and we have the 2 external [list out]. </a:t>
            </a:r>
          </a:p>
          <a:p>
            <a:r>
              <a:rPr lang="en-US"/>
              <a:t>So, I’ll start by talking about the Camera package. In this package we have our </a:t>
            </a:r>
            <a:r>
              <a:rPr lang="en-US" err="1"/>
              <a:t>CameraController</a:t>
            </a:r>
            <a:r>
              <a:rPr lang="en-US"/>
              <a:t> which initializes our </a:t>
            </a:r>
            <a:r>
              <a:rPr lang="en-US" err="1"/>
              <a:t>CameraScanner</a:t>
            </a:r>
            <a:r>
              <a:rPr lang="en-US"/>
              <a:t> here. Our </a:t>
            </a:r>
            <a:r>
              <a:rPr lang="en-US" err="1"/>
              <a:t>CameraScanner</a:t>
            </a:r>
            <a:r>
              <a:rPr lang="en-US"/>
              <a:t> is the main orchestrator of our system. It will first open our camera with the </a:t>
            </a:r>
            <a:r>
              <a:rPr lang="en-US" err="1"/>
              <a:t>VideoCapture</a:t>
            </a:r>
            <a:r>
              <a:rPr lang="en-US"/>
              <a:t> Package from cv2, then it will start scanning for QR codes. The scanner will then use the </a:t>
            </a:r>
            <a:r>
              <a:rPr lang="en-US" err="1"/>
              <a:t>QRDecode</a:t>
            </a:r>
            <a:r>
              <a:rPr lang="en-US"/>
              <a:t> package to detect and decode any visible QR codes. We have 3 different strategies to detecting and decoding QR codes but </a:t>
            </a:r>
            <a:r>
              <a:rPr lang="en-US" b="1"/>
              <a:t>I</a:t>
            </a:r>
            <a:r>
              <a:rPr lang="en-US" b="0"/>
              <a:t> will talk about this soon. We then take the QR code data and parse it into a JSON format using the Parse package. Once parsed, we will then output that data via the </a:t>
            </a:r>
            <a:r>
              <a:rPr lang="en-US" b="0" err="1"/>
              <a:t>DataOutput</a:t>
            </a:r>
            <a:r>
              <a:rPr lang="en-US" b="0"/>
              <a:t> package. </a:t>
            </a:r>
          </a:p>
          <a:p>
            <a:r>
              <a:rPr lang="en-US" b="0"/>
              <a:t>The QR codes will be displayed through the </a:t>
            </a:r>
            <a:r>
              <a:rPr lang="en-US" b="0" err="1"/>
              <a:t>ResultDisplay</a:t>
            </a:r>
            <a:r>
              <a:rPr lang="en-US" b="0"/>
              <a:t> module, and while going through this whole process we will be capturing system information, like exceptions and scanned codes through our logging system.</a:t>
            </a:r>
          </a:p>
        </p:txBody>
      </p:sp>
      <p:sp>
        <p:nvSpPr>
          <p:cNvPr id="4" name="Slide Number Placeholder 3">
            <a:extLst>
              <a:ext uri="{FF2B5EF4-FFF2-40B4-BE49-F238E27FC236}">
                <a16:creationId xmlns:a16="http://schemas.microsoft.com/office/drawing/2014/main" id="{AF37F727-C1B1-E1B3-618D-9B7623222B65}"/>
              </a:ext>
            </a:extLst>
          </p:cNvPr>
          <p:cNvSpPr>
            <a:spLocks noGrp="1"/>
          </p:cNvSpPr>
          <p:nvPr>
            <p:ph type="sldNum" sz="quarter" idx="5"/>
          </p:nvPr>
        </p:nvSpPr>
        <p:spPr/>
        <p:txBody>
          <a:bodyPr/>
          <a:lstStyle/>
          <a:p>
            <a:fld id="{7CBE16C9-E44E-4755-862A-693F531BB02F}" type="slidenum">
              <a:rPr lang="en-US" smtClean="0"/>
              <a:t>14</a:t>
            </a:fld>
            <a:endParaRPr lang="en-US"/>
          </a:p>
        </p:txBody>
      </p:sp>
    </p:spTree>
    <p:extLst>
      <p:ext uri="{BB962C8B-B14F-4D97-AF65-F5344CB8AC3E}">
        <p14:creationId xmlns:p14="http://schemas.microsoft.com/office/powerpoint/2010/main" val="30926201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our </a:t>
            </a:r>
            <a:r>
              <a:rPr lang="en-US" b="1"/>
              <a:t>structural design</a:t>
            </a:r>
            <a:r>
              <a:rPr lang="en-US"/>
              <a:t>, we went with a class diagram. We designed the system to be as </a:t>
            </a:r>
            <a:r>
              <a:rPr lang="en-US" b="1"/>
              <a:t>modular</a:t>
            </a:r>
            <a:r>
              <a:rPr lang="en-US"/>
              <a:t> as we can make it so that </a:t>
            </a:r>
            <a:r>
              <a:rPr lang="en-US" b="1"/>
              <a:t>new features can be added quick and easy if needed</a:t>
            </a:r>
            <a:r>
              <a:rPr lang="en-US"/>
              <a:t>. We also wanted to go for something that would be </a:t>
            </a:r>
            <a:r>
              <a:rPr lang="en-US" b="1"/>
              <a:t>easy to debug and maintain</a:t>
            </a:r>
            <a:r>
              <a:rPr lang="en-US"/>
              <a:t>. We accomplished this by </a:t>
            </a:r>
            <a:r>
              <a:rPr lang="en-US" b="1"/>
              <a:t>dependency injection </a:t>
            </a:r>
            <a:r>
              <a:rPr lang="en-US"/>
              <a:t>through the main </a:t>
            </a:r>
            <a:r>
              <a:rPr lang="en-US" b="1"/>
              <a:t>Camera</a:t>
            </a:r>
            <a:r>
              <a:rPr lang="en-US"/>
              <a:t> class, in here all of our dependencies are set through its constructor. With </a:t>
            </a:r>
            <a:r>
              <a:rPr lang="en-US" b="1"/>
              <a:t>dependency injection </a:t>
            </a:r>
            <a:r>
              <a:rPr lang="en-US" b="0"/>
              <a:t>brings loose coupling which is exactly what we want for system. </a:t>
            </a:r>
            <a:r>
              <a:rPr lang="en-US" b="1"/>
              <a:t>Loose coupling </a:t>
            </a:r>
            <a:r>
              <a:rPr lang="en-US" b="0"/>
              <a:t>lets that </a:t>
            </a:r>
            <a:r>
              <a:rPr lang="en-US" b="1"/>
              <a:t>easy swap </a:t>
            </a:r>
            <a:r>
              <a:rPr lang="en-US" b="0"/>
              <a:t>of </a:t>
            </a:r>
            <a:r>
              <a:rPr lang="en-US" b="1"/>
              <a:t>features or components </a:t>
            </a:r>
            <a:r>
              <a:rPr lang="en-US" b="0"/>
              <a:t>we were talking about.</a:t>
            </a:r>
            <a:endParaRPr lang="en-US"/>
          </a:p>
          <a:p>
            <a:endParaRPr lang="en-US"/>
          </a:p>
          <a:p>
            <a:r>
              <a:rPr lang="en-US"/>
              <a:t>In our </a:t>
            </a:r>
            <a:r>
              <a:rPr lang="en-US" err="1"/>
              <a:t>DecodeQR</a:t>
            </a:r>
            <a:r>
              <a:rPr lang="en-US"/>
              <a:t> class we have the 3 alternatives we were talking about. When trying to decode a QR code, we start by trying to detect multiple </a:t>
            </a:r>
            <a:r>
              <a:rPr lang="en-US" err="1"/>
              <a:t>qr</a:t>
            </a:r>
            <a:r>
              <a:rPr lang="en-US"/>
              <a:t> codes with PYZBAR. If this fails we try to get multiple with OPENCV, then if this fails we try to only detect one with OPENCV. Using this fallback method, we decrease our odds of a failed scan.</a:t>
            </a:r>
          </a:p>
          <a:p>
            <a:endParaRPr lang="en-US"/>
          </a:p>
          <a:p>
            <a:r>
              <a:rPr lang="en-US"/>
              <a:t>Dan: Your role is to go into more detail about the structure of the system. I went over the high level structure, now you will talk more about the details of it. In the previous slide I set you up to talk about our different strategies/</a:t>
            </a:r>
            <a:r>
              <a:rPr lang="en-US" err="1"/>
              <a:t>fall-backs</a:t>
            </a:r>
            <a:r>
              <a:rPr lang="en-US"/>
              <a:t> for </a:t>
            </a:r>
            <a:r>
              <a:rPr lang="en-US" err="1"/>
              <a:t>qr</a:t>
            </a:r>
            <a:r>
              <a:rPr lang="en-US"/>
              <a:t> decoding, so do that. You can also talk about the dependency injection, and how this promotes loose coupling which is good in our system because different things can be swapped out easily.</a:t>
            </a:r>
          </a:p>
        </p:txBody>
      </p:sp>
      <p:sp>
        <p:nvSpPr>
          <p:cNvPr id="4" name="Slide Number Placeholder 3"/>
          <p:cNvSpPr>
            <a:spLocks noGrp="1"/>
          </p:cNvSpPr>
          <p:nvPr>
            <p:ph type="sldNum" sz="quarter" idx="5"/>
          </p:nvPr>
        </p:nvSpPr>
        <p:spPr/>
        <p:txBody>
          <a:bodyPr/>
          <a:lstStyle/>
          <a:p>
            <a:fld id="{7CBE16C9-E44E-4755-862A-693F531BB02F}" type="slidenum">
              <a:rPr lang="en-US" smtClean="0"/>
              <a:t>15</a:t>
            </a:fld>
            <a:endParaRPr lang="en-US"/>
          </a:p>
        </p:txBody>
      </p:sp>
    </p:spTree>
    <p:extLst>
      <p:ext uri="{BB962C8B-B14F-4D97-AF65-F5344CB8AC3E}">
        <p14:creationId xmlns:p14="http://schemas.microsoft.com/office/powerpoint/2010/main" val="42532301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292AB-71E3-E91B-D465-D8508258C6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3C79BC-1F90-B751-ABFF-EDFFCCCDB8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58ECB2-7D4D-BCDE-CE45-5848815ACF68}"/>
              </a:ext>
            </a:extLst>
          </p:cNvPr>
          <p:cNvSpPr>
            <a:spLocks noGrp="1"/>
          </p:cNvSpPr>
          <p:nvPr>
            <p:ph type="body" idx="1"/>
          </p:nvPr>
        </p:nvSpPr>
        <p:spPr/>
        <p:txBody>
          <a:bodyPr/>
          <a:lstStyle/>
          <a:p>
            <a:r>
              <a:rPr lang="en-US"/>
              <a:t>Now I will be talking about the HOW of our system. Here we have our activity diagram, this basically defines the behavior of our system. </a:t>
            </a:r>
          </a:p>
          <a:p>
            <a:r>
              <a:rPr lang="en-US"/>
              <a:t>I’ll start by talking about some of the main portions of this diagram, then I’ll go into more detail.</a:t>
            </a:r>
          </a:p>
          <a:p>
            <a:r>
              <a:rPr lang="en-US"/>
              <a:t>So, at the start we initialize required variables, and then you can see here, we hit our first decision node. This node is the main processing loop in our system, basically in this loop we go through each frame and check for detected QR codes. So, from here, and all of this, to here we are processing the QR codes. </a:t>
            </a:r>
          </a:p>
          <a:p>
            <a:r>
              <a:rPr lang="en-US"/>
              <a:t>At this decision node, we are checking to see if any </a:t>
            </a:r>
            <a:r>
              <a:rPr lang="en-US" err="1"/>
              <a:t>qr</a:t>
            </a:r>
            <a:r>
              <a:rPr lang="en-US"/>
              <a:t> codes were found, if there were, then we will process them, if not we scan again. </a:t>
            </a:r>
          </a:p>
          <a:p>
            <a:r>
              <a:rPr lang="en-US"/>
              <a:t>So now we have the basics down, lets go into detail. </a:t>
            </a:r>
          </a:p>
          <a:p>
            <a:r>
              <a:rPr lang="en-US"/>
              <a:t>At the start we are loading all of our configurations, with the required fields, the fields are the expected QR codes for the station. Then we open the camera. Now we start the loop, so we capture the current frame and decode any </a:t>
            </a:r>
            <a:r>
              <a:rPr lang="en-US" err="1"/>
              <a:t>qr</a:t>
            </a:r>
            <a:r>
              <a:rPr lang="en-US"/>
              <a:t> codes detected. If none were found then we scan again, but if there were, we draw a box around it and parse it. </a:t>
            </a:r>
          </a:p>
          <a:p>
            <a:r>
              <a:rPr lang="en-US"/>
              <a:t>Then we check if it is one of the codes required for the station, we also check if it’s a new code and not just a duplicate. If these cases pass then we will add it to our list. </a:t>
            </a:r>
          </a:p>
          <a:p>
            <a:r>
              <a:rPr lang="en-US"/>
              <a:t>We will then check if all of the required codes the station have been scanned, if yes, we will output that data to Excel and store it in a JSON file. All the scanned codes will then be cleared, and the process will start over.</a:t>
            </a:r>
          </a:p>
          <a:p>
            <a:r>
              <a:rPr lang="en-US"/>
              <a:t>And the only way for the loop to break, is if the user quits the process. </a:t>
            </a:r>
          </a:p>
          <a:p>
            <a:r>
              <a:rPr lang="en-US"/>
              <a:t>Now that we know a little more of our system, lets talk about the challenges faced.</a:t>
            </a:r>
          </a:p>
        </p:txBody>
      </p:sp>
      <p:sp>
        <p:nvSpPr>
          <p:cNvPr id="4" name="Slide Number Placeholder 3">
            <a:extLst>
              <a:ext uri="{FF2B5EF4-FFF2-40B4-BE49-F238E27FC236}">
                <a16:creationId xmlns:a16="http://schemas.microsoft.com/office/drawing/2014/main" id="{37302CD5-EE88-8417-2D43-D45A78769FFC}"/>
              </a:ext>
            </a:extLst>
          </p:cNvPr>
          <p:cNvSpPr>
            <a:spLocks noGrp="1"/>
          </p:cNvSpPr>
          <p:nvPr>
            <p:ph type="sldNum" sz="quarter" idx="5"/>
          </p:nvPr>
        </p:nvSpPr>
        <p:spPr/>
        <p:txBody>
          <a:bodyPr/>
          <a:lstStyle/>
          <a:p>
            <a:fld id="{7CBE16C9-E44E-4755-862A-693F531BB02F}" type="slidenum">
              <a:rPr lang="en-US" smtClean="0"/>
              <a:t>16</a:t>
            </a:fld>
            <a:endParaRPr lang="en-US"/>
          </a:p>
        </p:txBody>
      </p:sp>
    </p:spTree>
    <p:extLst>
      <p:ext uri="{BB962C8B-B14F-4D97-AF65-F5344CB8AC3E}">
        <p14:creationId xmlns:p14="http://schemas.microsoft.com/office/powerpoint/2010/main" val="10442927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A185B-8059-55B0-F834-4F497D4E8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5C360-B4A7-B6E2-AD68-EFEAF916F9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CCB244-2F70-CEEC-9F5E-F6103BC932C2}"/>
              </a:ext>
            </a:extLst>
          </p:cNvPr>
          <p:cNvSpPr>
            <a:spLocks noGrp="1"/>
          </p:cNvSpPr>
          <p:nvPr>
            <p:ph type="body" idx="1"/>
          </p:nvPr>
        </p:nvSpPr>
        <p:spPr/>
        <p:txBody>
          <a:bodyPr/>
          <a:lstStyle/>
          <a:p>
            <a:r>
              <a:rPr lang="en-US"/>
              <a:t>For our behavioral diagram, we decided to do an Activity diagram because it best designs our system. Being a flowchart like diagram, the activity diagram is very easy to understand, which helps get our point across.</a:t>
            </a:r>
          </a:p>
          <a:p>
            <a:r>
              <a:rPr lang="en-US"/>
              <a:t>We could’ve done a sequence diagram, but our system does not really have the complexity required for it.</a:t>
            </a:r>
          </a:p>
          <a:p>
            <a:r>
              <a:rPr lang="en-US"/>
              <a:t>However, we didn’t do a State Diagram because our system does not have well defined states.</a:t>
            </a:r>
          </a:p>
        </p:txBody>
      </p:sp>
      <p:sp>
        <p:nvSpPr>
          <p:cNvPr id="4" name="Slide Number Placeholder 3">
            <a:extLst>
              <a:ext uri="{FF2B5EF4-FFF2-40B4-BE49-F238E27FC236}">
                <a16:creationId xmlns:a16="http://schemas.microsoft.com/office/drawing/2014/main" id="{31FAF4DB-6CB5-0BE7-F52C-D82C7FF42009}"/>
              </a:ext>
            </a:extLst>
          </p:cNvPr>
          <p:cNvSpPr>
            <a:spLocks noGrp="1"/>
          </p:cNvSpPr>
          <p:nvPr>
            <p:ph type="sldNum" sz="quarter" idx="5"/>
          </p:nvPr>
        </p:nvSpPr>
        <p:spPr/>
        <p:txBody>
          <a:bodyPr/>
          <a:lstStyle/>
          <a:p>
            <a:fld id="{7CBE16C9-E44E-4755-862A-693F531BB02F}" type="slidenum">
              <a:rPr lang="en-US" smtClean="0"/>
              <a:t>17</a:t>
            </a:fld>
            <a:endParaRPr lang="en-US"/>
          </a:p>
        </p:txBody>
      </p:sp>
    </p:spTree>
    <p:extLst>
      <p:ext uri="{BB962C8B-B14F-4D97-AF65-F5344CB8AC3E}">
        <p14:creationId xmlns:p14="http://schemas.microsoft.com/office/powerpoint/2010/main" val="39210536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87A68-CC7B-9CD3-41E2-6762D4F9C5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A13E88-97B8-A6B9-D3FA-DCC5E02A59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DBD02-A5B3-93E9-06D7-E5CEA6079A5F}"/>
              </a:ext>
            </a:extLst>
          </p:cNvPr>
          <p:cNvSpPr>
            <a:spLocks noGrp="1"/>
          </p:cNvSpPr>
          <p:nvPr>
            <p:ph type="body" idx="1"/>
          </p:nvPr>
        </p:nvSpPr>
        <p:spPr/>
        <p:txBody>
          <a:bodyPr/>
          <a:lstStyle/>
          <a:p>
            <a:r>
              <a:rPr lang="en-US"/>
              <a:t>In this section Collin and I are going to be talking about the </a:t>
            </a:r>
            <a:r>
              <a:rPr lang="en-US" err="1"/>
              <a:t>whats</a:t>
            </a:r>
            <a:r>
              <a:rPr lang="en-US"/>
              <a:t> and </a:t>
            </a:r>
            <a:r>
              <a:rPr lang="en-US" err="1"/>
              <a:t>hows</a:t>
            </a:r>
            <a:r>
              <a:rPr lang="en-US"/>
              <a:t> of our system. I’ll start by talking about the general WHAT our system is going to look through our package diagram, this should give us a nice overview of some of the high-level details of our system. Collin will then go a little bit lower in level and talk more in detail of the structure through his class design. Then, I’ll swap over to our activity diagram, which will focus on the HOW our system will behave.</a:t>
            </a:r>
          </a:p>
        </p:txBody>
      </p:sp>
      <p:sp>
        <p:nvSpPr>
          <p:cNvPr id="4" name="Slide Number Placeholder 3">
            <a:extLst>
              <a:ext uri="{FF2B5EF4-FFF2-40B4-BE49-F238E27FC236}">
                <a16:creationId xmlns:a16="http://schemas.microsoft.com/office/drawing/2014/main" id="{D361BA54-1585-2E85-A836-32A533524802}"/>
              </a:ext>
            </a:extLst>
          </p:cNvPr>
          <p:cNvSpPr>
            <a:spLocks noGrp="1"/>
          </p:cNvSpPr>
          <p:nvPr>
            <p:ph type="sldNum" sz="quarter" idx="5"/>
          </p:nvPr>
        </p:nvSpPr>
        <p:spPr/>
        <p:txBody>
          <a:bodyPr/>
          <a:lstStyle/>
          <a:p>
            <a:fld id="{7CBE16C9-E44E-4755-862A-693F531BB02F}" type="slidenum">
              <a:rPr lang="en-US" smtClean="0"/>
              <a:t>18</a:t>
            </a:fld>
            <a:endParaRPr lang="en-US"/>
          </a:p>
        </p:txBody>
      </p:sp>
    </p:spTree>
    <p:extLst>
      <p:ext uri="{BB962C8B-B14F-4D97-AF65-F5344CB8AC3E}">
        <p14:creationId xmlns:p14="http://schemas.microsoft.com/office/powerpoint/2010/main" val="34068939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gives us an overview of the testing structure our project. We've organized the tests into </a:t>
            </a:r>
            <a:r>
              <a:rPr lang="en-US" b="1"/>
              <a:t>five main Test Suites</a:t>
            </a:r>
            <a:r>
              <a:rPr lang="en-US"/>
              <a:t> to ensure comprehensive coverage.“</a:t>
            </a:r>
          </a:p>
          <a:p>
            <a:endParaRPr lang="en-US"/>
          </a:p>
          <a:p>
            <a:r>
              <a:rPr lang="en-US"/>
              <a:t>break</a:t>
            </a:r>
          </a:p>
          <a:p>
            <a:endParaRPr lang="en-US"/>
          </a:p>
          <a:p>
            <a:r>
              <a:rPr lang="en-US"/>
              <a:t>"The first three are </a:t>
            </a:r>
            <a:r>
              <a:rPr lang="en-US" b="1"/>
              <a:t>System/Manual Functional</a:t>
            </a:r>
            <a:r>
              <a:rPr lang="en-US"/>
              <a:t>, </a:t>
            </a:r>
            <a:r>
              <a:rPr lang="en-US" b="1"/>
              <a:t>Usability and Operator Workflow</a:t>
            </a:r>
            <a:r>
              <a:rPr lang="en-US"/>
              <a:t>, and </a:t>
            </a:r>
            <a:r>
              <a:rPr lang="en-US" b="1"/>
              <a:t>System-Level Non-Functional</a:t>
            </a:r>
            <a:r>
              <a:rPr lang="en-US"/>
              <a:t>. These focus on testing the core features and how the user interacts with the system, as well as high-level performance and requirements.“</a:t>
            </a:r>
          </a:p>
          <a:p>
            <a:endParaRPr lang="en-US"/>
          </a:p>
          <a:p>
            <a:r>
              <a:rPr lang="en-US"/>
              <a:t>break</a:t>
            </a:r>
          </a:p>
          <a:p>
            <a:endParaRPr lang="en-US"/>
          </a:p>
          <a:p>
            <a:r>
              <a:rPr lang="en-US"/>
              <a:t>"The next two, </a:t>
            </a:r>
            <a:r>
              <a:rPr lang="en-US" b="1"/>
              <a:t>Automated Functional</a:t>
            </a:r>
            <a:r>
              <a:rPr lang="en-US"/>
              <a:t> and </a:t>
            </a:r>
            <a:r>
              <a:rPr lang="en-US" b="1"/>
              <a:t>Automated Non-Functional</a:t>
            </a:r>
            <a:r>
              <a:rPr lang="en-US"/>
              <a:t>, are designed to be run without human intervention, covering both feature correctness and areas like performance or security.“</a:t>
            </a:r>
          </a:p>
          <a:p>
            <a:endParaRPr lang="en-US"/>
          </a:p>
          <a:p>
            <a:r>
              <a:rPr lang="en-US"/>
              <a:t>break</a:t>
            </a:r>
          </a:p>
          <a:p>
            <a:endParaRPr lang="en-US"/>
          </a:p>
          <a:p>
            <a:r>
              <a:rPr lang="en-US"/>
              <a:t>"Overall, these suites utilize </a:t>
            </a:r>
            <a:r>
              <a:rPr lang="en-US" b="1"/>
              <a:t>two main types of test</a:t>
            </a:r>
            <a:r>
              <a:rPr lang="en-US"/>
              <a:t> execution: </a:t>
            </a:r>
            <a:r>
              <a:rPr lang="en-US" b="1"/>
              <a:t>Manual</a:t>
            </a:r>
            <a:r>
              <a:rPr lang="en-US"/>
              <a:t> tests, which an operator performs directly, and </a:t>
            </a:r>
            <a:r>
              <a:rPr lang="en-US" b="1"/>
              <a:t>Automated</a:t>
            </a:r>
            <a:r>
              <a:rPr lang="en-US"/>
              <a:t> tests, which are scripted."</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19</a:t>
            </a:fld>
            <a:endParaRPr lang="en-US"/>
          </a:p>
        </p:txBody>
      </p:sp>
    </p:spTree>
    <p:extLst>
      <p:ext uri="{BB962C8B-B14F-4D97-AF65-F5344CB8AC3E}">
        <p14:creationId xmlns:p14="http://schemas.microsoft.com/office/powerpoint/2010/main" val="34108244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our initial manual test, </a:t>
            </a:r>
            <a:r>
              <a:rPr lang="en-US" b="1"/>
              <a:t>TC-SFR1-MAN-01</a:t>
            </a:r>
            <a:r>
              <a:rPr lang="en-US"/>
              <a:t>, focusing on the most basic functional requirement: </a:t>
            </a:r>
            <a:r>
              <a:rPr lang="en-US" b="1"/>
              <a:t>Live Camera Detection</a:t>
            </a:r>
            <a:r>
              <a:rPr lang="en-US"/>
              <a:t>.“</a:t>
            </a:r>
          </a:p>
          <a:p>
            <a:endParaRPr lang="en-US"/>
          </a:p>
          <a:p>
            <a:r>
              <a:rPr lang="en-US"/>
              <a:t>-</a:t>
            </a:r>
          </a:p>
          <a:p>
            <a:endParaRPr lang="en-US"/>
          </a:p>
          <a:p>
            <a:r>
              <a:rPr lang="en-US"/>
              <a:t>"</a:t>
            </a:r>
            <a:r>
              <a:rPr lang="en-US" b="1"/>
              <a:t>What it tests:</a:t>
            </a:r>
            <a:r>
              <a:rPr lang="en-US"/>
              <a:t> Does the live camera view detect all visible QR codes? This validates the core computer vision capability.“</a:t>
            </a:r>
          </a:p>
          <a:p>
            <a:endParaRPr lang="en-US"/>
          </a:p>
          <a:p>
            <a:r>
              <a:rPr lang="en-US"/>
              <a:t>-</a:t>
            </a:r>
          </a:p>
          <a:p>
            <a:endParaRPr lang="en-US"/>
          </a:p>
          <a:p>
            <a:r>
              <a:rPr lang="en-US"/>
              <a:t>"</a:t>
            </a:r>
            <a:r>
              <a:rPr lang="en-US" b="1"/>
              <a:t>Test Data Input:</a:t>
            </a:r>
            <a:r>
              <a:rPr lang="en-US"/>
              <a:t> We use physical, </a:t>
            </a:r>
            <a:r>
              <a:rPr lang="en-US" b="1"/>
              <a:t>printed QR codes</a:t>
            </a:r>
            <a:r>
              <a:rPr lang="en-US"/>
              <a:t> placed within the camera's field of view.“</a:t>
            </a:r>
          </a:p>
          <a:p>
            <a:endParaRPr lang="en-US"/>
          </a:p>
          <a:p>
            <a:r>
              <a:rPr lang="en-US"/>
              <a:t>-</a:t>
            </a:r>
          </a:p>
          <a:p>
            <a:endParaRPr lang="en-US"/>
          </a:p>
          <a:p>
            <a:r>
              <a:rPr lang="en-US"/>
              <a:t>"</a:t>
            </a:r>
            <a:r>
              <a:rPr lang="en-US" b="1"/>
              <a:t>Expected Result:</a:t>
            </a:r>
            <a:r>
              <a:rPr lang="en-US"/>
              <a:t> The system's output or user interface must show </a:t>
            </a:r>
            <a:r>
              <a:rPr lang="en-US" b="1"/>
              <a:t>all visible codes</a:t>
            </a:r>
            <a:r>
              <a:rPr lang="en-US"/>
              <a:t>.“</a:t>
            </a:r>
          </a:p>
          <a:p>
            <a:endParaRPr lang="en-US"/>
          </a:p>
          <a:p>
            <a:r>
              <a:rPr lang="en-US"/>
              <a:t>-</a:t>
            </a:r>
          </a:p>
          <a:p>
            <a:endParaRPr lang="en-US"/>
          </a:p>
          <a:p>
            <a:r>
              <a:rPr lang="en-US"/>
              <a:t>"</a:t>
            </a:r>
            <a:r>
              <a:rPr lang="en-US" b="1"/>
              <a:t>Traceability:</a:t>
            </a:r>
            <a:r>
              <a:rPr lang="en-US"/>
              <a:t> This case ties back to a foundational user requirement, </a:t>
            </a:r>
            <a:r>
              <a:rPr lang="en-US" b="1"/>
              <a:t>UFR1</a:t>
            </a:r>
            <a:r>
              <a:rPr lang="en-US"/>
              <a:t>, and multiple system functional requirements, </a:t>
            </a:r>
            <a:r>
              <a:rPr lang="en-US" b="1"/>
              <a:t>SFR1, SFR15, and SFR16</a:t>
            </a:r>
            <a:r>
              <a:rPr lang="en-US"/>
              <a:t>, all related to the visibility and detection of codes."</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20</a:t>
            </a:fld>
            <a:endParaRPr lang="en-US"/>
          </a:p>
        </p:txBody>
      </p:sp>
    </p:spTree>
    <p:extLst>
      <p:ext uri="{BB962C8B-B14F-4D97-AF65-F5344CB8AC3E}">
        <p14:creationId xmlns:p14="http://schemas.microsoft.com/office/powerpoint/2010/main" val="26805001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"Moving to data output, </a:t>
            </a:r>
            <a:r>
              <a:rPr lang="en-US" b="1"/>
              <a:t>TC-SFR4-MAN-01</a:t>
            </a:r>
            <a:r>
              <a:rPr lang="en-US"/>
              <a:t> verifies the system's ability to format data correctly.“</a:t>
            </a:r>
          </a:p>
          <a:p>
            <a:endParaRPr lang="en-US"/>
          </a:p>
          <a:p>
            <a:r>
              <a:rPr lang="en-US"/>
              <a:t>-</a:t>
            </a:r>
          </a:p>
          <a:p>
            <a:endParaRPr lang="en-US"/>
          </a:p>
          <a:p>
            <a:r>
              <a:rPr lang="en-US"/>
              <a:t>"</a:t>
            </a:r>
            <a:r>
              <a:rPr lang="en-US" b="1"/>
              <a:t>What it tests:</a:t>
            </a:r>
            <a:r>
              <a:rPr lang="en-US"/>
              <a:t> Does a real scanning event produce a </a:t>
            </a:r>
            <a:r>
              <a:rPr lang="en-US" b="1"/>
              <a:t>correct JSON record</a:t>
            </a:r>
            <a:r>
              <a:rPr lang="en-US"/>
              <a:t>? This is critical for downstream systems.“</a:t>
            </a:r>
          </a:p>
          <a:p>
            <a:endParaRPr lang="en-US"/>
          </a:p>
          <a:p>
            <a:r>
              <a:rPr lang="en-US"/>
              <a:t>-</a:t>
            </a:r>
          </a:p>
          <a:p>
            <a:endParaRPr lang="en-US"/>
          </a:p>
          <a:p>
            <a:r>
              <a:rPr lang="en-US"/>
              <a:t>"</a:t>
            </a:r>
            <a:r>
              <a:rPr lang="en-US" b="1"/>
              <a:t>Test Data Input:</a:t>
            </a:r>
            <a:r>
              <a:rPr lang="en-US"/>
              <a:t> A </a:t>
            </a:r>
            <a:r>
              <a:rPr lang="en-US" b="1"/>
              <a:t>live scan event</a:t>
            </a:r>
            <a:r>
              <a:rPr lang="en-US"/>
              <a:t> using known, verifiable QR codes.“</a:t>
            </a:r>
          </a:p>
          <a:p>
            <a:endParaRPr lang="en-US"/>
          </a:p>
          <a:p>
            <a:r>
              <a:rPr lang="en-US"/>
              <a:t>-</a:t>
            </a:r>
          </a:p>
          <a:p>
            <a:endParaRPr lang="en-US"/>
          </a:p>
          <a:p>
            <a:r>
              <a:rPr lang="en-US"/>
              <a:t>"</a:t>
            </a:r>
            <a:r>
              <a:rPr lang="en-US" b="1"/>
              <a:t>Expected Result:</a:t>
            </a:r>
            <a:r>
              <a:rPr lang="en-US"/>
              <a:t> A </a:t>
            </a:r>
            <a:r>
              <a:rPr lang="en-US" b="1"/>
              <a:t>single JSON record</a:t>
            </a:r>
            <a:r>
              <a:rPr lang="en-US"/>
              <a:t> must be created that contains all necessary data and metadata associated with the scan event.“</a:t>
            </a:r>
          </a:p>
          <a:p>
            <a:endParaRPr lang="en-US"/>
          </a:p>
          <a:p>
            <a:r>
              <a:rPr lang="en-US"/>
              <a:t>-</a:t>
            </a:r>
          </a:p>
          <a:p>
            <a:endParaRPr lang="en-US"/>
          </a:p>
          <a:p>
            <a:r>
              <a:rPr lang="en-US"/>
              <a:t>"</a:t>
            </a:r>
            <a:r>
              <a:rPr lang="en-US" b="1"/>
              <a:t>Traceability:</a:t>
            </a:r>
            <a:r>
              <a:rPr lang="en-US"/>
              <a:t> This supports </a:t>
            </a:r>
            <a:r>
              <a:rPr lang="en-US" b="1"/>
              <a:t>UFR1 and UFR4</a:t>
            </a:r>
            <a:r>
              <a:rPr lang="en-US"/>
              <a:t>, confirming the correct data is output, and system requirements </a:t>
            </a:r>
            <a:r>
              <a:rPr lang="en-US" b="1"/>
              <a:t>SFR4 and SFR11</a:t>
            </a:r>
            <a:r>
              <a:rPr lang="en-US"/>
              <a:t> regarding data structure and output format."</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21</a:t>
            </a:fld>
            <a:endParaRPr lang="en-US"/>
          </a:p>
        </p:txBody>
      </p:sp>
    </p:spTree>
    <p:extLst>
      <p:ext uri="{BB962C8B-B14F-4D97-AF65-F5344CB8AC3E}">
        <p14:creationId xmlns:p14="http://schemas.microsoft.com/office/powerpoint/2010/main" val="182556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t>
            </a:r>
            <a:r>
              <a:rPr lang="en-US" b="1"/>
              <a:t>TC-SFR5-MAN-01</a:t>
            </a:r>
            <a:r>
              <a:rPr lang="en-US"/>
              <a:t> addresses a common integration method: </a:t>
            </a:r>
            <a:r>
              <a:rPr lang="en-US" b="1"/>
              <a:t>Keyboard Emulation</a:t>
            </a:r>
            <a:r>
              <a:rPr lang="en-US"/>
              <a:t>.“</a:t>
            </a:r>
          </a:p>
          <a:p>
            <a:endParaRPr lang="en-US"/>
          </a:p>
          <a:p>
            <a:r>
              <a:rPr lang="en-US"/>
              <a:t>"</a:t>
            </a:r>
            <a:r>
              <a:rPr lang="en-US" b="1"/>
              <a:t>What it tests:</a:t>
            </a:r>
            <a:r>
              <a:rPr lang="en-US"/>
              <a:t> Does the system's keyboard-emulation feature output the </a:t>
            </a:r>
            <a:r>
              <a:rPr lang="en-US" b="1"/>
              <a:t>correct decoded text</a:t>
            </a:r>
            <a:r>
              <a:rPr lang="en-US"/>
              <a:t> to a target application, simulating a traditional scanner?“</a:t>
            </a:r>
          </a:p>
          <a:p>
            <a:endParaRPr lang="en-US"/>
          </a:p>
          <a:p>
            <a:r>
              <a:rPr lang="en-US"/>
              <a:t>"</a:t>
            </a:r>
            <a:r>
              <a:rPr lang="en-US" b="1"/>
              <a:t>Test Data Input:</a:t>
            </a:r>
            <a:r>
              <a:rPr lang="en-US"/>
              <a:t> A </a:t>
            </a:r>
            <a:r>
              <a:rPr lang="en-US" b="1"/>
              <a:t>live scan</a:t>
            </a:r>
            <a:r>
              <a:rPr lang="en-US"/>
              <a:t> while a simple text field, like a Notepad field, is in focus.“</a:t>
            </a:r>
          </a:p>
          <a:p>
            <a:endParaRPr lang="en-US"/>
          </a:p>
          <a:p>
            <a:r>
              <a:rPr lang="en-US"/>
              <a:t>"</a:t>
            </a:r>
            <a:r>
              <a:rPr lang="en-US" b="1"/>
              <a:t>Expected Result:</a:t>
            </a:r>
            <a:r>
              <a:rPr lang="en-US"/>
              <a:t> </a:t>
            </a:r>
            <a:r>
              <a:rPr lang="en-US" b="1"/>
              <a:t>Exactly correct keystroke output</a:t>
            </a:r>
            <a:r>
              <a:rPr lang="en-US"/>
              <a:t> must appear, confirming the emulation is accurate and reliable.“</a:t>
            </a:r>
          </a:p>
          <a:p>
            <a:endParaRPr lang="en-US"/>
          </a:p>
          <a:p>
            <a:r>
              <a:rPr lang="en-US"/>
              <a:t>"</a:t>
            </a:r>
            <a:r>
              <a:rPr lang="en-US" b="1"/>
              <a:t>Traceability:</a:t>
            </a:r>
            <a:r>
              <a:rPr lang="en-US"/>
              <a:t> This is traced to user requirement </a:t>
            </a:r>
            <a:r>
              <a:rPr lang="en-US" b="1"/>
              <a:t>UFR9</a:t>
            </a:r>
            <a:r>
              <a:rPr lang="en-US"/>
              <a:t> (the need for easy data entry) and system requirements </a:t>
            </a:r>
            <a:r>
              <a:rPr lang="en-US" b="1"/>
              <a:t>SFR5 and SFR18</a:t>
            </a:r>
            <a:r>
              <a:rPr lang="en-US"/>
              <a:t>, verifying the correct output mechanism."</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22</a:t>
            </a:fld>
            <a:endParaRPr lang="en-US"/>
          </a:p>
        </p:txBody>
      </p:sp>
    </p:spTree>
    <p:extLst>
      <p:ext uri="{BB962C8B-B14F-4D97-AF65-F5344CB8AC3E}">
        <p14:creationId xmlns:p14="http://schemas.microsoft.com/office/powerpoint/2010/main" val="31845927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with </a:t>
            </a:r>
            <a:r>
              <a:rPr lang="en-US" b="1"/>
              <a:t>TC-SFR15-MAN-01</a:t>
            </a:r>
            <a:r>
              <a:rPr lang="en-US"/>
              <a:t>, we test the system's robustness in real-world conditions.“</a:t>
            </a:r>
          </a:p>
          <a:p>
            <a:endParaRPr lang="en-US"/>
          </a:p>
          <a:p>
            <a:r>
              <a:rPr lang="en-US"/>
              <a:t>break</a:t>
            </a:r>
          </a:p>
          <a:p>
            <a:endParaRPr lang="en-US"/>
          </a:p>
          <a:p>
            <a:r>
              <a:rPr lang="en-US"/>
              <a:t>"</a:t>
            </a:r>
            <a:r>
              <a:rPr lang="en-US" b="1"/>
              <a:t>What it tests:</a:t>
            </a:r>
            <a:r>
              <a:rPr lang="en-US"/>
              <a:t> The ability to perform </a:t>
            </a:r>
            <a:r>
              <a:rPr lang="en-US" b="1"/>
              <a:t>live multi-code decoding</a:t>
            </a:r>
            <a:r>
              <a:rPr lang="en-US"/>
              <a:t> under </a:t>
            </a:r>
            <a:r>
              <a:rPr lang="en-US" b="1"/>
              <a:t>typical manufacturing floor lighting</a:t>
            </a:r>
            <a:r>
              <a:rPr lang="en-US"/>
              <a:t>. Lighting conditions are a major variable for CV systems.“</a:t>
            </a:r>
          </a:p>
          <a:p>
            <a:endParaRPr lang="en-US"/>
          </a:p>
          <a:p>
            <a:r>
              <a:rPr lang="en-US"/>
              <a:t>break</a:t>
            </a:r>
          </a:p>
          <a:p>
            <a:endParaRPr lang="en-US"/>
          </a:p>
          <a:p>
            <a:r>
              <a:rPr lang="en-US"/>
              <a:t>"</a:t>
            </a:r>
            <a:r>
              <a:rPr lang="en-US" b="1"/>
              <a:t>Test Data Input:</a:t>
            </a:r>
            <a:r>
              <a:rPr lang="en-US"/>
              <a:t> A </a:t>
            </a:r>
            <a:r>
              <a:rPr lang="en-US" b="1"/>
              <a:t>printed QR sheet</a:t>
            </a:r>
            <a:r>
              <a:rPr lang="en-US"/>
              <a:t> containing multiple codes with known values.“</a:t>
            </a:r>
          </a:p>
          <a:p>
            <a:endParaRPr lang="en-US"/>
          </a:p>
          <a:p>
            <a:r>
              <a:rPr lang="en-US"/>
              <a:t>break</a:t>
            </a:r>
          </a:p>
          <a:p>
            <a:endParaRPr lang="en-US"/>
          </a:p>
          <a:p>
            <a:r>
              <a:rPr lang="en-US"/>
              <a:t>"</a:t>
            </a:r>
            <a:r>
              <a:rPr lang="en-US" b="1"/>
              <a:t>Expected Result:</a:t>
            </a:r>
            <a:r>
              <a:rPr lang="en-US"/>
              <a:t> </a:t>
            </a:r>
            <a:r>
              <a:rPr lang="en-US" b="1"/>
              <a:t>All codes must decode correctly</a:t>
            </a:r>
            <a:r>
              <a:rPr lang="en-US"/>
              <a:t>, validating the system's image processing and decoding algorithms under stress.“</a:t>
            </a:r>
          </a:p>
          <a:p>
            <a:endParaRPr lang="en-US"/>
          </a:p>
          <a:p>
            <a:r>
              <a:rPr lang="en-US"/>
              <a:t>break</a:t>
            </a:r>
          </a:p>
          <a:p>
            <a:endParaRPr lang="en-US"/>
          </a:p>
          <a:p>
            <a:r>
              <a:rPr lang="en-US"/>
              <a:t>"</a:t>
            </a:r>
            <a:r>
              <a:rPr lang="en-US" b="1"/>
              <a:t>Traceability:</a:t>
            </a:r>
            <a:r>
              <a:rPr lang="en-US"/>
              <a:t> This is a key validation for </a:t>
            </a:r>
            <a:r>
              <a:rPr lang="en-US" b="1"/>
              <a:t>UFR1</a:t>
            </a:r>
            <a:r>
              <a:rPr lang="en-US"/>
              <a:t> (basic function) and </a:t>
            </a:r>
            <a:r>
              <a:rPr lang="en-US" b="1"/>
              <a:t>SFR15</a:t>
            </a:r>
            <a:r>
              <a:rPr lang="en-US"/>
              <a:t> (performance under environmental conditions)."</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23</a:t>
            </a:fld>
            <a:endParaRPr lang="en-US"/>
          </a:p>
        </p:txBody>
      </p:sp>
    </p:spTree>
    <p:extLst>
      <p:ext uri="{BB962C8B-B14F-4D97-AF65-F5344CB8AC3E}">
        <p14:creationId xmlns:p14="http://schemas.microsoft.com/office/powerpoint/2010/main" val="42938952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t>
            </a:r>
            <a:r>
              <a:rPr lang="en-US" b="1"/>
              <a:t>TC-SFR16-MAN-01</a:t>
            </a:r>
            <a:r>
              <a:rPr lang="en-US"/>
              <a:t> is a verification test focused on completeness of output.“</a:t>
            </a:r>
          </a:p>
          <a:p>
            <a:endParaRPr lang="en-US"/>
          </a:p>
          <a:p>
            <a:r>
              <a:rPr lang="en-US"/>
              <a:t>break</a:t>
            </a:r>
          </a:p>
          <a:p>
            <a:endParaRPr lang="en-US"/>
          </a:p>
          <a:p>
            <a:r>
              <a:rPr lang="en-US"/>
              <a:t>"</a:t>
            </a:r>
            <a:r>
              <a:rPr lang="en-US" b="1"/>
              <a:t>What it tests:</a:t>
            </a:r>
            <a:r>
              <a:rPr lang="en-US"/>
              <a:t> Does the system's output </a:t>
            </a:r>
            <a:r>
              <a:rPr lang="en-US" b="1"/>
              <a:t>include all visible QR codes</a:t>
            </a:r>
            <a:r>
              <a:rPr lang="en-US"/>
              <a:t> when multiple codes are present in the view?“</a:t>
            </a:r>
          </a:p>
          <a:p>
            <a:endParaRPr lang="en-US"/>
          </a:p>
          <a:p>
            <a:r>
              <a:rPr lang="en-US"/>
              <a:t>break</a:t>
            </a:r>
          </a:p>
          <a:p>
            <a:endParaRPr lang="en-US"/>
          </a:p>
          <a:p>
            <a:r>
              <a:rPr lang="en-US"/>
              <a:t>"</a:t>
            </a:r>
            <a:r>
              <a:rPr lang="en-US" b="1"/>
              <a:t>Test Data Input:</a:t>
            </a:r>
            <a:r>
              <a:rPr lang="en-US"/>
              <a:t> A </a:t>
            </a:r>
            <a:r>
              <a:rPr lang="en-US" b="1"/>
              <a:t>live multi-code scan</a:t>
            </a:r>
            <a:r>
              <a:rPr lang="en-US"/>
              <a:t> event.“</a:t>
            </a:r>
          </a:p>
          <a:p>
            <a:endParaRPr lang="en-US"/>
          </a:p>
          <a:p>
            <a:r>
              <a:rPr lang="en-US"/>
              <a:t>break</a:t>
            </a:r>
          </a:p>
          <a:p>
            <a:endParaRPr lang="en-US"/>
          </a:p>
          <a:p>
            <a:r>
              <a:rPr lang="en-US"/>
              <a:t>"</a:t>
            </a:r>
            <a:r>
              <a:rPr lang="en-US" b="1"/>
              <a:t>Expected Result:</a:t>
            </a:r>
            <a:r>
              <a:rPr lang="en-US"/>
              <a:t> The output must precisely </a:t>
            </a:r>
            <a:r>
              <a:rPr lang="en-US" b="1"/>
              <a:t>match the count and content</a:t>
            </a:r>
            <a:r>
              <a:rPr lang="en-US"/>
              <a:t> of the visible codes, ensuring no codes are dropped during processing.“</a:t>
            </a:r>
          </a:p>
          <a:p>
            <a:endParaRPr lang="en-US"/>
          </a:p>
          <a:p>
            <a:r>
              <a:rPr lang="en-US"/>
              <a:t>break</a:t>
            </a:r>
          </a:p>
          <a:p>
            <a:endParaRPr lang="en-US"/>
          </a:p>
          <a:p>
            <a:r>
              <a:rPr lang="en-US"/>
              <a:t>"</a:t>
            </a:r>
            <a:r>
              <a:rPr lang="en-US" b="1"/>
              <a:t>Traceability:</a:t>
            </a:r>
            <a:r>
              <a:rPr lang="en-US"/>
              <a:t> This reinforces </a:t>
            </a:r>
            <a:r>
              <a:rPr lang="en-US" b="1"/>
              <a:t>UFR1</a:t>
            </a:r>
            <a:r>
              <a:rPr lang="en-US"/>
              <a:t> and specifically system requirement </a:t>
            </a:r>
            <a:r>
              <a:rPr lang="en-US" b="1"/>
              <a:t>SFR16</a:t>
            </a:r>
            <a:r>
              <a:rPr lang="en-US"/>
              <a:t>, which governs multi-code handling."</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24</a:t>
            </a:fld>
            <a:endParaRPr lang="en-US"/>
          </a:p>
        </p:txBody>
      </p:sp>
    </p:spTree>
    <p:extLst>
      <p:ext uri="{BB962C8B-B14F-4D97-AF65-F5344CB8AC3E}">
        <p14:creationId xmlns:p14="http://schemas.microsoft.com/office/powerpoint/2010/main" val="4804122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"Switching to our automated suite, </a:t>
            </a:r>
            <a:r>
              <a:rPr lang="en-US" b="1"/>
              <a:t>TC-SFR1-AUTO-01</a:t>
            </a:r>
            <a:r>
              <a:rPr lang="en-US"/>
              <a:t> tests the core detection algorithm on a static input.“</a:t>
            </a:r>
          </a:p>
          <a:p>
            <a:endParaRPr lang="en-US"/>
          </a:p>
          <a:p>
            <a:r>
              <a:rPr lang="en-US"/>
              <a:t>break</a:t>
            </a:r>
          </a:p>
          <a:p>
            <a:endParaRPr lang="en-US"/>
          </a:p>
          <a:p>
            <a:r>
              <a:rPr lang="en-US"/>
              <a:t>"</a:t>
            </a:r>
            <a:r>
              <a:rPr lang="en-US" b="1"/>
              <a:t>What it tests:</a:t>
            </a:r>
            <a:r>
              <a:rPr lang="en-US"/>
              <a:t> Does the </a:t>
            </a:r>
            <a:r>
              <a:rPr lang="en-US" b="1"/>
              <a:t>QR detection function</a:t>
            </a:r>
            <a:r>
              <a:rPr lang="en-US"/>
              <a:t> return all codes in a </a:t>
            </a:r>
            <a:r>
              <a:rPr lang="en-US" b="1"/>
              <a:t>static image</a:t>
            </a:r>
            <a:r>
              <a:rPr lang="en-US"/>
              <a:t>? This isolates the algorithm from live camera feed variables.“</a:t>
            </a:r>
          </a:p>
          <a:p>
            <a:endParaRPr lang="en-US"/>
          </a:p>
          <a:p>
            <a:r>
              <a:rPr lang="en-US"/>
              <a:t>break</a:t>
            </a:r>
          </a:p>
          <a:p>
            <a:endParaRPr lang="en-US"/>
          </a:p>
          <a:p>
            <a:r>
              <a:rPr lang="en-US"/>
              <a:t>"</a:t>
            </a:r>
            <a:r>
              <a:rPr lang="en-US" b="1"/>
              <a:t>Test Data Input:</a:t>
            </a:r>
            <a:r>
              <a:rPr lang="en-US"/>
              <a:t> A </a:t>
            </a:r>
            <a:r>
              <a:rPr lang="en-US" b="1"/>
              <a:t>multi-QR test image</a:t>
            </a:r>
            <a:r>
              <a:rPr lang="en-US"/>
              <a:t> with a known number (N) of codes.“</a:t>
            </a:r>
          </a:p>
          <a:p>
            <a:endParaRPr lang="en-US"/>
          </a:p>
          <a:p>
            <a:r>
              <a:rPr lang="en-US"/>
              <a:t>break</a:t>
            </a:r>
          </a:p>
          <a:p>
            <a:endParaRPr lang="en-US"/>
          </a:p>
          <a:p>
            <a:r>
              <a:rPr lang="en-US"/>
              <a:t>"</a:t>
            </a:r>
            <a:r>
              <a:rPr lang="en-US" b="1"/>
              <a:t>Expected Result:</a:t>
            </a:r>
            <a:r>
              <a:rPr lang="en-US"/>
              <a:t> The automated </a:t>
            </a:r>
            <a:r>
              <a:rPr lang="en-US" sz="1200" kern="1200" err="1">
                <a:solidFill>
                  <a:schemeClr val="tx1"/>
                </a:solidFill>
                <a:latin typeface="+mn-lt"/>
                <a:ea typeface="+mn-ea"/>
                <a:cs typeface="+mn-cs"/>
              </a:rPr>
              <a:t>detect_qr_codes</a:t>
            </a:r>
            <a:r>
              <a:rPr lang="en-US" sz="1200" kern="1200">
                <a:solidFill>
                  <a:schemeClr val="tx1"/>
                </a:solidFill>
                <a:latin typeface="+mn-lt"/>
                <a:ea typeface="+mn-ea"/>
                <a:cs typeface="+mn-cs"/>
              </a:rPr>
              <a:t>()</a:t>
            </a:r>
            <a:r>
              <a:rPr lang="en-US"/>
              <a:t> function must return </a:t>
            </a:r>
            <a:r>
              <a:rPr lang="en-US" b="1"/>
              <a:t>N codes</a:t>
            </a:r>
            <a:r>
              <a:rPr lang="en-US"/>
              <a:t>, and their decoded </a:t>
            </a:r>
            <a:r>
              <a:rPr lang="en-US" b="1"/>
              <a:t>payloads must match the known ground truth</a:t>
            </a:r>
            <a:r>
              <a:rPr lang="en-US"/>
              <a:t>.“</a:t>
            </a:r>
          </a:p>
          <a:p>
            <a:endParaRPr lang="en-US"/>
          </a:p>
          <a:p>
            <a:r>
              <a:rPr lang="en-US"/>
              <a:t>break</a:t>
            </a:r>
          </a:p>
          <a:p>
            <a:endParaRPr lang="en-US"/>
          </a:p>
          <a:p>
            <a:r>
              <a:rPr lang="en-US"/>
              <a:t>"</a:t>
            </a:r>
            <a:r>
              <a:rPr lang="en-US" b="1"/>
              <a:t>Traceability:</a:t>
            </a:r>
            <a:r>
              <a:rPr lang="en-US"/>
              <a:t> This directly supports </a:t>
            </a:r>
            <a:r>
              <a:rPr lang="en-US" b="1"/>
              <a:t>UFR1</a:t>
            </a:r>
            <a:r>
              <a:rPr lang="en-US"/>
              <a:t> and system requirements </a:t>
            </a:r>
            <a:r>
              <a:rPr lang="en-US" b="1"/>
              <a:t>SFR1, SFR15, and SFR16</a:t>
            </a:r>
            <a:r>
              <a:rPr lang="en-US"/>
              <a:t>, all essential for accurate code reading."</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25</a:t>
            </a:fld>
            <a:endParaRPr lang="en-US"/>
          </a:p>
        </p:txBody>
      </p:sp>
    </p:spTree>
    <p:extLst>
      <p:ext uri="{BB962C8B-B14F-4D97-AF65-F5344CB8AC3E}">
        <p14:creationId xmlns:p14="http://schemas.microsoft.com/office/powerpoint/2010/main" val="11096306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t>
            </a:r>
            <a:r>
              <a:rPr lang="en-US" b="1"/>
              <a:t>TC-SFR2-AUTO-01</a:t>
            </a:r>
            <a:r>
              <a:rPr lang="en-US"/>
              <a:t> verifies the system's business logic for data handling.“</a:t>
            </a:r>
          </a:p>
          <a:p>
            <a:endParaRPr lang="en-US"/>
          </a:p>
          <a:p>
            <a:r>
              <a:rPr lang="en-US"/>
              <a:t>break</a:t>
            </a:r>
          </a:p>
          <a:p>
            <a:endParaRPr lang="en-US"/>
          </a:p>
          <a:p>
            <a:r>
              <a:rPr lang="en-US"/>
              <a:t>"</a:t>
            </a:r>
            <a:r>
              <a:rPr lang="en-US" b="1"/>
              <a:t>What it tests:</a:t>
            </a:r>
            <a:r>
              <a:rPr lang="en-US"/>
              <a:t> The crucial step of </a:t>
            </a:r>
            <a:r>
              <a:rPr lang="en-US" b="1"/>
              <a:t>field mapping</a:t>
            </a:r>
            <a:r>
              <a:rPr lang="en-US"/>
              <a:t>—does the system correctly assign the decoded values to their logical fields?“</a:t>
            </a:r>
          </a:p>
          <a:p>
            <a:endParaRPr lang="en-US"/>
          </a:p>
          <a:p>
            <a:r>
              <a:rPr lang="en-US"/>
              <a:t>break</a:t>
            </a:r>
          </a:p>
          <a:p>
            <a:endParaRPr lang="en-US"/>
          </a:p>
          <a:p>
            <a:r>
              <a:rPr lang="en-US"/>
              <a:t>"</a:t>
            </a:r>
            <a:r>
              <a:rPr lang="en-US" b="1"/>
              <a:t>Test Data Input:</a:t>
            </a:r>
            <a:r>
              <a:rPr lang="en-US"/>
              <a:t> A </a:t>
            </a:r>
            <a:r>
              <a:rPr lang="en-US" b="1"/>
              <a:t>decoded QR list</a:t>
            </a:r>
            <a:r>
              <a:rPr lang="en-US"/>
              <a:t> combined with the system's </a:t>
            </a:r>
            <a:r>
              <a:rPr lang="en-US" b="1"/>
              <a:t>workstation mapping configuration</a:t>
            </a:r>
            <a:r>
              <a:rPr lang="en-US"/>
              <a:t> file.“</a:t>
            </a:r>
          </a:p>
          <a:p>
            <a:endParaRPr lang="en-US"/>
          </a:p>
          <a:p>
            <a:r>
              <a:rPr lang="en-US"/>
              <a:t>break</a:t>
            </a:r>
          </a:p>
          <a:p>
            <a:endParaRPr lang="en-US"/>
          </a:p>
          <a:p>
            <a:r>
              <a:rPr lang="en-US"/>
              <a:t>"</a:t>
            </a:r>
            <a:r>
              <a:rPr lang="en-US" b="1"/>
              <a:t>Expected Result:</a:t>
            </a:r>
            <a:r>
              <a:rPr lang="en-US"/>
              <a:t> The resultant </a:t>
            </a:r>
            <a:r>
              <a:rPr lang="en-US" b="1"/>
              <a:t>mapped JSON</a:t>
            </a:r>
            <a:r>
              <a:rPr lang="en-US"/>
              <a:t> must contain the </a:t>
            </a:r>
            <a:r>
              <a:rPr lang="en-US" b="1"/>
              <a:t>correct field-value assignments</a:t>
            </a:r>
            <a:r>
              <a:rPr lang="en-US"/>
              <a:t>, validating the configuration logic.“</a:t>
            </a:r>
          </a:p>
          <a:p>
            <a:endParaRPr lang="en-US"/>
          </a:p>
          <a:p>
            <a:r>
              <a:rPr lang="en-US"/>
              <a:t>break</a:t>
            </a:r>
          </a:p>
          <a:p>
            <a:endParaRPr lang="en-US"/>
          </a:p>
          <a:p>
            <a:r>
              <a:rPr lang="en-US"/>
              <a:t>"</a:t>
            </a:r>
            <a:r>
              <a:rPr lang="en-US" b="1"/>
              <a:t>Traceability:</a:t>
            </a:r>
            <a:r>
              <a:rPr lang="en-US"/>
              <a:t> This is key for </a:t>
            </a:r>
            <a:r>
              <a:rPr lang="en-US" b="1"/>
              <a:t>UFR2</a:t>
            </a:r>
            <a:r>
              <a:rPr lang="en-US"/>
              <a:t> (using the data) and system requirements </a:t>
            </a:r>
            <a:r>
              <a:rPr lang="en-US" b="1"/>
              <a:t>SFR2 and SFR4</a:t>
            </a:r>
            <a:r>
              <a:rPr lang="en-US"/>
              <a:t> (data processing and output)."</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26</a:t>
            </a:fld>
            <a:endParaRPr lang="en-US"/>
          </a:p>
        </p:txBody>
      </p:sp>
    </p:spTree>
    <p:extLst>
      <p:ext uri="{BB962C8B-B14F-4D97-AF65-F5344CB8AC3E}">
        <p14:creationId xmlns:p14="http://schemas.microsoft.com/office/powerpoint/2010/main" val="29918131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"Finally for functional automation, </a:t>
            </a:r>
            <a:r>
              <a:rPr lang="en-US" b="1"/>
              <a:t>TC-SFR11-AUTO-01</a:t>
            </a:r>
            <a:r>
              <a:rPr lang="en-US"/>
              <a:t> ensures data compatibility.“</a:t>
            </a:r>
          </a:p>
          <a:p>
            <a:endParaRPr lang="en-US"/>
          </a:p>
          <a:p>
            <a:r>
              <a:rPr lang="en-US"/>
              <a:t>break</a:t>
            </a:r>
          </a:p>
          <a:p>
            <a:endParaRPr lang="en-US"/>
          </a:p>
          <a:p>
            <a:r>
              <a:rPr lang="en-US"/>
              <a:t>"</a:t>
            </a:r>
            <a:r>
              <a:rPr lang="en-US" b="1"/>
              <a:t>What it tests:</a:t>
            </a:r>
            <a:r>
              <a:rPr lang="en-US"/>
              <a:t> Does the final </a:t>
            </a:r>
            <a:r>
              <a:rPr lang="en-US" b="1"/>
              <a:t>JSON output match the published schema</a:t>
            </a:r>
            <a:r>
              <a:rPr lang="en-US"/>
              <a:t>? This is vital for integration with other enterprise systems.“</a:t>
            </a:r>
          </a:p>
          <a:p>
            <a:endParaRPr lang="en-US"/>
          </a:p>
          <a:p>
            <a:r>
              <a:rPr lang="en-US"/>
              <a:t>break</a:t>
            </a:r>
          </a:p>
          <a:p>
            <a:endParaRPr lang="en-US"/>
          </a:p>
          <a:p>
            <a:r>
              <a:rPr lang="en-US"/>
              <a:t>"</a:t>
            </a:r>
            <a:r>
              <a:rPr lang="en-US" b="1"/>
              <a:t>Test Data Input:</a:t>
            </a:r>
            <a:r>
              <a:rPr lang="en-US"/>
              <a:t> </a:t>
            </a:r>
            <a:r>
              <a:rPr lang="en-US" b="1"/>
              <a:t>JSON outputs from multiple workflows</a:t>
            </a:r>
            <a:r>
              <a:rPr lang="en-US"/>
              <a:t> within the system.“</a:t>
            </a:r>
          </a:p>
          <a:p>
            <a:endParaRPr lang="en-US"/>
          </a:p>
          <a:p>
            <a:r>
              <a:rPr lang="en-US"/>
              <a:t>break</a:t>
            </a:r>
          </a:p>
          <a:p>
            <a:endParaRPr lang="en-US"/>
          </a:p>
          <a:p>
            <a:r>
              <a:rPr lang="en-US"/>
              <a:t>"</a:t>
            </a:r>
            <a:r>
              <a:rPr lang="en-US" b="1"/>
              <a:t>Expected Result:</a:t>
            </a:r>
            <a:r>
              <a:rPr lang="en-US"/>
              <a:t> </a:t>
            </a:r>
            <a:r>
              <a:rPr lang="en-US" b="1"/>
              <a:t>All outputs must validate</a:t>
            </a:r>
            <a:r>
              <a:rPr lang="en-US"/>
              <a:t> successfully against the predefined schema.“</a:t>
            </a:r>
          </a:p>
          <a:p>
            <a:endParaRPr lang="en-US"/>
          </a:p>
          <a:p>
            <a:r>
              <a:rPr lang="en-US"/>
              <a:t>break</a:t>
            </a:r>
          </a:p>
          <a:p>
            <a:endParaRPr lang="en-US"/>
          </a:p>
          <a:p>
            <a:r>
              <a:rPr lang="en-US"/>
              <a:t>"</a:t>
            </a:r>
            <a:r>
              <a:rPr lang="en-US" b="1"/>
              <a:t>Traceability:</a:t>
            </a:r>
            <a:r>
              <a:rPr lang="en-US"/>
              <a:t> This validates user requirement </a:t>
            </a:r>
            <a:r>
              <a:rPr lang="en-US" b="1"/>
              <a:t>UFR7</a:t>
            </a:r>
            <a:r>
              <a:rPr lang="en-US"/>
              <a:t> (reliable data format) and system requirement </a:t>
            </a:r>
            <a:r>
              <a:rPr lang="en-US" b="1"/>
              <a:t>SFR11</a:t>
            </a:r>
            <a:r>
              <a:rPr lang="en-US"/>
              <a:t> (standardized data output)."</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27</a:t>
            </a:fld>
            <a:endParaRPr lang="en-US"/>
          </a:p>
        </p:txBody>
      </p:sp>
    </p:spTree>
    <p:extLst>
      <p:ext uri="{BB962C8B-B14F-4D97-AF65-F5344CB8AC3E}">
        <p14:creationId xmlns:p14="http://schemas.microsoft.com/office/powerpoint/2010/main" val="6089859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"Our only automated non-functional test presented here, </a:t>
            </a:r>
            <a:r>
              <a:rPr lang="en-US" b="1"/>
              <a:t>TC-PDSR1-AUTO-01</a:t>
            </a:r>
            <a:r>
              <a:rPr lang="en-US"/>
              <a:t>, addresses a key </a:t>
            </a:r>
            <a:r>
              <a:rPr lang="en-US" b="1"/>
              <a:t>security and deployment requirement</a:t>
            </a:r>
            <a:r>
              <a:rPr lang="en-US"/>
              <a:t>.“</a:t>
            </a:r>
          </a:p>
          <a:p>
            <a:endParaRPr lang="en-US"/>
          </a:p>
          <a:p>
            <a:r>
              <a:rPr lang="en-US"/>
              <a:t>break</a:t>
            </a:r>
          </a:p>
          <a:p>
            <a:endParaRPr lang="en-US"/>
          </a:p>
          <a:p>
            <a:r>
              <a:rPr lang="en-US"/>
              <a:t>"</a:t>
            </a:r>
            <a:r>
              <a:rPr lang="en-US" b="1"/>
              <a:t>What it tests:</a:t>
            </a:r>
            <a:r>
              <a:rPr lang="en-US"/>
              <a:t> Does the system store data </a:t>
            </a:r>
            <a:r>
              <a:rPr lang="en-US" b="1"/>
              <a:t>locally</a:t>
            </a:r>
            <a:r>
              <a:rPr lang="en-US"/>
              <a:t>? This means </a:t>
            </a:r>
            <a:r>
              <a:rPr lang="en-US" b="1"/>
              <a:t>no external endpoints</a:t>
            </a:r>
            <a:r>
              <a:rPr lang="en-US"/>
              <a:t> should be contacted.“</a:t>
            </a:r>
          </a:p>
          <a:p>
            <a:endParaRPr lang="en-US"/>
          </a:p>
          <a:p>
            <a:r>
              <a:rPr lang="en-US"/>
              <a:t>break</a:t>
            </a:r>
          </a:p>
          <a:p>
            <a:endParaRPr lang="en-US"/>
          </a:p>
          <a:p>
            <a:r>
              <a:rPr lang="en-US"/>
              <a:t>"</a:t>
            </a:r>
            <a:r>
              <a:rPr lang="en-US" b="1"/>
              <a:t>Test Data Input:</a:t>
            </a:r>
            <a:r>
              <a:rPr lang="en-US"/>
              <a:t> A </a:t>
            </a:r>
            <a:r>
              <a:rPr lang="en-US" b="1"/>
              <a:t>configuration inspection script</a:t>
            </a:r>
            <a:r>
              <a:rPr lang="en-US"/>
              <a:t> to examine system files and network settings.“</a:t>
            </a:r>
          </a:p>
          <a:p>
            <a:endParaRPr lang="en-US"/>
          </a:p>
          <a:p>
            <a:r>
              <a:rPr lang="en-US"/>
              <a:t>break</a:t>
            </a:r>
          </a:p>
          <a:p>
            <a:endParaRPr lang="en-US"/>
          </a:p>
          <a:p>
            <a:r>
              <a:rPr lang="en-US"/>
              <a:t>"</a:t>
            </a:r>
            <a:r>
              <a:rPr lang="en-US" b="1"/>
              <a:t>Expected Result:</a:t>
            </a:r>
            <a:r>
              <a:rPr lang="en-US"/>
              <a:t> The inspection must confirm that </a:t>
            </a:r>
            <a:r>
              <a:rPr lang="en-US" b="1"/>
              <a:t>all endpoints are local</a:t>
            </a:r>
            <a:r>
              <a:rPr lang="en-US"/>
              <a:t>; there should be </a:t>
            </a:r>
            <a:r>
              <a:rPr lang="en-US" b="1"/>
              <a:t>no external URLs</a:t>
            </a:r>
            <a:r>
              <a:rPr lang="en-US"/>
              <a:t> configured for data storage or transfer.“</a:t>
            </a:r>
          </a:p>
          <a:p>
            <a:endParaRPr lang="en-US"/>
          </a:p>
          <a:p>
            <a:r>
              <a:rPr lang="en-US"/>
              <a:t>break</a:t>
            </a:r>
          </a:p>
          <a:p>
            <a:endParaRPr lang="en-US"/>
          </a:p>
          <a:p>
            <a:r>
              <a:rPr lang="en-US"/>
              <a:t>"</a:t>
            </a:r>
            <a:r>
              <a:rPr lang="en-US" b="1"/>
              <a:t>Traceability:</a:t>
            </a:r>
            <a:r>
              <a:rPr lang="en-US"/>
              <a:t> This directly supports user requirements </a:t>
            </a:r>
            <a:r>
              <a:rPr lang="en-US" b="1"/>
              <a:t>UFR10 and UFR7</a:t>
            </a:r>
            <a:r>
              <a:rPr lang="en-US"/>
              <a:t> (security and data control) and the specific design requirement </a:t>
            </a:r>
            <a:r>
              <a:rPr lang="en-US" b="1"/>
              <a:t>PDSR1</a:t>
            </a:r>
            <a:r>
              <a:rPr lang="en-US"/>
              <a:t> (Protected Data Storage Requirement 1)."</a:t>
            </a:r>
          </a:p>
          <a:p>
            <a:endParaRPr lang="en-US"/>
          </a:p>
        </p:txBody>
      </p:sp>
      <p:sp>
        <p:nvSpPr>
          <p:cNvPr id="4" name="Slide Number Placeholder 3"/>
          <p:cNvSpPr>
            <a:spLocks noGrp="1"/>
          </p:cNvSpPr>
          <p:nvPr>
            <p:ph type="sldNum" sz="quarter" idx="5"/>
          </p:nvPr>
        </p:nvSpPr>
        <p:spPr/>
        <p:txBody>
          <a:bodyPr/>
          <a:lstStyle/>
          <a:p>
            <a:fld id="{7CBE16C9-E44E-4755-862A-693F531BB02F}" type="slidenum">
              <a:rPr lang="en-US" smtClean="0"/>
              <a:t>28</a:t>
            </a:fld>
            <a:endParaRPr lang="en-US"/>
          </a:p>
        </p:txBody>
      </p:sp>
    </p:spTree>
    <p:extLst>
      <p:ext uri="{BB962C8B-B14F-4D97-AF65-F5344CB8AC3E}">
        <p14:creationId xmlns:p14="http://schemas.microsoft.com/office/powerpoint/2010/main" val="42271402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32410" indent="-232410">
              <a:buAutoNum type="arabicPeriod"/>
            </a:pPr>
            <a:endParaRPr lang="en-US">
              <a:ea typeface="Calibri"/>
              <a:cs typeface="Calibri"/>
            </a:endParaRPr>
          </a:p>
        </p:txBody>
      </p:sp>
      <p:sp>
        <p:nvSpPr>
          <p:cNvPr id="4" name="Slide Number Placeholder 3"/>
          <p:cNvSpPr>
            <a:spLocks noGrp="1"/>
          </p:cNvSpPr>
          <p:nvPr>
            <p:ph type="sldNum" sz="quarter" idx="5"/>
          </p:nvPr>
        </p:nvSpPr>
        <p:spPr/>
        <p:txBody>
          <a:bodyPr/>
          <a:lstStyle/>
          <a:p>
            <a:fld id="{7CBE16C9-E44E-4755-862A-693F531BB02F}" type="slidenum">
              <a:rPr lang="en-US"/>
              <a:t>30</a:t>
            </a:fld>
            <a:endParaRPr lang="en-US"/>
          </a:p>
        </p:txBody>
      </p:sp>
    </p:spTree>
    <p:extLst>
      <p:ext uri="{BB962C8B-B14F-4D97-AF65-F5344CB8AC3E}">
        <p14:creationId xmlns:p14="http://schemas.microsoft.com/office/powerpoint/2010/main" val="42657463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AAD347D-5ACD-4C99-B74B-A9C85AD731AF}" type="datetimeFigureOut">
              <a:rPr lang="en-US" dirty="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4166224404"/>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122687220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dirty="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308325891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796027F-7875-4030-9381-8BD8C4F21935}" type="datetimeFigureOut">
              <a:rPr lang="en-US" dirty="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3520087732"/>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796027F-7875-4030-9381-8BD8C4F21935}" type="datetimeFigureOut">
              <a:rPr lang="en-US" dirty="0"/>
              <a:t>2/22/2026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3236688784"/>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7" name="Date Placeholder 2"/>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3973465004"/>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96090786"/>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317362591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261744574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4022137963"/>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136556337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Tree>
    <p:extLst>
      <p:ext uri="{BB962C8B-B14F-4D97-AF65-F5344CB8AC3E}">
        <p14:creationId xmlns:p14="http://schemas.microsoft.com/office/powerpoint/2010/main" val="1767969081"/>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216475969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2/22/2026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1746473599"/>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2/22/2026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2931546227"/>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2318471421"/>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509A250-FF31-4206-8172-F9D3106AACB1}" type="datetimeFigureOut">
              <a:rPr lang="en-US" dirty="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a:p>
        </p:txBody>
      </p:sp>
    </p:spTree>
    <p:extLst>
      <p:ext uri="{BB962C8B-B14F-4D97-AF65-F5344CB8AC3E}">
        <p14:creationId xmlns:p14="http://schemas.microsoft.com/office/powerpoint/2010/main" val="2225538652"/>
      </p:ext>
    </p:extLst>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2.png"/><Relationship Id="rId20" Type="http://schemas.openxmlformats.org/officeDocument/2006/relationships/image" Target="../media/image3.png"/><Relationship Id="rId21" Type="http://schemas.openxmlformats.org/officeDocument/2006/relationships/image" Target="../media/image4.png"/><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AAD347D-5ACD-4C99-B74B-A9C85AD731AF}" type="datetimeFigureOut">
              <a:rPr lang="en-US" dirty="0"/>
              <a:t>2/22/2026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t>‹#›</a:t>
            </a:fld>
            <a:endParaRPr lang="en-US"/>
          </a:p>
        </p:txBody>
      </p:sp>
    </p:spTree>
    <p:extLst>
      <p:ext uri="{BB962C8B-B14F-4D97-AF65-F5344CB8AC3E}">
        <p14:creationId xmlns:p14="http://schemas.microsoft.com/office/powerpoint/2010/main" val="1296969525"/>
      </p:ext>
    </p:extLst>
  </p:cSld>
  <p:clrMap bg1="dk1" tx1="lt1" bg2="dk2" tx2="lt2" accent1="accent1" accent2="accent2" accent3="accent3" accent4="accent4" accent5="accent5" accent6="accent6" hlink="hlink" folHlink="folHlink"/>
  <p:sldLayoutIdLst>
    <p:sldLayoutId id="2147484273" r:id="rId1"/>
    <p:sldLayoutId id="2147484274" r:id="rId2"/>
    <p:sldLayoutId id="2147484275" r:id="rId3"/>
    <p:sldLayoutId id="2147484276" r:id="rId4"/>
    <p:sldLayoutId id="2147484277" r:id="rId5"/>
    <p:sldLayoutId id="2147484278" r:id="rId6"/>
    <p:sldLayoutId id="2147484279" r:id="rId7"/>
    <p:sldLayoutId id="2147484280" r:id="rId8"/>
    <p:sldLayoutId id="2147484281" r:id="rId9"/>
    <p:sldLayoutId id="2147484282" r:id="rId10"/>
    <p:sldLayoutId id="2147484283" r:id="rId11"/>
    <p:sldLayoutId id="2147484284" r:id="rId12"/>
    <p:sldLayoutId id="2147484285" r:id="rId13"/>
    <p:sldLayoutId id="2147484286" r:id="rId14"/>
    <p:sldLayoutId id="2147484287" r:id="rId15"/>
    <p:sldLayoutId id="2147484288" r:id="rId16"/>
    <p:sldLayoutId id="2147484289" r:id="rId17"/>
  </p:sldLayoutIdLst>
  <p:hf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jpe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4A6AA-5087-E976-6B57-900E4B370C58}"/>
              </a:ext>
            </a:extLst>
          </p:cNvPr>
          <p:cNvSpPr>
            <a:spLocks noGrp="1"/>
          </p:cNvSpPr>
          <p:nvPr>
            <p:ph type="ctrTitle"/>
          </p:nvPr>
        </p:nvSpPr>
        <p:spPr/>
        <p:txBody>
          <a:bodyPr/>
          <a:lstStyle/>
          <a:p>
            <a:r>
              <a:rPr lang="en-US"/>
              <a:t>AIBI Computer Vision for Manufacturing</a:t>
            </a:r>
          </a:p>
        </p:txBody>
      </p:sp>
      <p:sp>
        <p:nvSpPr>
          <p:cNvPr id="3" name="Subtitle 2">
            <a:extLst>
              <a:ext uri="{FF2B5EF4-FFF2-40B4-BE49-F238E27FC236}">
                <a16:creationId xmlns:a16="http://schemas.microsoft.com/office/drawing/2014/main" id="{8F557CA7-1464-9775-DAA3-B8F6773D8F0B}"/>
              </a:ext>
            </a:extLst>
          </p:cNvPr>
          <p:cNvSpPr>
            <a:spLocks noGrp="1"/>
          </p:cNvSpPr>
          <p:nvPr>
            <p:ph type="subTitle" idx="1"/>
          </p:nvPr>
        </p:nvSpPr>
        <p:spPr>
          <a:xfrm>
            <a:off x="1154956" y="4878233"/>
            <a:ext cx="11044422" cy="861420"/>
          </a:xfrm>
        </p:spPr>
        <p:txBody>
          <a:bodyPr vert="horz" lIns="91440" tIns="45720" rIns="91440" bIns="45720" rtlCol="0" anchor="t">
            <a:normAutofit fontScale="92500" lnSpcReduction="10000"/>
          </a:bodyPr>
          <a:lstStyle/>
          <a:p>
            <a:pPr>
              <a:buClr>
                <a:srgbClr val="1E5155">
                  <a:lumMod val="40000"/>
                  <a:lumOff val="60000"/>
                </a:srgbClr>
              </a:buClr>
            </a:pPr>
            <a:r>
              <a:t>Group 9</a:t>
            </a:r>
          </a:p>
          <a:p>
            <a:r>
              <a:t>Nathan DiGilio, Jacob Dzikowski, Collin Miller, Daniel Pora</a:t>
            </a:r>
          </a:p>
          <a:p>
            <a:r>
              <a:t>Version 4.0</a:t>
            </a:r>
          </a:p>
        </p:txBody>
      </p:sp>
      <p:sp>
        <p:nvSpPr>
          <p:cNvPr id="4" name="Date Placeholder 3">
            <a:extLst>
              <a:ext uri="{FF2B5EF4-FFF2-40B4-BE49-F238E27FC236}">
                <a16:creationId xmlns:a16="http://schemas.microsoft.com/office/drawing/2014/main" id="{D5BA8C2C-5291-4FD2-8B7F-53210C541026}"/>
              </a:ext>
            </a:extLst>
          </p:cNvPr>
          <p:cNvSpPr>
            <a:spLocks noGrp="1"/>
          </p:cNvSpPr>
          <p:nvPr>
            <p:ph type="dt" sz="half" idx="10"/>
          </p:nvPr>
        </p:nvSpPr>
        <p:spPr/>
        <p:txBody>
          <a:bodyPr/>
          <a:lstStyle/>
          <a:p>
            <a:r>
              <a:t>4/22/2026</a:t>
            </a:r>
            <a:endParaRPr lang="en-US"/>
          </a:p>
        </p:txBody>
      </p:sp>
      <p:sp>
        <p:nvSpPr>
          <p:cNvPr id="6" name="Slide Number Placeholder 5">
            <a:extLst>
              <a:ext uri="{FF2B5EF4-FFF2-40B4-BE49-F238E27FC236}">
                <a16:creationId xmlns:a16="http://schemas.microsoft.com/office/drawing/2014/main" id="{F018C970-1C7C-128B-3D1B-E0274C1D0D99}"/>
              </a:ext>
            </a:extLst>
          </p:cNvPr>
          <p:cNvSpPr>
            <a:spLocks noGrp="1"/>
          </p:cNvSpPr>
          <p:nvPr>
            <p:ph type="sldNum" sz="quarter" idx="12"/>
          </p:nvPr>
        </p:nvSpPr>
        <p:spPr/>
        <p:txBody>
          <a:bodyPr>
            <a:normAutofit/>
          </a:bodyPr>
          <a:lstStyle/>
          <a:p>
            <a:fld id="{E30AF5A0-43BB-4336-8627-9123B9144D80}" type="slidenum">
              <a:rPr lang="en-US" dirty="0"/>
              <a:t>1</a:t>
            </a:fld>
            <a:endParaRPr lang="en-US"/>
          </a:p>
        </p:txBody>
      </p:sp>
    </p:spTree>
    <p:extLst>
      <p:ext uri="{BB962C8B-B14F-4D97-AF65-F5344CB8AC3E}">
        <p14:creationId xmlns:p14="http://schemas.microsoft.com/office/powerpoint/2010/main" val="3588442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89A45-9C24-6B29-CC99-7662E46F5CBC}"/>
              </a:ext>
            </a:extLst>
          </p:cNvPr>
          <p:cNvSpPr>
            <a:spLocks noGrp="1"/>
          </p:cNvSpPr>
          <p:nvPr>
            <p:ph type="title"/>
          </p:nvPr>
        </p:nvSpPr>
        <p:spPr/>
        <p:txBody>
          <a:bodyPr/>
          <a:lstStyle/>
          <a:p>
            <a:r>
              <a:rPr lang="en-US"/>
              <a:t>Outline</a:t>
            </a:r>
          </a:p>
        </p:txBody>
      </p:sp>
      <p:sp>
        <p:nvSpPr>
          <p:cNvPr id="3" name="Content Placeholder 2">
            <a:extLst>
              <a:ext uri="{FF2B5EF4-FFF2-40B4-BE49-F238E27FC236}">
                <a16:creationId xmlns:a16="http://schemas.microsoft.com/office/drawing/2014/main" id="{DB48BDE1-F46C-DF2B-1E35-3ADD305FEA6D}"/>
              </a:ext>
            </a:extLst>
          </p:cNvPr>
          <p:cNvSpPr>
            <a:spLocks noGrp="1"/>
          </p:cNvSpPr>
          <p:nvPr>
            <p:ph idx="1"/>
          </p:nvPr>
        </p:nvSpPr>
        <p:spPr/>
        <p:txBody>
          <a:bodyPr vert="horz" lIns="91440" tIns="45720" rIns="91440" bIns="45720" rtlCol="0" anchor="t">
            <a:normAutofit fontScale="77500" lnSpcReduction="20000"/>
          </a:bodyPr>
          <a:lstStyle/>
          <a:p>
            <a:pPr algn="l">
              <a:buAutoNum type="arabicPeriod"/>
            </a:pPr>
            <a:r>
              <a:rPr sz="1800"/>
              <a:t>Overview &amp; Broader Impact</a:t>
            </a:r>
          </a:p>
          <a:p>
            <a:pPr algn="l"/>
            <a:r>
              <a:rPr sz="1800"/>
              <a:t>Progress Update &amp; Changes</a:t>
            </a:r>
          </a:p>
          <a:p>
            <a:pPr algn="l"/>
            <a:r>
              <a:rPr sz="1800"/>
              <a:t>Requirements Review</a:t>
            </a:r>
          </a:p>
          <a:p>
            <a:pPr algn="l"/>
            <a:r>
              <a:rPr sz="1800"/>
              <a:t>System Design</a:t>
            </a:r>
          </a:p>
          <a:p>
            <a:pPr algn="l"/>
            <a:r>
              <a:rPr sz="1800"/>
              <a:t>Testing Overview</a:t>
            </a:r>
          </a:p>
          <a:p>
            <a:pPr algn="l"/>
            <a:r>
              <a:rPr sz="1800"/>
              <a:t>Challenges &amp; Action Plans</a:t>
            </a:r>
          </a:p>
          <a:p>
            <a:pPr algn="l"/>
            <a:r>
              <a:rPr sz="1800"/>
              <a:t>Algorithm Analysis</a:t>
            </a:r>
          </a:p>
          <a:p>
            <a:pPr algn="l"/>
            <a:r>
              <a:rPr sz="1800"/>
              <a:t>Lessons &amp; Skills Gained</a:t>
            </a:r>
          </a:p>
          <a:p>
            <a:pPr algn="l"/>
            <a:r>
              <a:rPr sz="1800"/>
              <a:t>Requirements Satisfaction</a:t>
            </a:r>
          </a:p>
          <a:p>
            <a:pPr algn="l"/>
            <a:r>
              <a:rPr sz="1800"/>
              <a:t>Team Logs</a:t>
            </a:r>
          </a:p>
          <a:p>
            <a:pPr algn="l"/>
            <a:r>
              <a:rPr sz="1800"/>
              <a:t>Live Demo &amp; Questions</a:t>
            </a:r>
          </a:p>
        </p:txBody>
      </p:sp>
      <p:sp>
        <p:nvSpPr>
          <p:cNvPr id="4" name="Slide Number Placeholder 3">
            <a:extLst>
              <a:ext uri="{FF2B5EF4-FFF2-40B4-BE49-F238E27FC236}">
                <a16:creationId xmlns:a16="http://schemas.microsoft.com/office/drawing/2014/main" id="{00BA147A-72F4-A53D-07E3-A0889E17EB92}"/>
              </a:ext>
            </a:extLst>
          </p:cNvPr>
          <p:cNvSpPr>
            <a:spLocks noGrp="1"/>
          </p:cNvSpPr>
          <p:nvPr>
            <p:ph type="sldNum" sz="quarter" idx="12"/>
          </p:nvPr>
        </p:nvSpPr>
        <p:spPr/>
        <p:txBody>
          <a:bodyPr/>
          <a:lstStyle/>
          <a:p>
            <a:fld id="{D57F1E4F-1CFF-5643-939E-02111984F565}" type="slidenum">
              <a:rPr lang="en-US" smtClean="0"/>
              <a:t>2</a:t>
            </a:fld>
            <a:endParaRPr lang="en-US"/>
          </a:p>
        </p:txBody>
      </p:sp>
    </p:spTree>
    <p:extLst>
      <p:ext uri="{BB962C8B-B14F-4D97-AF65-F5344CB8AC3E}">
        <p14:creationId xmlns:p14="http://schemas.microsoft.com/office/powerpoint/2010/main" val="42517172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F5F85FAA-3933-034E-681D-058D0FB112C2}"/>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C070A61-DF7A-9AF1-ECCC-3B079F01F59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10" name="Picture 9">
            <a:extLst>
              <a:ext uri="{FF2B5EF4-FFF2-40B4-BE49-F238E27FC236}">
                <a16:creationId xmlns:a16="http://schemas.microsoft.com/office/drawing/2014/main" id="{0D75AE86-4E49-7800-8BF3-54491FA1657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2" name="Oval 11">
            <a:extLst>
              <a:ext uri="{FF2B5EF4-FFF2-40B4-BE49-F238E27FC236}">
                <a16:creationId xmlns:a16="http://schemas.microsoft.com/office/drawing/2014/main" id="{12698AFA-A21E-41EA-4DAB-95C66A94BF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4" name="Picture 13">
            <a:extLst>
              <a:ext uri="{FF2B5EF4-FFF2-40B4-BE49-F238E27FC236}">
                <a16:creationId xmlns:a16="http://schemas.microsoft.com/office/drawing/2014/main" id="{98D465CA-9AF0-A610-7BC5-8246C089DAC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6" name="Picture 15">
            <a:extLst>
              <a:ext uri="{FF2B5EF4-FFF2-40B4-BE49-F238E27FC236}">
                <a16:creationId xmlns:a16="http://schemas.microsoft.com/office/drawing/2014/main" id="{69E22A98-3997-883F-DC54-A82DF38ED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7">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8" name="Rectangle 17">
            <a:extLst>
              <a:ext uri="{FF2B5EF4-FFF2-40B4-BE49-F238E27FC236}">
                <a16:creationId xmlns:a16="http://schemas.microsoft.com/office/drawing/2014/main" id="{1CE458AB-B017-057D-11EE-44713179F9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20" name="Rectangle 19">
            <a:extLst>
              <a:ext uri="{FF2B5EF4-FFF2-40B4-BE49-F238E27FC236}">
                <a16:creationId xmlns:a16="http://schemas.microsoft.com/office/drawing/2014/main" id="{52FE244C-8E91-6DC0-7744-79A95421E1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99AECA3-1851-A461-1CB8-64BAAEA58B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lide Number Placeholder 2">
            <a:extLst>
              <a:ext uri="{FF2B5EF4-FFF2-40B4-BE49-F238E27FC236}">
                <a16:creationId xmlns:a16="http://schemas.microsoft.com/office/drawing/2014/main" id="{BEF5A01A-71D6-85EE-309D-C548D1B0E28D}"/>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defTabSz="457200">
              <a:spcAft>
                <a:spcPts val="600"/>
              </a:spcAft>
            </a:pPr>
            <a:fld id="{D57F1E4F-1CFF-5643-939E-02111984F565}" type="slidenum">
              <a:rPr lang="en-US" b="0" i="0" kern="1200">
                <a:solidFill>
                  <a:srgbClr val="FFFFFF"/>
                </a:solidFill>
                <a:latin typeface="+mn-lt"/>
                <a:ea typeface="+mn-ea"/>
                <a:cs typeface="+mn-cs"/>
              </a:rPr>
              <a:pPr defTabSz="457200">
                <a:spcAft>
                  <a:spcPts val="600"/>
                </a:spcAft>
              </a:pPr>
              <a:t>3</a:t>
            </a:fld>
            <a:endParaRPr lang="en-US" b="0" i="0" kern="1200">
              <a:solidFill>
                <a:srgbClr val="FFFFFF"/>
              </a:solidFill>
              <a:latin typeface="+mn-lt"/>
              <a:ea typeface="+mn-ea"/>
              <a:cs typeface="+mn-cs"/>
            </a:endParaRPr>
          </a:p>
        </p:txBody>
      </p:sp>
      <p:cxnSp>
        <p:nvCxnSpPr>
          <p:cNvPr id="24" name="Straight Connector 23">
            <a:extLst>
              <a:ext uri="{FF2B5EF4-FFF2-40B4-BE49-F238E27FC236}">
                <a16:creationId xmlns:a16="http://schemas.microsoft.com/office/drawing/2014/main" id="{64D4DC37-BE9D-05C4-55F9-EAE0770A4BD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56687" y="1930986"/>
            <a:ext cx="0" cy="3200400"/>
          </a:xfrm>
          <a:prstGeom prst="line">
            <a:avLst/>
          </a:prstGeom>
          <a:ln w="15875" cap="sq">
            <a:solidFill>
              <a:schemeClr val="tx2">
                <a:alpha val="7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47120F0-7DEB-A001-AC08-A66A5007A63E}"/>
              </a:ext>
            </a:extLst>
          </p:cNvPr>
          <p:cNvSpPr>
            <a:spLocks noGrp="1"/>
          </p:cNvSpPr>
          <p:nvPr>
            <p:ph type="title"/>
          </p:nvPr>
        </p:nvSpPr>
        <p:spPr>
          <a:xfrm>
            <a:off x="4654295" y="1266958"/>
            <a:ext cx="6808362" cy="4528457"/>
          </a:xfrm>
        </p:spPr>
        <p:txBody>
          <a:bodyPr vert="horz" lIns="91440" tIns="45720" rIns="91440" bIns="45720" rtlCol="0" anchor="ctr">
            <a:normAutofit/>
          </a:bodyPr>
          <a:lstStyle/>
          <a:p>
            <a:r>
              <a:rPr lang="en-US" sz="7200"/>
              <a:t>Overview</a:t>
            </a:r>
            <a:endParaRPr lang="en-US">
              <a:ea typeface="+mj-ea"/>
              <a:cs typeface="+mj-cs"/>
            </a:endParaRPr>
          </a:p>
        </p:txBody>
      </p:sp>
    </p:spTree>
    <p:extLst>
      <p:ext uri="{BB962C8B-B14F-4D97-AF65-F5344CB8AC3E}">
        <p14:creationId xmlns:p14="http://schemas.microsoft.com/office/powerpoint/2010/main" val="53866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FF8E4-F737-DC23-14DA-F573EA337FB0}"/>
              </a:ext>
            </a:extLst>
          </p:cNvPr>
          <p:cNvSpPr>
            <a:spLocks noGrp="1"/>
          </p:cNvSpPr>
          <p:nvPr>
            <p:ph type="title"/>
          </p:nvPr>
        </p:nvSpPr>
        <p:spPr/>
        <p:txBody>
          <a:bodyPr/>
          <a:lstStyle/>
          <a:p>
            <a:r>
              <a:rPr lang="en-US"/>
              <a:t>Sponsor</a:t>
            </a:r>
          </a:p>
        </p:txBody>
      </p:sp>
      <p:sp>
        <p:nvSpPr>
          <p:cNvPr id="3" name="Content Placeholder 2">
            <a:extLst>
              <a:ext uri="{FF2B5EF4-FFF2-40B4-BE49-F238E27FC236}">
                <a16:creationId xmlns:a16="http://schemas.microsoft.com/office/drawing/2014/main" id="{27C2114E-B9B5-E2EF-F5F9-B76C16C240D3}"/>
              </a:ext>
            </a:extLst>
          </p:cNvPr>
          <p:cNvSpPr>
            <a:spLocks noGrp="1"/>
          </p:cNvSpPr>
          <p:nvPr>
            <p:ph idx="1"/>
          </p:nvPr>
        </p:nvSpPr>
        <p:spPr/>
        <p:txBody>
          <a:bodyPr vert="horz" lIns="91440" tIns="45720" rIns="91440" bIns="45720" rtlCol="0" anchor="t">
            <a:normAutofit/>
          </a:bodyPr>
          <a:lstStyle/>
          <a:p>
            <a:r>
              <a:rPr lang="en-US"/>
              <a:t>AIBI Solutions</a:t>
            </a:r>
          </a:p>
          <a:p>
            <a:pPr lvl="1"/>
            <a:r>
              <a:rPr lang="en-US"/>
              <a:t>Spin-off of KMD Technology Solutions</a:t>
            </a:r>
          </a:p>
          <a:p>
            <a:r>
              <a:rPr lang="en-US"/>
              <a:t>KMD has been developing since 2003</a:t>
            </a:r>
          </a:p>
          <a:p>
            <a:pPr lvl="1"/>
            <a:r>
              <a:rPr lang="en-US"/>
              <a:t>KMD noticed problems that AI could help with</a:t>
            </a:r>
          </a:p>
          <a:p>
            <a:r>
              <a:rPr lang="en-US"/>
              <a:t>AIBI: Created to offer unique AI solutions</a:t>
            </a:r>
          </a:p>
        </p:txBody>
      </p:sp>
      <p:sp>
        <p:nvSpPr>
          <p:cNvPr id="4" name="Slide Number Placeholder 3">
            <a:extLst>
              <a:ext uri="{FF2B5EF4-FFF2-40B4-BE49-F238E27FC236}">
                <a16:creationId xmlns:a16="http://schemas.microsoft.com/office/drawing/2014/main" id="{6A75D622-9620-4E92-4AF0-9E3375B5A478}"/>
              </a:ext>
            </a:extLst>
          </p:cNvPr>
          <p:cNvSpPr>
            <a:spLocks noGrp="1"/>
          </p:cNvSpPr>
          <p:nvPr>
            <p:ph type="sldNum" sz="quarter" idx="12"/>
          </p:nvPr>
        </p:nvSpPr>
        <p:spPr/>
        <p:txBody>
          <a:bodyPr/>
          <a:lstStyle/>
          <a:p>
            <a:fld id="{D57F1E4F-1CFF-5643-939E-02111984F565}" type="slidenum">
              <a:rPr lang="en-US" smtClean="0"/>
              <a:t>4</a:t>
            </a:fld>
            <a:endParaRPr lang="en-US"/>
          </a:p>
        </p:txBody>
      </p:sp>
    </p:spTree>
    <p:extLst>
      <p:ext uri="{BB962C8B-B14F-4D97-AF65-F5344CB8AC3E}">
        <p14:creationId xmlns:p14="http://schemas.microsoft.com/office/powerpoint/2010/main" val="3216472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D90B0-12D8-C29E-0147-B3B7ADE858D5}"/>
              </a:ext>
            </a:extLst>
          </p:cNvPr>
          <p:cNvSpPr>
            <a:spLocks noGrp="1"/>
          </p:cNvSpPr>
          <p:nvPr>
            <p:ph type="title"/>
          </p:nvPr>
        </p:nvSpPr>
        <p:spPr/>
        <p:txBody>
          <a:bodyPr/>
          <a:lstStyle/>
          <a:p>
            <a:r>
              <a:rPr lang="en-US"/>
              <a:t>Needs</a:t>
            </a:r>
          </a:p>
        </p:txBody>
      </p:sp>
      <p:sp>
        <p:nvSpPr>
          <p:cNvPr id="3" name="Content Placeholder 2">
            <a:extLst>
              <a:ext uri="{FF2B5EF4-FFF2-40B4-BE49-F238E27FC236}">
                <a16:creationId xmlns:a16="http://schemas.microsoft.com/office/drawing/2014/main" id="{326BB910-68E5-1A1D-11CA-4FE29E2205CF}"/>
              </a:ext>
            </a:extLst>
          </p:cNvPr>
          <p:cNvSpPr>
            <a:spLocks noGrp="1"/>
          </p:cNvSpPr>
          <p:nvPr>
            <p:ph idx="1"/>
          </p:nvPr>
        </p:nvSpPr>
        <p:spPr/>
        <p:txBody>
          <a:bodyPr/>
          <a:lstStyle/>
          <a:p>
            <a:r>
              <a:rPr lang="en-US"/>
              <a:t>Keep production accurate, traceable and fully accountable</a:t>
            </a:r>
          </a:p>
          <a:p>
            <a:r>
              <a:rPr lang="en-US"/>
              <a:t>Manual tracking often leads to mistakes</a:t>
            </a:r>
          </a:p>
          <a:p>
            <a:r>
              <a:rPr lang="en-US"/>
              <a:t>Strict data protection rules makes it difficult to use cloud</a:t>
            </a:r>
          </a:p>
          <a:p>
            <a:r>
              <a:rPr lang="en-US"/>
              <a:t>Companies need solutions that run on-premises</a:t>
            </a:r>
          </a:p>
        </p:txBody>
      </p:sp>
      <p:sp>
        <p:nvSpPr>
          <p:cNvPr id="4" name="Slide Number Placeholder 3">
            <a:extLst>
              <a:ext uri="{FF2B5EF4-FFF2-40B4-BE49-F238E27FC236}">
                <a16:creationId xmlns:a16="http://schemas.microsoft.com/office/drawing/2014/main" id="{409F2B06-47F2-0E22-79AF-203A5C805C14}"/>
              </a:ext>
            </a:extLst>
          </p:cNvPr>
          <p:cNvSpPr>
            <a:spLocks noGrp="1"/>
          </p:cNvSpPr>
          <p:nvPr>
            <p:ph type="sldNum" sz="quarter" idx="12"/>
          </p:nvPr>
        </p:nvSpPr>
        <p:spPr/>
        <p:txBody>
          <a:bodyPr/>
          <a:lstStyle/>
          <a:p>
            <a:fld id="{D57F1E4F-1CFF-5643-939E-02111984F565}" type="slidenum">
              <a:rPr lang="en-US" smtClean="0"/>
              <a:t>5</a:t>
            </a:fld>
            <a:endParaRPr lang="en-US"/>
          </a:p>
        </p:txBody>
      </p:sp>
    </p:spTree>
    <p:extLst>
      <p:ext uri="{BB962C8B-B14F-4D97-AF65-F5344CB8AC3E}">
        <p14:creationId xmlns:p14="http://schemas.microsoft.com/office/powerpoint/2010/main" val="719126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BEB1F-64C2-31E2-C5AC-AB0A57E71ADC}"/>
              </a:ext>
            </a:extLst>
          </p:cNvPr>
          <p:cNvSpPr>
            <a:spLocks noGrp="1"/>
          </p:cNvSpPr>
          <p:nvPr>
            <p:ph type="title"/>
          </p:nvPr>
        </p:nvSpPr>
        <p:spPr/>
        <p:txBody>
          <a:bodyPr/>
          <a:lstStyle/>
          <a:p>
            <a:r>
              <a:rPr lang="en-US"/>
              <a:t>Objectives</a:t>
            </a:r>
          </a:p>
        </p:txBody>
      </p:sp>
      <p:sp>
        <p:nvSpPr>
          <p:cNvPr id="3" name="Content Placeholder 2">
            <a:extLst>
              <a:ext uri="{FF2B5EF4-FFF2-40B4-BE49-F238E27FC236}">
                <a16:creationId xmlns:a16="http://schemas.microsoft.com/office/drawing/2014/main" id="{D7FDDD0C-D4F7-101C-A2C4-4E212F96865D}"/>
              </a:ext>
            </a:extLst>
          </p:cNvPr>
          <p:cNvSpPr>
            <a:spLocks noGrp="1"/>
          </p:cNvSpPr>
          <p:nvPr>
            <p:ph idx="1"/>
          </p:nvPr>
        </p:nvSpPr>
        <p:spPr/>
        <p:txBody>
          <a:bodyPr/>
          <a:lstStyle/>
          <a:p>
            <a:r>
              <a:rPr lang="en-US"/>
              <a:t>Develop a computer vision system for QR detection and process verification</a:t>
            </a:r>
          </a:p>
          <a:p>
            <a:pPr lvl="1"/>
            <a:r>
              <a:rPr lang="en-US"/>
              <a:t>Operate on local systems</a:t>
            </a:r>
          </a:p>
          <a:p>
            <a:pPr lvl="1"/>
            <a:r>
              <a:rPr lang="en-US"/>
              <a:t>Enhance workflow efficiency</a:t>
            </a:r>
          </a:p>
          <a:p>
            <a:r>
              <a:rPr lang="en-US"/>
              <a:t>QR code detection</a:t>
            </a:r>
          </a:p>
          <a:p>
            <a:pPr lvl="1"/>
            <a:r>
              <a:rPr lang="en-US"/>
              <a:t>Automatically detect and extract data</a:t>
            </a:r>
          </a:p>
          <a:p>
            <a:pPr lvl="1"/>
            <a:r>
              <a:rPr lang="en-US"/>
              <a:t>Removes the need for manual scanning</a:t>
            </a:r>
          </a:p>
          <a:p>
            <a:r>
              <a:rPr lang="en-US"/>
              <a:t>Process Verification</a:t>
            </a:r>
          </a:p>
          <a:p>
            <a:pPr lvl="1"/>
            <a:r>
              <a:rPr lang="en-US"/>
              <a:t>Ensure each step is completed in the correct order</a:t>
            </a:r>
          </a:p>
          <a:p>
            <a:pPr lvl="1"/>
            <a:r>
              <a:rPr lang="en-US"/>
              <a:t>Alert supervisors about deviations</a:t>
            </a:r>
          </a:p>
        </p:txBody>
      </p:sp>
      <p:sp>
        <p:nvSpPr>
          <p:cNvPr id="4" name="Slide Number Placeholder 3">
            <a:extLst>
              <a:ext uri="{FF2B5EF4-FFF2-40B4-BE49-F238E27FC236}">
                <a16:creationId xmlns:a16="http://schemas.microsoft.com/office/drawing/2014/main" id="{27460CEB-ADCF-667A-93EE-9D8CA4A8403A}"/>
              </a:ext>
            </a:extLst>
          </p:cNvPr>
          <p:cNvSpPr>
            <a:spLocks noGrp="1"/>
          </p:cNvSpPr>
          <p:nvPr>
            <p:ph type="sldNum" sz="quarter" idx="12"/>
          </p:nvPr>
        </p:nvSpPr>
        <p:spPr/>
        <p:txBody>
          <a:bodyPr/>
          <a:lstStyle/>
          <a:p>
            <a:fld id="{D57F1E4F-1CFF-5643-939E-02111984F565}" type="slidenum">
              <a:rPr lang="en-US" smtClean="0"/>
              <a:t>6</a:t>
            </a:fld>
            <a:endParaRPr lang="en-US"/>
          </a:p>
        </p:txBody>
      </p:sp>
    </p:spTree>
    <p:extLst>
      <p:ext uri="{BB962C8B-B14F-4D97-AF65-F5344CB8AC3E}">
        <p14:creationId xmlns:p14="http://schemas.microsoft.com/office/powerpoint/2010/main" val="26415277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558E5-426C-ACBC-9D7F-487F5B4BCF78}"/>
              </a:ext>
            </a:extLst>
          </p:cNvPr>
          <p:cNvSpPr>
            <a:spLocks noGrp="1"/>
          </p:cNvSpPr>
          <p:nvPr>
            <p:ph type="title"/>
          </p:nvPr>
        </p:nvSpPr>
        <p:spPr/>
        <p:txBody>
          <a:bodyPr/>
          <a:lstStyle/>
          <a:p>
            <a:r>
              <a:rPr lang="en-US"/>
              <a:t>Broader Impact</a:t>
            </a:r>
          </a:p>
        </p:txBody>
      </p:sp>
      <p:sp>
        <p:nvSpPr>
          <p:cNvPr id="3" name="Content Placeholder 2">
            <a:extLst>
              <a:ext uri="{FF2B5EF4-FFF2-40B4-BE49-F238E27FC236}">
                <a16:creationId xmlns:a16="http://schemas.microsoft.com/office/drawing/2014/main" id="{87F20389-D0AE-FFA9-E2A3-93804BED60C2}"/>
              </a:ext>
            </a:extLst>
          </p:cNvPr>
          <p:cNvSpPr>
            <a:spLocks noGrp="1"/>
          </p:cNvSpPr>
          <p:nvPr>
            <p:ph idx="1"/>
          </p:nvPr>
        </p:nvSpPr>
        <p:spPr/>
        <p:txBody>
          <a:bodyPr vert="horz" lIns="91440" tIns="45720" rIns="91440" bIns="45720" rtlCol="0" anchor="t">
            <a:normAutofit/>
          </a:bodyPr>
          <a:lstStyle/>
          <a:p>
            <a:pPr algn="l"/>
            <a:r>
              <a:rPr sz="2000"/>
              <a:t>Individuals</a:t>
            </a:r>
          </a:p>
          <a:p>
            <a:pPr lvl="1" algn="l"/>
            <a:r>
              <a:rPr sz="1800"/>
              <a:t>Real-time feedback reduces operator errors and improves safety</a:t>
            </a:r>
          </a:p>
          <a:p>
            <a:pPr algn="l"/>
            <a:r>
              <a:rPr sz="2000"/>
              <a:t/>
            </a:r>
          </a:p>
          <a:p>
            <a:pPr algn="l"/>
            <a:r>
              <a:rPr sz="2000"/>
              <a:t>Organizations</a:t>
            </a:r>
          </a:p>
          <a:p>
            <a:pPr lvl="1" algn="l"/>
            <a:r>
              <a:rPr sz="1800"/>
              <a:t>Automated audit trails and compliance documentation for manufacturers</a:t>
            </a:r>
          </a:p>
          <a:p>
            <a:pPr algn="l"/>
            <a:r>
              <a:rPr sz="2000"/>
              <a:t/>
            </a:r>
          </a:p>
          <a:p>
            <a:pPr algn="l"/>
            <a:r>
              <a:rPr sz="2000"/>
              <a:t>Society</a:t>
            </a:r>
          </a:p>
          <a:p>
            <a:pPr lvl="1" algn="l"/>
            <a:r>
              <a:rPr sz="1800"/>
              <a:t>Proves AI/CV can be deployed on-premises in regulated industries</a:t>
            </a:r>
          </a:p>
          <a:p>
            <a:pPr lvl="1" algn="l"/>
            <a:r>
              <a:rPr sz="1800"/>
              <a:t>All data stays local — full privacy and compliance</a:t>
            </a:r>
          </a:p>
        </p:txBody>
      </p:sp>
      <p:sp>
        <p:nvSpPr>
          <p:cNvPr id="4" name="Slide Number Placeholder 3">
            <a:extLst>
              <a:ext uri="{FF2B5EF4-FFF2-40B4-BE49-F238E27FC236}">
                <a16:creationId xmlns:a16="http://schemas.microsoft.com/office/drawing/2014/main" id="{E8229F25-0C26-EAFB-59C1-08D8DEF99091}"/>
              </a:ext>
            </a:extLst>
          </p:cNvPr>
          <p:cNvSpPr>
            <a:spLocks noGrp="1"/>
          </p:cNvSpPr>
          <p:nvPr>
            <p:ph type="sldNum" sz="quarter" idx="12"/>
          </p:nvPr>
        </p:nvSpPr>
        <p:spPr/>
        <p:txBody>
          <a:bodyPr/>
          <a:lstStyle/>
          <a:p>
            <a:fld id="{D57F1E4F-1CFF-5643-939E-02111984F565}" type="slidenum">
              <a:rPr lang="en-US" dirty="0"/>
              <a:t>7</a:t>
            </a:fld>
            <a:endParaRPr lang="en-US"/>
          </a:p>
        </p:txBody>
      </p:sp>
    </p:spTree>
    <p:extLst>
      <p:ext uri="{BB962C8B-B14F-4D97-AF65-F5344CB8AC3E}">
        <p14:creationId xmlns:p14="http://schemas.microsoft.com/office/powerpoint/2010/main" val="16843658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81FFA9-9A7E-F0BC-5A1E-F2B3B6990BF9}"/>
              </a:ext>
            </a:extLst>
          </p:cNvPr>
          <p:cNvSpPr>
            <a:spLocks noGrp="1"/>
          </p:cNvSpPr>
          <p:nvPr>
            <p:ph type="title"/>
          </p:nvPr>
        </p:nvSpPr>
        <p:spPr>
          <a:xfrm>
            <a:off x="648931" y="629266"/>
            <a:ext cx="4166510" cy="1622321"/>
          </a:xfrm>
        </p:spPr>
        <p:txBody>
          <a:bodyPr>
            <a:normAutofit/>
          </a:bodyPr>
          <a:lstStyle/>
          <a:p>
            <a:r>
              <a:rPr lang="en-US">
                <a:solidFill>
                  <a:srgbClr val="EBEBEB"/>
                </a:solidFill>
              </a:rPr>
              <a:t>Where Are We?</a:t>
            </a:r>
          </a:p>
        </p:txBody>
      </p:sp>
      <p:sp>
        <p:nvSpPr>
          <p:cNvPr id="12"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4" name="Freeform: Shape 13">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en-US"/>
          </a:p>
        </p:txBody>
      </p:sp>
      <p:pic>
        <p:nvPicPr>
          <p:cNvPr id="5" name="Picture 4" descr="A diagram of a project&#10;&#10;AI-generated content may be incorrect.">
            <a:extLst>
              <a:ext uri="{FF2B5EF4-FFF2-40B4-BE49-F238E27FC236}">
                <a16:creationId xmlns:a16="http://schemas.microsoft.com/office/drawing/2014/main" id="{1FBB078B-AFDD-1DBC-7F50-4594DA70116E}"/>
              </a:ext>
            </a:extLst>
          </p:cNvPr>
          <p:cNvPicPr>
            <a:picLocks noChangeAspect="1"/>
          </p:cNvPicPr>
          <p:nvPr/>
        </p:nvPicPr>
        <p:blipFill>
          <a:blip r:embed="rId3"/>
          <a:stretch>
            <a:fillRect/>
          </a:stretch>
        </p:blipFill>
        <p:spPr>
          <a:xfrm>
            <a:off x="6093992" y="1766783"/>
            <a:ext cx="5449889" cy="3324431"/>
          </a:xfrm>
          <a:prstGeom prst="rect">
            <a:avLst/>
          </a:prstGeom>
          <a:effectLst/>
        </p:spPr>
      </p:pic>
      <p:sp>
        <p:nvSpPr>
          <p:cNvPr id="16" name="Rectangle 15">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544AF258-72C7-B237-4031-15132B9DFA87}"/>
              </a:ext>
            </a:extLst>
          </p:cNvPr>
          <p:cNvSpPr>
            <a:spLocks noGrp="1"/>
          </p:cNvSpPr>
          <p:nvPr>
            <p:ph type="sldNum" sz="quarter" idx="12"/>
          </p:nvPr>
        </p:nvSpPr>
        <p:spPr>
          <a:xfrm>
            <a:off x="10352540" y="295729"/>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8</a:t>
            </a:fld>
            <a:endParaRPr lang="en-US">
              <a:solidFill>
                <a:srgbClr val="FFFFFF"/>
              </a:solidFill>
            </a:endParaRPr>
          </a:p>
        </p:txBody>
      </p:sp>
      <p:sp>
        <p:nvSpPr>
          <p:cNvPr id="3" name="Content Placeholder 2">
            <a:extLst>
              <a:ext uri="{FF2B5EF4-FFF2-40B4-BE49-F238E27FC236}">
                <a16:creationId xmlns:a16="http://schemas.microsoft.com/office/drawing/2014/main" id="{844E6A4D-4DFA-4C32-12F4-9A07DED4B447}"/>
              </a:ext>
            </a:extLst>
          </p:cNvPr>
          <p:cNvSpPr>
            <a:spLocks noGrp="1"/>
          </p:cNvSpPr>
          <p:nvPr>
            <p:ph idx="1"/>
          </p:nvPr>
        </p:nvSpPr>
        <p:spPr>
          <a:xfrm>
            <a:off x="648931" y="2438400"/>
            <a:ext cx="4166509" cy="3785419"/>
          </a:xfrm>
        </p:spPr>
        <p:txBody>
          <a:bodyPr vert="horz" lIns="91440" tIns="45720" rIns="91440" bIns="45720" rtlCol="0" anchor="t">
            <a:normAutofit/>
          </a:bodyPr>
          <a:lstStyle/>
          <a:p>
            <a:pPr algn="l">
              <a:buClr>
                <a:srgbClr val="8AD0D6"/>
              </a:buClr>
            </a:pPr>
            <a:r>
              <a:rPr sz="2000"/>
              <a:t>Completed Sprint 4 — both subsystems functional</a:t>
            </a:r>
          </a:p>
          <a:p>
            <a:pPr algn="l"/>
            <a:r>
              <a:rPr sz="2000"/>
              <a:t>Migrated step validation: Streamlit → PySide6 desktop app</a:t>
            </a:r>
          </a:p>
          <a:p>
            <a:pPr algn="l"/>
            <a:r>
              <a:rPr sz="2000"/>
              <a:t>21 automated tests passing (11 new this sprint)</a:t>
            </a:r>
          </a:p>
          <a:p>
            <a:pPr algn="l"/>
            <a:r>
              <a:rPr sz="2000"/>
              <a:t>54 test design + 54 execution cards</a:t>
            </a:r>
          </a:p>
          <a:p>
            <a:pPr algn="l"/>
            <a:r>
              <a:rPr sz="2000"/>
              <a:t>2D data matrix support in progress</a:t>
            </a:r>
          </a:p>
        </p:txBody>
      </p:sp>
    </p:spTree>
    <p:extLst>
      <p:ext uri="{BB962C8B-B14F-4D97-AF65-F5344CB8AC3E}">
        <p14:creationId xmlns:p14="http://schemas.microsoft.com/office/powerpoint/2010/main" val="3679178099"/>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8B72-D4CE-24DA-B4B3-54143C7830BB}"/>
              </a:ext>
            </a:extLst>
          </p:cNvPr>
          <p:cNvSpPr>
            <a:spLocks noGrp="1"/>
          </p:cNvSpPr>
          <p:nvPr>
            <p:ph type="title"/>
          </p:nvPr>
        </p:nvSpPr>
        <p:spPr/>
        <p:txBody>
          <a:bodyPr/>
          <a:lstStyle/>
          <a:p>
            <a:r>
              <a:rPr lang="en-US"/>
              <a:t>Changes Since Presentation 3</a:t>
            </a:r>
          </a:p>
        </p:txBody>
      </p:sp>
      <p:sp>
        <p:nvSpPr>
          <p:cNvPr id="3" name="Content Placeholder 2">
            <a:extLst>
              <a:ext uri="{FF2B5EF4-FFF2-40B4-BE49-F238E27FC236}">
                <a16:creationId xmlns:a16="http://schemas.microsoft.com/office/drawing/2014/main" id="{2E04DC12-D26C-D5EA-4A41-63475DF4FEED}"/>
              </a:ext>
            </a:extLst>
          </p:cNvPr>
          <p:cNvSpPr>
            <a:spLocks noGrp="1"/>
          </p:cNvSpPr>
          <p:nvPr>
            <p:ph idx="1"/>
          </p:nvPr>
        </p:nvSpPr>
        <p:spPr/>
        <p:txBody>
          <a:bodyPr/>
          <a:lstStyle/>
          <a:p>
            <a:pPr algn="l"/>
            <a:r>
              <a:rPr sz="2000"/>
              <a:t>Step validation UI: Streamlit → PySide6 (native desktop)</a:t>
            </a:r>
          </a:p>
          <a:p>
            <a:pPr algn="l"/>
            <a:r>
              <a:rPr sz="2000"/>
              <a:t>Camera release + multi-video upload for training</a:t>
            </a:r>
          </a:p>
          <a:p>
            <a:pPr algn="l"/>
            <a:r>
              <a:rPr sz="2000"/>
              <a:t>Auto-start monitoring with progress bar</a:t>
            </a:r>
          </a:p>
          <a:p>
            <a:pPr algn="l"/>
            <a:r>
              <a:rPr sz="2000"/>
              <a:t>DINOv2 embedding visualization tool</a:t>
            </a:r>
          </a:p>
          <a:p>
            <a:pPr algn="l"/>
            <a:r>
              <a:rPr sz="2000"/>
              <a:t>11 new unit tests for AUTO test-case coverage</a:t>
            </a:r>
          </a:p>
          <a:p>
            <a:pPr algn="l"/>
            <a:r>
              <a:rPr sz="2000"/>
              <a:t>System + acceptance test cases added (8.2.4, 8.2.5)</a:t>
            </a:r>
          </a:p>
        </p:txBody>
      </p:sp>
      <p:sp>
        <p:nvSpPr>
          <p:cNvPr id="4" name="Slide Number Placeholder 3">
            <a:extLst>
              <a:ext uri="{FF2B5EF4-FFF2-40B4-BE49-F238E27FC236}">
                <a16:creationId xmlns:a16="http://schemas.microsoft.com/office/drawing/2014/main" id="{5B60574B-D5DD-116D-EAF6-D075E0298B64}"/>
              </a:ext>
            </a:extLst>
          </p:cNvPr>
          <p:cNvSpPr>
            <a:spLocks noGrp="1"/>
          </p:cNvSpPr>
          <p:nvPr>
            <p:ph type="sldNum" sz="quarter" idx="12"/>
          </p:nvPr>
        </p:nvSpPr>
        <p:spPr/>
        <p:txBody>
          <a:bodyPr/>
          <a:lstStyle/>
          <a:p>
            <a:fld id="{D57F1E4F-1CFF-5643-939E-02111984F565}" type="slidenum">
              <a:rPr lang="en-US" smtClean="0"/>
              <a:t>9</a:t>
            </a:fld>
            <a:endParaRPr lang="en-US"/>
          </a:p>
        </p:txBody>
      </p:sp>
    </p:spTree>
    <p:extLst>
      <p:ext uri="{BB962C8B-B14F-4D97-AF65-F5344CB8AC3E}">
        <p14:creationId xmlns:p14="http://schemas.microsoft.com/office/powerpoint/2010/main" val="14805971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BE776-7932-77B6-F3E4-83750E8307B0}"/>
              </a:ext>
            </a:extLst>
          </p:cNvPr>
          <p:cNvSpPr>
            <a:spLocks noGrp="1"/>
          </p:cNvSpPr>
          <p:nvPr>
            <p:ph type="title"/>
          </p:nvPr>
        </p:nvSpPr>
        <p:spPr/>
        <p:txBody>
          <a:bodyPr/>
          <a:lstStyle/>
          <a:p>
            <a:r>
              <a:rPr lang="en-US"/>
              <a:t>What's New in Sprint 4</a:t>
            </a:r>
          </a:p>
        </p:txBody>
      </p:sp>
      <p:sp>
        <p:nvSpPr>
          <p:cNvPr id="3" name="Content Placeholder 2">
            <a:extLst>
              <a:ext uri="{FF2B5EF4-FFF2-40B4-BE49-F238E27FC236}">
                <a16:creationId xmlns:a16="http://schemas.microsoft.com/office/drawing/2014/main" id="{50657587-FD6F-08A9-99CC-7868A3BED481}"/>
              </a:ext>
            </a:extLst>
          </p:cNvPr>
          <p:cNvSpPr>
            <a:spLocks noGrp="1"/>
          </p:cNvSpPr>
          <p:nvPr>
            <p:ph idx="1"/>
          </p:nvPr>
        </p:nvSpPr>
        <p:spPr/>
        <p:txBody>
          <a:bodyPr/>
          <a:lstStyle/>
          <a:p>
            <a:pPr algn="l"/>
            <a:r>
              <a:rPr sz="2000"/>
              <a:t>QR Scanning</a:t>
            </a:r>
          </a:p>
          <a:p>
            <a:pPr lvl="1" algn="l"/>
            <a:r>
              <a:rPr sz="1800"/>
              <a:t>2D data matrix support, directional scanning improvements</a:t>
            </a:r>
          </a:p>
          <a:p>
            <a:pPr algn="l"/>
            <a:r>
              <a:rPr sz="2000"/>
              <a:t>Step Verification</a:t>
            </a:r>
          </a:p>
          <a:p>
            <a:pPr lvl="1" algn="l"/>
            <a:r>
              <a:rPr sz="1800"/>
              <a:t>End-to-end: training, monitoring, violation logging</a:t>
            </a:r>
          </a:p>
          <a:p>
            <a:pPr lvl="1" algn="l"/>
            <a:r>
              <a:rPr sz="1800"/>
              <a:t>Native PySide6 app with threaded camera workers</a:t>
            </a:r>
          </a:p>
          <a:p>
            <a:pPr algn="l"/>
            <a:r>
              <a:rPr sz="2000"/>
              <a:t>Training Workflow</a:t>
            </a:r>
          </a:p>
          <a:p>
            <a:pPr lvl="1" algn="l"/>
            <a:r>
              <a:rPr sz="1800"/>
              <a:t>3-phase: Record → Review → Augment</a:t>
            </a:r>
          </a:p>
          <a:p>
            <a:pPr algn="l"/>
            <a:r>
              <a:rPr sz="2000"/>
              <a:t>Testing</a:t>
            </a:r>
          </a:p>
          <a:p>
            <a:pPr lvl="1" algn="l"/>
            <a:r>
              <a:rPr sz="1800"/>
              <a:t>21 automated tests, all AUTO IDs implemented</a:t>
            </a:r>
          </a:p>
        </p:txBody>
      </p:sp>
      <p:sp>
        <p:nvSpPr>
          <p:cNvPr id="4" name="Slide Number Placeholder 3">
            <a:extLst>
              <a:ext uri="{FF2B5EF4-FFF2-40B4-BE49-F238E27FC236}">
                <a16:creationId xmlns:a16="http://schemas.microsoft.com/office/drawing/2014/main" id="{F0B09631-F597-85E6-8683-E0488F5B697F}"/>
              </a:ext>
            </a:extLst>
          </p:cNvPr>
          <p:cNvSpPr>
            <a:spLocks noGrp="1"/>
          </p:cNvSpPr>
          <p:nvPr>
            <p:ph type="sldNum" sz="quarter" idx="12"/>
          </p:nvPr>
        </p:nvSpPr>
        <p:spPr/>
        <p:txBody>
          <a:bodyPr/>
          <a:lstStyle/>
          <a:p>
            <a:fld id="{D57F1E4F-1CFF-5643-939E-02111984F565}" type="slidenum">
              <a:rPr lang="en-US" smtClean="0"/>
              <a:t>10</a:t>
            </a:fld>
            <a:endParaRPr lang="en-US"/>
          </a:p>
        </p:txBody>
      </p:sp>
    </p:spTree>
    <p:extLst>
      <p:ext uri="{BB962C8B-B14F-4D97-AF65-F5344CB8AC3E}">
        <p14:creationId xmlns:p14="http://schemas.microsoft.com/office/powerpoint/2010/main" val="3696225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F2383-4D42-1F68-29FE-DE778A0981AC}"/>
              </a:ext>
            </a:extLst>
          </p:cNvPr>
          <p:cNvSpPr>
            <a:spLocks noGrp="1"/>
          </p:cNvSpPr>
          <p:nvPr>
            <p:ph type="title"/>
          </p:nvPr>
        </p:nvSpPr>
        <p:spPr/>
        <p:txBody>
          <a:bodyPr/>
          <a:lstStyle/>
          <a:p>
            <a:r>
              <a:rPr lang="en-US"/>
              <a:t>Requirements Review</a:t>
            </a:r>
          </a:p>
        </p:txBody>
      </p:sp>
      <p:pic>
        <p:nvPicPr>
          <p:cNvPr id="5" name="Content Placeholder 4">
            <a:extLst>
              <a:ext uri="{FF2B5EF4-FFF2-40B4-BE49-F238E27FC236}">
                <a16:creationId xmlns:a16="http://schemas.microsoft.com/office/drawing/2014/main" id="{35AE3C43-78BE-B5F6-FAB9-585124112B18}"/>
              </a:ext>
            </a:extLst>
          </p:cNvPr>
          <p:cNvPicPr>
            <a:picLocks noGrp="1" noChangeAspect="1"/>
          </p:cNvPicPr>
          <p:nvPr>
            <p:ph idx="1"/>
          </p:nvPr>
        </p:nvPicPr>
        <p:blipFill>
          <a:blip r:embed="rId3"/>
          <a:stretch>
            <a:fillRect/>
          </a:stretch>
        </p:blipFill>
        <p:spPr>
          <a:xfrm>
            <a:off x="2323328" y="1394086"/>
            <a:ext cx="6768206" cy="4921770"/>
          </a:xfrm>
          <a:prstGeom prst="rect">
            <a:avLst/>
          </a:prstGeom>
        </p:spPr>
      </p:pic>
      <p:sp>
        <p:nvSpPr>
          <p:cNvPr id="4" name="Slide Number Placeholder 3">
            <a:extLst>
              <a:ext uri="{FF2B5EF4-FFF2-40B4-BE49-F238E27FC236}">
                <a16:creationId xmlns:a16="http://schemas.microsoft.com/office/drawing/2014/main" id="{561C873C-FEAD-31F7-833E-02F79BEA7C54}"/>
              </a:ext>
            </a:extLst>
          </p:cNvPr>
          <p:cNvSpPr>
            <a:spLocks noGrp="1"/>
          </p:cNvSpPr>
          <p:nvPr>
            <p:ph type="sldNum" sz="quarter" idx="12"/>
          </p:nvPr>
        </p:nvSpPr>
        <p:spPr/>
        <p:txBody>
          <a:bodyPr/>
          <a:lstStyle/>
          <a:p>
            <a:fld id="{D57F1E4F-1CFF-5643-939E-02111984F565}" type="slidenum">
              <a:rPr lang="en-US" smtClean="0"/>
              <a:t>11</a:t>
            </a:fld>
            <a:endParaRPr lang="en-US"/>
          </a:p>
        </p:txBody>
      </p:sp>
    </p:spTree>
    <p:extLst>
      <p:ext uri="{BB962C8B-B14F-4D97-AF65-F5344CB8AC3E}">
        <p14:creationId xmlns:p14="http://schemas.microsoft.com/office/powerpoint/2010/main" val="2275028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871E3-A58B-E525-1090-7E305F8427EE}"/>
              </a:ext>
            </a:extLst>
          </p:cNvPr>
          <p:cNvSpPr>
            <a:spLocks noGrp="1"/>
          </p:cNvSpPr>
          <p:nvPr>
            <p:ph type="title"/>
          </p:nvPr>
        </p:nvSpPr>
        <p:spPr/>
        <p:txBody>
          <a:bodyPr/>
          <a:lstStyle/>
          <a:p>
            <a:r>
              <a:rPr lang="en-US"/>
              <a:t>Requirements Changes in v4.0</a:t>
            </a:r>
          </a:p>
        </p:txBody>
      </p:sp>
      <p:sp>
        <p:nvSpPr>
          <p:cNvPr id="4" name="Slide Number Placeholder 3">
            <a:extLst>
              <a:ext uri="{FF2B5EF4-FFF2-40B4-BE49-F238E27FC236}">
                <a16:creationId xmlns:a16="http://schemas.microsoft.com/office/drawing/2014/main" id="{E104CEBC-F190-9EEA-2EF3-6AA586B4E098}"/>
              </a:ext>
            </a:extLst>
          </p:cNvPr>
          <p:cNvSpPr>
            <a:spLocks noGrp="1"/>
          </p:cNvSpPr>
          <p:nvPr>
            <p:ph type="sldNum" sz="quarter" idx="12"/>
          </p:nvPr>
        </p:nvSpPr>
        <p:spPr/>
        <p:txBody>
          <a:bodyPr/>
          <a:lstStyle/>
          <a:p>
            <a:fld id="{D57F1E4F-1CFF-5643-939E-02111984F565}" type="slidenum">
              <a:rPr lang="en-US" smtClean="0"/>
              <a:t>12</a:t>
            </a:fld>
            <a:endParaRPr lang="en-US"/>
          </a:p>
        </p:txBody>
      </p:sp>
      <p:pic>
        <p:nvPicPr>
          <p:cNvPr id="13" name="Picture 12">
            <a:extLst>
              <a:ext uri="{FF2B5EF4-FFF2-40B4-BE49-F238E27FC236}">
                <a16:creationId xmlns:a16="http://schemas.microsoft.com/office/drawing/2014/main" id="{438667FC-010B-358F-86B2-C31BD867970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55750" y="2426520"/>
            <a:ext cx="4484825" cy="2578233"/>
          </a:xfrm>
          <a:prstGeom prst="rect">
            <a:avLst/>
          </a:prstGeom>
        </p:spPr>
      </p:pic>
      <p:pic>
        <p:nvPicPr>
          <p:cNvPr id="15" name="Picture 14">
            <a:extLst>
              <a:ext uri="{FF2B5EF4-FFF2-40B4-BE49-F238E27FC236}">
                <a16:creationId xmlns:a16="http://schemas.microsoft.com/office/drawing/2014/main" id="{2AF51114-805F-0B70-8259-5447D4E43B7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756644" y="1357779"/>
            <a:ext cx="4993201" cy="2768742"/>
          </a:xfrm>
          <a:prstGeom prst="rect">
            <a:avLst/>
          </a:prstGeom>
        </p:spPr>
      </p:pic>
      <p:pic>
        <p:nvPicPr>
          <p:cNvPr id="17" name="Picture 16">
            <a:extLst>
              <a:ext uri="{FF2B5EF4-FFF2-40B4-BE49-F238E27FC236}">
                <a16:creationId xmlns:a16="http://schemas.microsoft.com/office/drawing/2014/main" id="{AAEE3381-1386-AC78-825A-E636B1CB0620}"/>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756643" y="4192054"/>
            <a:ext cx="4993201" cy="2616334"/>
          </a:xfrm>
          <a:prstGeom prst="rect">
            <a:avLst/>
          </a:prstGeom>
        </p:spPr>
      </p:pic>
    </p:spTree>
    <p:extLst>
      <p:ext uri="{BB962C8B-B14F-4D97-AF65-F5344CB8AC3E}">
        <p14:creationId xmlns:p14="http://schemas.microsoft.com/office/powerpoint/2010/main" val="24412159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A15FB25B-08B7-AB50-9590-48916C84207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1B28F63-CF00-448F-B141-FE33C33B18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6" name="Picture 5">
            <a:extLst>
              <a:ext uri="{FF2B5EF4-FFF2-40B4-BE49-F238E27FC236}">
                <a16:creationId xmlns:a16="http://schemas.microsoft.com/office/drawing/2014/main" id="{2AE609E2-8522-44E4-9077-980E5BCF3E1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7" name="Oval 6">
            <a:extLst>
              <a:ext uri="{FF2B5EF4-FFF2-40B4-BE49-F238E27FC236}">
                <a16:creationId xmlns:a16="http://schemas.microsoft.com/office/drawing/2014/main" id="{4FA533C5-33E3-4611-AF9F-72811D8B26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a:extLst>
              <a:ext uri="{FF2B5EF4-FFF2-40B4-BE49-F238E27FC236}">
                <a16:creationId xmlns:a16="http://schemas.microsoft.com/office/drawing/2014/main" id="{8949AD42-25FD-4C3D-9EEE-B7FEC580998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1" name="Picture 10">
            <a:extLst>
              <a:ext uri="{FF2B5EF4-FFF2-40B4-BE49-F238E27FC236}">
                <a16:creationId xmlns:a16="http://schemas.microsoft.com/office/drawing/2014/main" id="{6AC7D913-60B7-4603-881B-831DA5D3A94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7">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3" name="Rectangle 12">
            <a:extLst>
              <a:ext uri="{FF2B5EF4-FFF2-40B4-BE49-F238E27FC236}">
                <a16:creationId xmlns:a16="http://schemas.microsoft.com/office/drawing/2014/main" id="{87F0FDC4-AD8C-47D9-9131-623C98ADB0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15" name="Rectangle 14">
            <a:extLst>
              <a:ext uri="{FF2B5EF4-FFF2-40B4-BE49-F238E27FC236}">
                <a16:creationId xmlns:a16="http://schemas.microsoft.com/office/drawing/2014/main" id="{E6A222EB-A81E-4238-B08D-AAB1828C8E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014676C-074B-475A-8346-9C901C86C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lide Number Placeholder 2">
            <a:extLst>
              <a:ext uri="{FF2B5EF4-FFF2-40B4-BE49-F238E27FC236}">
                <a16:creationId xmlns:a16="http://schemas.microsoft.com/office/drawing/2014/main" id="{B34983E2-CB8E-3102-422D-2F8912B7A365}"/>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defTabSz="457200">
              <a:spcAft>
                <a:spcPts val="600"/>
              </a:spcAft>
            </a:pPr>
            <a:fld id="{D57F1E4F-1CFF-5643-939E-02111984F565}" type="slidenum">
              <a:rPr lang="en-US" b="0" i="0" kern="1200">
                <a:solidFill>
                  <a:srgbClr val="FFFFFF"/>
                </a:solidFill>
                <a:latin typeface="+mn-lt"/>
                <a:ea typeface="+mn-ea"/>
                <a:cs typeface="+mn-cs"/>
              </a:rPr>
              <a:pPr defTabSz="457200">
                <a:spcAft>
                  <a:spcPts val="600"/>
                </a:spcAft>
              </a:pPr>
              <a:t>13</a:t>
            </a:fld>
            <a:endParaRPr lang="en-US" b="0" i="0" kern="1200">
              <a:solidFill>
                <a:srgbClr val="FFFFFF"/>
              </a:solidFill>
              <a:latin typeface="+mn-lt"/>
              <a:ea typeface="+mn-ea"/>
              <a:cs typeface="+mn-cs"/>
            </a:endParaRPr>
          </a:p>
        </p:txBody>
      </p:sp>
      <p:cxnSp>
        <p:nvCxnSpPr>
          <p:cNvPr id="19" name="Straight Connector 18">
            <a:extLst>
              <a:ext uri="{FF2B5EF4-FFF2-40B4-BE49-F238E27FC236}">
                <a16:creationId xmlns:a16="http://schemas.microsoft.com/office/drawing/2014/main" id="{179C4C8E-197B-4679-AE96-B5147F971C9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56687" y="1930986"/>
            <a:ext cx="0" cy="3200400"/>
          </a:xfrm>
          <a:prstGeom prst="line">
            <a:avLst/>
          </a:prstGeom>
          <a:ln w="15875" cap="sq">
            <a:solidFill>
              <a:schemeClr val="tx2">
                <a:alpha val="7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8D861FA-4618-65E8-AB27-8A9C0C0DE254}"/>
              </a:ext>
            </a:extLst>
          </p:cNvPr>
          <p:cNvSpPr>
            <a:spLocks noGrp="1"/>
          </p:cNvSpPr>
          <p:nvPr>
            <p:ph type="title"/>
          </p:nvPr>
        </p:nvSpPr>
        <p:spPr>
          <a:xfrm>
            <a:off x="4654295" y="1266958"/>
            <a:ext cx="6808362" cy="4528457"/>
          </a:xfrm>
        </p:spPr>
        <p:txBody>
          <a:bodyPr vert="horz" lIns="91440" tIns="45720" rIns="91440" bIns="45720" rtlCol="0" anchor="ctr">
            <a:normAutofit/>
          </a:bodyPr>
          <a:lstStyle/>
          <a:p>
            <a:r>
              <a:rPr lang="en-US" sz="7200"/>
              <a:t>Preliminary System Design</a:t>
            </a:r>
            <a:endParaRPr lang="en-US" sz="7200" b="0" i="0" kern="1200">
              <a:latin typeface="+mj-lt"/>
            </a:endParaRPr>
          </a:p>
        </p:txBody>
      </p:sp>
    </p:spTree>
    <p:extLst>
      <p:ext uri="{BB962C8B-B14F-4D97-AF65-F5344CB8AC3E}">
        <p14:creationId xmlns:p14="http://schemas.microsoft.com/office/powerpoint/2010/main" val="12433452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E0E1AC-1CF0-6EEF-856E-AA39A1409B96}"/>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5F3FC718-FDE3-4EF7-921E-A5F374EAF8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94AE06-9F3B-82BF-C3CF-0B00DF291EEE}"/>
              </a:ext>
            </a:extLst>
          </p:cNvPr>
          <p:cNvSpPr>
            <a:spLocks noGrp="1"/>
          </p:cNvSpPr>
          <p:nvPr>
            <p:ph type="title"/>
          </p:nvPr>
        </p:nvSpPr>
        <p:spPr>
          <a:xfrm>
            <a:off x="141612" y="81281"/>
            <a:ext cx="3108626" cy="1444752"/>
          </a:xfrm>
        </p:spPr>
        <p:txBody>
          <a:bodyPr vert="horz" lIns="91440" tIns="45720" rIns="91440" bIns="45720" rtlCol="0" anchor="b">
            <a:normAutofit/>
          </a:bodyPr>
          <a:lstStyle/>
          <a:p>
            <a:r>
              <a:rPr lang="en-US" sz="3200" b="0" i="0" kern="1200">
                <a:solidFill>
                  <a:srgbClr val="EBEBEB"/>
                </a:solidFill>
                <a:latin typeface="+mj-lt"/>
                <a:ea typeface="+mj-ea"/>
                <a:cs typeface="+mj-cs"/>
              </a:rPr>
              <a:t>Architectural Design</a:t>
            </a:r>
          </a:p>
        </p:txBody>
      </p:sp>
      <p:sp>
        <p:nvSpPr>
          <p:cNvPr id="68" name="Freeform 11">
            <a:extLst>
              <a:ext uri="{FF2B5EF4-FFF2-40B4-BE49-F238E27FC236}">
                <a16:creationId xmlns:a16="http://schemas.microsoft.com/office/drawing/2014/main" id="{FAA0F719-3DC8-4F08-AD8F-5A845658CB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4811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70" name="Freeform: Shape 69">
            <a:extLst>
              <a:ext uri="{FF2B5EF4-FFF2-40B4-BE49-F238E27FC236}">
                <a16:creationId xmlns:a16="http://schemas.microsoft.com/office/drawing/2014/main" id="{7DCB61BE-FA0F-4EFB-BE0E-268BAD8E30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4747655" y="-586345"/>
            <a:ext cx="6858001" cy="8030691"/>
          </a:xfrm>
          <a:custGeom>
            <a:avLst/>
            <a:gdLst>
              <a:gd name="connsiteX0" fmla="*/ 6858001 w 6858001"/>
              <a:gd name="connsiteY0" fmla="*/ 1177 h 8030691"/>
              <a:gd name="connsiteX1" fmla="*/ 6858001 w 6858001"/>
              <a:gd name="connsiteY1" fmla="*/ 1344715 h 8030691"/>
              <a:gd name="connsiteX2" fmla="*/ 6858000 w 6858001"/>
              <a:gd name="connsiteY2" fmla="*/ 1344715 h 8030691"/>
              <a:gd name="connsiteX3" fmla="*/ 6858000 w 6858001"/>
              <a:gd name="connsiteY3" fmla="*/ 8030691 h 8030691"/>
              <a:gd name="connsiteX4" fmla="*/ 0 w 6858001"/>
              <a:gd name="connsiteY4" fmla="*/ 8030690 h 8030691"/>
              <a:gd name="connsiteX5" fmla="*/ 0 w 6858001"/>
              <a:gd name="connsiteY5" fmla="*/ 477747 h 8030691"/>
              <a:gd name="connsiteX6" fmla="*/ 1 w 6858001"/>
              <a:gd name="connsiteY6" fmla="*/ 477747 h 8030691"/>
              <a:gd name="connsiteX7" fmla="*/ 1 w 6858001"/>
              <a:gd name="connsiteY7" fmla="*/ 0 h 8030691"/>
              <a:gd name="connsiteX8" fmla="*/ 40463 w 6858001"/>
              <a:gd name="connsiteY8" fmla="*/ 5883 h 8030691"/>
              <a:gd name="connsiteX9" fmla="*/ 159107 w 6858001"/>
              <a:gd name="connsiteY9" fmla="*/ 23196 h 8030691"/>
              <a:gd name="connsiteX10" fmla="*/ 245518 w 6858001"/>
              <a:gd name="connsiteY10" fmla="*/ 35299 h 8030691"/>
              <a:gd name="connsiteX11" fmla="*/ 348388 w 6858001"/>
              <a:gd name="connsiteY11" fmla="*/ 48074 h 8030691"/>
              <a:gd name="connsiteX12" fmla="*/ 470460 w 6858001"/>
              <a:gd name="connsiteY12" fmla="*/ 63370 h 8030691"/>
              <a:gd name="connsiteX13" fmla="*/ 605563 w 6858001"/>
              <a:gd name="connsiteY13" fmla="*/ 79507 h 8030691"/>
              <a:gd name="connsiteX14" fmla="*/ 757810 w 6858001"/>
              <a:gd name="connsiteY14" fmla="*/ 96484 h 8030691"/>
              <a:gd name="connsiteX15" fmla="*/ 923774 w 6858001"/>
              <a:gd name="connsiteY15" fmla="*/ 114469 h 8030691"/>
              <a:gd name="connsiteX16" fmla="*/ 1104139 w 6858001"/>
              <a:gd name="connsiteY16" fmla="*/ 132455 h 8030691"/>
              <a:gd name="connsiteX17" fmla="*/ 1296163 w 6858001"/>
              <a:gd name="connsiteY17" fmla="*/ 150776 h 8030691"/>
              <a:gd name="connsiteX18" fmla="*/ 1503275 w 6858001"/>
              <a:gd name="connsiteY18" fmla="*/ 167753 h 8030691"/>
              <a:gd name="connsiteX19" fmla="*/ 1719988 w 6858001"/>
              <a:gd name="connsiteY19" fmla="*/ 184058 h 8030691"/>
              <a:gd name="connsiteX20" fmla="*/ 1949045 w 6858001"/>
              <a:gd name="connsiteY20" fmla="*/ 198850 h 8030691"/>
              <a:gd name="connsiteX21" fmla="*/ 2187703 w 6858001"/>
              <a:gd name="connsiteY21" fmla="*/ 212969 h 8030691"/>
              <a:gd name="connsiteX22" fmla="*/ 2436649 w 6858001"/>
              <a:gd name="connsiteY22" fmla="*/ 226249 h 8030691"/>
              <a:gd name="connsiteX23" fmla="*/ 2564208 w 6858001"/>
              <a:gd name="connsiteY23" fmla="*/ 230955 h 8030691"/>
              <a:gd name="connsiteX24" fmla="*/ 2694509 w 6858001"/>
              <a:gd name="connsiteY24" fmla="*/ 236166 h 8030691"/>
              <a:gd name="connsiteX25" fmla="*/ 2826869 w 6858001"/>
              <a:gd name="connsiteY25" fmla="*/ 241040 h 8030691"/>
              <a:gd name="connsiteX26" fmla="*/ 2959914 w 6858001"/>
              <a:gd name="connsiteY26" fmla="*/ 244234 h 8030691"/>
              <a:gd name="connsiteX27" fmla="*/ 3095702 w 6858001"/>
              <a:gd name="connsiteY27" fmla="*/ 247092 h 8030691"/>
              <a:gd name="connsiteX28" fmla="*/ 3232862 w 6858001"/>
              <a:gd name="connsiteY28" fmla="*/ 250117 h 8030691"/>
              <a:gd name="connsiteX29" fmla="*/ 3372766 w 6858001"/>
              <a:gd name="connsiteY29" fmla="*/ 252134 h 8030691"/>
              <a:gd name="connsiteX30" fmla="*/ 3514040 w 6858001"/>
              <a:gd name="connsiteY30" fmla="*/ 252134 h 8030691"/>
              <a:gd name="connsiteX31" fmla="*/ 3656686 w 6858001"/>
              <a:gd name="connsiteY31" fmla="*/ 253143 h 8030691"/>
              <a:gd name="connsiteX32" fmla="*/ 3800705 w 6858001"/>
              <a:gd name="connsiteY32" fmla="*/ 252134 h 8030691"/>
              <a:gd name="connsiteX33" fmla="*/ 3946780 w 6858001"/>
              <a:gd name="connsiteY33" fmla="*/ 250117 h 8030691"/>
              <a:gd name="connsiteX34" fmla="*/ 4092856 w 6858001"/>
              <a:gd name="connsiteY34" fmla="*/ 248268 h 8030691"/>
              <a:gd name="connsiteX35" fmla="*/ 4240988 w 6858001"/>
              <a:gd name="connsiteY35" fmla="*/ 244234 h 8030691"/>
              <a:gd name="connsiteX36" fmla="*/ 4390492 w 6858001"/>
              <a:gd name="connsiteY36" fmla="*/ 240032 h 8030691"/>
              <a:gd name="connsiteX37" fmla="*/ 4539997 w 6858001"/>
              <a:gd name="connsiteY37" fmla="*/ 235157 h 8030691"/>
              <a:gd name="connsiteX38" fmla="*/ 4690873 w 6858001"/>
              <a:gd name="connsiteY38" fmla="*/ 228266 h 8030691"/>
              <a:gd name="connsiteX39" fmla="*/ 4843120 w 6858001"/>
              <a:gd name="connsiteY39" fmla="*/ 220029 h 8030691"/>
              <a:gd name="connsiteX40" fmla="*/ 4996054 w 6858001"/>
              <a:gd name="connsiteY40" fmla="*/ 212129 h 8030691"/>
              <a:gd name="connsiteX41" fmla="*/ 5148987 w 6858001"/>
              <a:gd name="connsiteY41" fmla="*/ 202044 h 8030691"/>
              <a:gd name="connsiteX42" fmla="*/ 5303978 w 6858001"/>
              <a:gd name="connsiteY42" fmla="*/ 189941 h 8030691"/>
              <a:gd name="connsiteX43" fmla="*/ 5456911 w 6858001"/>
              <a:gd name="connsiteY43" fmla="*/ 177839 h 8030691"/>
              <a:gd name="connsiteX44" fmla="*/ 5612588 w 6858001"/>
              <a:gd name="connsiteY44" fmla="*/ 163887 h 8030691"/>
              <a:gd name="connsiteX45" fmla="*/ 5768950 w 6858001"/>
              <a:gd name="connsiteY45" fmla="*/ 148591 h 8030691"/>
              <a:gd name="connsiteX46" fmla="*/ 5923255 w 6858001"/>
              <a:gd name="connsiteY46" fmla="*/ 132455 h 8030691"/>
              <a:gd name="connsiteX47" fmla="*/ 6079618 w 6858001"/>
              <a:gd name="connsiteY47" fmla="*/ 113629 h 8030691"/>
              <a:gd name="connsiteX48" fmla="*/ 6235294 w 6858001"/>
              <a:gd name="connsiteY48" fmla="*/ 93458 h 8030691"/>
              <a:gd name="connsiteX49" fmla="*/ 6391657 w 6858001"/>
              <a:gd name="connsiteY49" fmla="*/ 73455 h 8030691"/>
              <a:gd name="connsiteX50" fmla="*/ 6547333 w 6858001"/>
              <a:gd name="connsiteY50" fmla="*/ 50091 h 8030691"/>
              <a:gd name="connsiteX51" fmla="*/ 6702324 w 6858001"/>
              <a:gd name="connsiteY51" fmla="*/ 26222 h 80306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8030691">
                <a:moveTo>
                  <a:pt x="6858001" y="1177"/>
                </a:moveTo>
                <a:lnTo>
                  <a:pt x="6858001" y="1344715"/>
                </a:lnTo>
                <a:lnTo>
                  <a:pt x="6858000" y="1344715"/>
                </a:lnTo>
                <a:lnTo>
                  <a:pt x="6858000" y="8030691"/>
                </a:lnTo>
                <a:lnTo>
                  <a:pt x="0" y="8030690"/>
                </a:lnTo>
                <a:lnTo>
                  <a:pt x="0" y="477747"/>
                </a:lnTo>
                <a:lnTo>
                  <a:pt x="1" y="477747"/>
                </a:lnTo>
                <a:lnTo>
                  <a:pt x="1" y="0"/>
                </a:lnTo>
                <a:lnTo>
                  <a:pt x="40463" y="5883"/>
                </a:lnTo>
                <a:lnTo>
                  <a:pt x="159107" y="23196"/>
                </a:lnTo>
                <a:lnTo>
                  <a:pt x="245518" y="35299"/>
                </a:lnTo>
                <a:lnTo>
                  <a:pt x="348388" y="48074"/>
                </a:lnTo>
                <a:lnTo>
                  <a:pt x="470460" y="63370"/>
                </a:lnTo>
                <a:lnTo>
                  <a:pt x="605563" y="79507"/>
                </a:lnTo>
                <a:lnTo>
                  <a:pt x="757810" y="96484"/>
                </a:lnTo>
                <a:lnTo>
                  <a:pt x="923774" y="114469"/>
                </a:lnTo>
                <a:lnTo>
                  <a:pt x="1104139" y="132455"/>
                </a:lnTo>
                <a:lnTo>
                  <a:pt x="1296163" y="150776"/>
                </a:lnTo>
                <a:lnTo>
                  <a:pt x="1503275" y="167753"/>
                </a:lnTo>
                <a:lnTo>
                  <a:pt x="1719988" y="184058"/>
                </a:lnTo>
                <a:lnTo>
                  <a:pt x="1949045" y="198850"/>
                </a:lnTo>
                <a:lnTo>
                  <a:pt x="2187703" y="212969"/>
                </a:lnTo>
                <a:lnTo>
                  <a:pt x="2436649" y="226249"/>
                </a:lnTo>
                <a:lnTo>
                  <a:pt x="2564208" y="230955"/>
                </a:lnTo>
                <a:lnTo>
                  <a:pt x="2694509" y="236166"/>
                </a:lnTo>
                <a:lnTo>
                  <a:pt x="2826869" y="241040"/>
                </a:lnTo>
                <a:lnTo>
                  <a:pt x="2959914" y="244234"/>
                </a:lnTo>
                <a:lnTo>
                  <a:pt x="3095702" y="247092"/>
                </a:lnTo>
                <a:lnTo>
                  <a:pt x="3232862" y="250117"/>
                </a:lnTo>
                <a:lnTo>
                  <a:pt x="3372766" y="252134"/>
                </a:lnTo>
                <a:lnTo>
                  <a:pt x="3514040" y="252134"/>
                </a:lnTo>
                <a:lnTo>
                  <a:pt x="3656686" y="253143"/>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en-US"/>
          </a:p>
        </p:txBody>
      </p:sp>
      <p:sp>
        <p:nvSpPr>
          <p:cNvPr id="72" name="Rectangle 71">
            <a:extLst>
              <a:ext uri="{FF2B5EF4-FFF2-40B4-BE49-F238E27FC236}">
                <a16:creationId xmlns:a16="http://schemas.microsoft.com/office/drawing/2014/main" id="{A4B31EAA-7423-46F7-9B90-4AB2B09C35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37C8E4D8-48C6-1636-5FE6-FE8A0793AEA8}"/>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a:spcAft>
                <a:spcPts val="600"/>
              </a:spcAft>
            </a:pPr>
            <a:fld id="{D57F1E4F-1CFF-5643-939E-02111984F565}" type="slidenum">
              <a:rPr lang="en-US">
                <a:solidFill>
                  <a:srgbClr val="FFFFFF"/>
                </a:solidFill>
              </a:rPr>
              <a:pPr>
                <a:spcAft>
                  <a:spcPts val="600"/>
                </a:spcAft>
              </a:pPr>
              <a:t>14</a:t>
            </a:fld>
            <a:endParaRPr lang="en-US">
              <a:solidFill>
                <a:srgbClr val="FFFFFF"/>
              </a:solidFill>
            </a:endParaRPr>
          </a:p>
        </p:txBody>
      </p:sp>
      <p:sp>
        <p:nvSpPr>
          <p:cNvPr id="6" name="Title 1">
            <a:extLst>
              <a:ext uri="{FF2B5EF4-FFF2-40B4-BE49-F238E27FC236}">
                <a16:creationId xmlns:a16="http://schemas.microsoft.com/office/drawing/2014/main" id="{1F94CAB5-61F2-A343-6667-6C9211C93EAD}"/>
              </a:ext>
            </a:extLst>
          </p:cNvPr>
          <p:cNvSpPr txBox="1">
            <a:spLocks/>
          </p:cNvSpPr>
          <p:nvPr/>
        </p:nvSpPr>
        <p:spPr>
          <a:xfrm>
            <a:off x="141612" y="2436878"/>
            <a:ext cx="3375843" cy="2947415"/>
          </a:xfrm>
          <a:prstGeom prst="rect">
            <a:avLst/>
          </a:prstGeom>
        </p:spPr>
        <p:txBody>
          <a:bodyPr vert="horz" lIns="91440" tIns="45720" rIns="91440" bIns="45720" rtlCol="0">
            <a:norm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571500" indent="-571500">
              <a:spcBef>
                <a:spcPts val="1000"/>
              </a:spcBef>
              <a:buClr>
                <a:schemeClr val="bg2">
                  <a:lumMod val="40000"/>
                  <a:lumOff val="60000"/>
                </a:schemeClr>
              </a:buClr>
              <a:buSzPct val="80000"/>
              <a:buFont typeface="Wingdings 3" charset="2"/>
              <a:buChar char=""/>
            </a:pPr>
            <a:r>
              <a:rPr b="1" sz="1400"/>
              <a:t>QR Scanning: MVC Pattern</a:t>
            </a:r>
          </a:p>
          <a:p>
            <a:r>
              <a:rPr b="0" sz="1400"/>
              <a:t>Controller → DecodeQr → Parse → OutputData</a:t>
            </a:r>
          </a:p>
          <a:p>
            <a:r>
              <a:rPr b="0" sz="1400"/>
              <a:t/>
            </a:r>
          </a:p>
          <a:p>
            <a:r>
              <a:rPr b="1" sz="1400"/>
              <a:t>Step Verification: Signal/Slot Threading</a:t>
            </a:r>
          </a:p>
          <a:p>
            <a:r>
              <a:rPr b="0" sz="1400"/>
              <a:t>MainWindow → TrainingWidget / OperationWidget</a:t>
            </a:r>
          </a:p>
          <a:p>
            <a:r>
              <a:rPr b="0" sz="1400"/>
              <a:t>QThread workers emit frames/results via signals</a:t>
            </a:r>
          </a:p>
          <a:p>
            <a:r>
              <a:rPr b="0" sz="1400"/>
              <a:t/>
            </a:r>
          </a:p>
          <a:p>
            <a:r>
              <a:rPr b="1" sz="1400"/>
              <a:t>Why PySide6? Streamlit couldn't handle real-time camera + threading</a:t>
            </a:r>
          </a:p>
        </p:txBody>
      </p:sp>
      <p:pic>
        <p:nvPicPr>
          <p:cNvPr id="3" name="Picture 2">
            <a:extLst>
              <a:ext uri="{FF2B5EF4-FFF2-40B4-BE49-F238E27FC236}">
                <a16:creationId xmlns:a16="http://schemas.microsoft.com/office/drawing/2014/main" id="{12196ECD-EF56-80A6-CED0-D8EF4859046B}"/>
              </a:ext>
            </a:extLst>
          </p:cNvPr>
          <p:cNvPicPr>
            <a:picLocks noChangeAspect="1"/>
          </p:cNvPicPr>
          <p:nvPr/>
        </p:nvPicPr>
        <p:blipFill>
          <a:blip r:embed="rId3"/>
          <a:stretch>
            <a:fillRect/>
          </a:stretch>
        </p:blipFill>
        <p:spPr>
          <a:xfrm>
            <a:off x="4588189" y="1447799"/>
            <a:ext cx="7462199" cy="4384041"/>
          </a:xfrm>
          <a:prstGeom prst="rect">
            <a:avLst/>
          </a:prstGeom>
          <a:effectLst/>
        </p:spPr>
      </p:pic>
    </p:spTree>
    <p:extLst>
      <p:ext uri="{BB962C8B-B14F-4D97-AF65-F5344CB8AC3E}">
        <p14:creationId xmlns:p14="http://schemas.microsoft.com/office/powerpoint/2010/main" val="3647372978"/>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E4621-979C-F553-4266-415F3E1C7894}"/>
              </a:ext>
            </a:extLst>
          </p:cNvPr>
          <p:cNvSpPr>
            <a:spLocks noGrp="1"/>
          </p:cNvSpPr>
          <p:nvPr>
            <p:ph type="title"/>
          </p:nvPr>
        </p:nvSpPr>
        <p:spPr>
          <a:xfrm>
            <a:off x="201890" y="335221"/>
            <a:ext cx="9252154" cy="1223983"/>
          </a:xfrm>
        </p:spPr>
        <p:txBody>
          <a:bodyPr>
            <a:normAutofit/>
          </a:bodyPr>
          <a:lstStyle/>
          <a:p>
            <a:r>
              <a:rPr lang="en-US" sz="5400"/>
              <a:t>Structural Design</a:t>
            </a:r>
          </a:p>
        </p:txBody>
      </p:sp>
      <p:sp>
        <p:nvSpPr>
          <p:cNvPr id="4" name="Slide Number Placeholder 3">
            <a:extLst>
              <a:ext uri="{FF2B5EF4-FFF2-40B4-BE49-F238E27FC236}">
                <a16:creationId xmlns:a16="http://schemas.microsoft.com/office/drawing/2014/main" id="{97772CB6-4208-D25E-B7DE-2F0AB93CC03B}"/>
              </a:ext>
            </a:extLst>
          </p:cNvPr>
          <p:cNvSpPr>
            <a:spLocks noGrp="1"/>
          </p:cNvSpPr>
          <p:nvPr>
            <p:ph type="sldNum" sz="quarter" idx="12"/>
          </p:nvPr>
        </p:nvSpPr>
        <p:spPr>
          <a:xfrm>
            <a:off x="10352540" y="295729"/>
            <a:ext cx="838199" cy="767687"/>
          </a:xfrm>
        </p:spPr>
        <p:txBody>
          <a:bodyPr>
            <a:normAutofit/>
          </a:bodyPr>
          <a:lstStyle/>
          <a:p>
            <a:pPr>
              <a:spcAft>
                <a:spcPts val="600"/>
              </a:spcAft>
            </a:pPr>
            <a:fld id="{D57F1E4F-1CFF-5643-939E-02111984F565}" type="slidenum">
              <a:rPr lang="en-US"/>
              <a:pPr>
                <a:spcAft>
                  <a:spcPts val="600"/>
                </a:spcAft>
              </a:pPr>
              <a:t>15</a:t>
            </a:fld>
            <a:endParaRPr lang="en-US"/>
          </a:p>
        </p:txBody>
      </p:sp>
      <p:sp>
        <p:nvSpPr>
          <p:cNvPr id="5" name="Content Placeholder 4">
            <a:extLst>
              <a:ext uri="{FF2B5EF4-FFF2-40B4-BE49-F238E27FC236}">
                <a16:creationId xmlns:a16="http://schemas.microsoft.com/office/drawing/2014/main" id="{F77914A2-D7AF-99B9-8BFF-38CB2155D13B}"/>
              </a:ext>
            </a:extLst>
          </p:cNvPr>
          <p:cNvSpPr>
            <a:spLocks noGrp="1"/>
          </p:cNvSpPr>
          <p:nvPr>
            <p:ph idx="1"/>
          </p:nvPr>
        </p:nvSpPr>
        <p:spPr>
          <a:xfrm>
            <a:off x="201890" y="1864793"/>
            <a:ext cx="4338409" cy="4196185"/>
          </a:xfrm>
        </p:spPr>
        <p:txBody>
          <a:bodyPr>
            <a:normAutofit/>
          </a:bodyPr>
          <a:lstStyle/>
          <a:p>
            <a:pPr algn="l"/>
            <a:r>
              <a:rPr sz="2000"/>
              <a:t>QR Subsystem</a:t>
            </a:r>
          </a:p>
          <a:p>
            <a:pPr lvl="1" algn="l"/>
            <a:r>
              <a:rPr sz="1600"/>
              <a:t>Camera, DecodeQr, Parse, OutputData, ConfigManager</a:t>
            </a:r>
          </a:p>
          <a:p>
            <a:pPr algn="l"/>
            <a:r>
              <a:rPr sz="2000"/>
              <a:t>Step Verification Subsystem</a:t>
            </a:r>
          </a:p>
          <a:p>
            <a:pPr lvl="1" algn="l"/>
            <a:r>
              <a:rPr sz="1600"/>
              <a:t>ProcessManager, ActionStep, VerificationState</a:t>
            </a:r>
          </a:p>
          <a:p>
            <a:pPr lvl="1" algn="l"/>
            <a:r>
              <a:rPr sz="1600"/>
              <a:t>embeddings.py — DINOv2 inference</a:t>
            </a:r>
          </a:p>
          <a:p>
            <a:pPr lvl="1" algn="l"/>
            <a:r>
              <a:rPr sz="1600"/>
              <a:t>verification.py — similarity + state machine</a:t>
            </a:r>
          </a:p>
          <a:p>
            <a:pPr lvl="1" algn="l"/>
            <a:r>
              <a:rPr sz="1600"/>
              <a:t>workers/ — CameraWorker, OperationWorker</a:t>
            </a:r>
          </a:p>
          <a:p>
            <a:pPr lvl="1" algn="l"/>
            <a:r>
              <a:rPr sz="1600"/>
              <a:t>widgets/ — TrainingWidget, OperationWidget</a:t>
            </a:r>
          </a:p>
        </p:txBody>
      </p:sp>
      <p:pic>
        <p:nvPicPr>
          <p:cNvPr id="7" name="Picture 6">
            <a:extLst>
              <a:ext uri="{FF2B5EF4-FFF2-40B4-BE49-F238E27FC236}">
                <a16:creationId xmlns:a16="http://schemas.microsoft.com/office/drawing/2014/main" id="{88FC28F5-39D6-6571-8863-3296D09BB27A}"/>
              </a:ext>
            </a:extLst>
          </p:cNvPr>
          <p:cNvPicPr>
            <a:picLocks noChangeAspect="1"/>
          </p:cNvPicPr>
          <p:nvPr/>
        </p:nvPicPr>
        <p:blipFill>
          <a:blip r:embed="rId4"/>
          <a:stretch>
            <a:fillRect/>
          </a:stretch>
        </p:blipFill>
        <p:spPr>
          <a:xfrm>
            <a:off x="4827967" y="1864793"/>
            <a:ext cx="7002023" cy="4568819"/>
          </a:xfrm>
          <a:prstGeom prst="rect">
            <a:avLst/>
          </a:prstGeom>
          <a:effectLst>
            <a:outerShdw blurRad="50800" dist="38100" dir="5400000" algn="t" rotWithShape="0">
              <a:prstClr val="black">
                <a:alpha val="43000"/>
              </a:prstClr>
            </a:outerShdw>
          </a:effectLst>
        </p:spPr>
      </p:pic>
    </p:spTree>
    <p:extLst>
      <p:ext uri="{BB962C8B-B14F-4D97-AF65-F5344CB8AC3E}">
        <p14:creationId xmlns:p14="http://schemas.microsoft.com/office/powerpoint/2010/main" val="27544284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8975FED4-A993-03A4-A0B7-58E8095CCCFB}"/>
            </a:ext>
          </a:extLst>
        </p:cNvPr>
        <p:cNvGrpSpPr/>
        <p:nvPr/>
      </p:nvGrpSpPr>
      <p:grpSpPr>
        <a:xfrm>
          <a:off x="0" y="0"/>
          <a:ext cx="0" cy="0"/>
          <a:chOff x="0" y="0"/>
          <a:chExt cx="0" cy="0"/>
        </a:xfrm>
      </p:grpSpPr>
      <p:pic>
        <p:nvPicPr>
          <p:cNvPr id="51" name="Picture 50">
            <a:extLst>
              <a:ext uri="{FF2B5EF4-FFF2-40B4-BE49-F238E27FC236}">
                <a16:creationId xmlns:a16="http://schemas.microsoft.com/office/drawing/2014/main" id="{289F1296-36C0-42CB-9779-37B24AB07EF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53" name="Picture 52">
            <a:extLst>
              <a:ext uri="{FF2B5EF4-FFF2-40B4-BE49-F238E27FC236}">
                <a16:creationId xmlns:a16="http://schemas.microsoft.com/office/drawing/2014/main" id="{03FAC4DA-9FF9-F583-2146-F8239A750F0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55" name="Oval 54">
            <a:extLst>
              <a:ext uri="{FF2B5EF4-FFF2-40B4-BE49-F238E27FC236}">
                <a16:creationId xmlns:a16="http://schemas.microsoft.com/office/drawing/2014/main" id="{995B013C-D4C5-11FC-76AE-C9A87E20CA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57" name="Picture 56">
            <a:extLst>
              <a:ext uri="{FF2B5EF4-FFF2-40B4-BE49-F238E27FC236}">
                <a16:creationId xmlns:a16="http://schemas.microsoft.com/office/drawing/2014/main" id="{C72D069D-5999-12FF-EF64-35E005CB566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59" name="Picture 58">
            <a:extLst>
              <a:ext uri="{FF2B5EF4-FFF2-40B4-BE49-F238E27FC236}">
                <a16:creationId xmlns:a16="http://schemas.microsoft.com/office/drawing/2014/main" id="{321CB14E-7764-D2E9-A50D-7FDBFCF301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7">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61" name="Rectangle 60">
            <a:extLst>
              <a:ext uri="{FF2B5EF4-FFF2-40B4-BE49-F238E27FC236}">
                <a16:creationId xmlns:a16="http://schemas.microsoft.com/office/drawing/2014/main" id="{7D1C7A4E-5494-54E1-4F60-2A14AA94BF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79136B2C-B02D-A5AE-0F29-3A1F6E99AED2}"/>
              </a:ext>
            </a:extLst>
          </p:cNvPr>
          <p:cNvSpPr>
            <a:spLocks noGrp="1"/>
          </p:cNvSpPr>
          <p:nvPr>
            <p:ph type="title"/>
          </p:nvPr>
        </p:nvSpPr>
        <p:spPr>
          <a:xfrm>
            <a:off x="413601" y="225064"/>
            <a:ext cx="6484623" cy="691277"/>
          </a:xfrm>
        </p:spPr>
        <p:txBody>
          <a:bodyPr vert="horz" lIns="91440" tIns="45720" rIns="91440" bIns="45720" rtlCol="0" anchor="b">
            <a:normAutofit fontScale="90000"/>
          </a:bodyPr>
          <a:lstStyle/>
          <a:p>
            <a:r>
              <a:rPr lang="en-US" sz="4400" b="0" i="0" kern="1200">
                <a:solidFill>
                  <a:schemeClr val="tx2"/>
                </a:solidFill>
                <a:latin typeface="+mj-lt"/>
                <a:ea typeface="+mj-ea"/>
                <a:cs typeface="+mj-cs"/>
              </a:rPr>
              <a:t>Activity Diagram</a:t>
            </a:r>
          </a:p>
        </p:txBody>
      </p:sp>
      <p:sp>
        <p:nvSpPr>
          <p:cNvPr id="4" name="Slide Number Placeholder 3">
            <a:extLst>
              <a:ext uri="{FF2B5EF4-FFF2-40B4-BE49-F238E27FC236}">
                <a16:creationId xmlns:a16="http://schemas.microsoft.com/office/drawing/2014/main" id="{B80B58D4-7CBB-0F72-B003-BEF72AD68A49}"/>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a:spcAft>
                <a:spcPts val="600"/>
              </a:spcAft>
            </a:pPr>
            <a:fld id="{D57F1E4F-1CFF-5643-939E-02111984F565}" type="slidenum">
              <a:rPr lang="en-US">
                <a:solidFill>
                  <a:srgbClr val="FFFFFF"/>
                </a:solidFill>
              </a:rPr>
              <a:pPr>
                <a:spcAft>
                  <a:spcPts val="600"/>
                </a:spcAft>
              </a:pPr>
              <a:t>16</a:t>
            </a:fld>
            <a:endParaRPr lang="en-US">
              <a:solidFill>
                <a:srgbClr val="FFFFFF"/>
              </a:solidFill>
            </a:endParaRPr>
          </a:p>
        </p:txBody>
      </p:sp>
      <p:pic>
        <p:nvPicPr>
          <p:cNvPr id="5" name="Picture 4">
            <a:extLst>
              <a:ext uri="{FF2B5EF4-FFF2-40B4-BE49-F238E27FC236}">
                <a16:creationId xmlns:a16="http://schemas.microsoft.com/office/drawing/2014/main" id="{6A6E9B40-1ABF-CCE0-2E71-31F41468ED21}"/>
              </a:ext>
            </a:extLst>
          </p:cNvPr>
          <p:cNvPicPr>
            <a:picLocks noChangeAspect="1"/>
          </p:cNvPicPr>
          <p:nvPr/>
        </p:nvPicPr>
        <p:blipFill>
          <a:blip r:embed="rId8"/>
          <a:stretch>
            <a:fillRect/>
          </a:stretch>
        </p:blipFill>
        <p:spPr>
          <a:xfrm>
            <a:off x="832514" y="1212070"/>
            <a:ext cx="10291098" cy="5430483"/>
          </a:xfrm>
          <a:prstGeom prst="rect">
            <a:avLst/>
          </a:prstGeom>
        </p:spPr>
      </p:pic>
    </p:spTree>
    <p:extLst>
      <p:ext uri="{BB962C8B-B14F-4D97-AF65-F5344CB8AC3E}">
        <p14:creationId xmlns:p14="http://schemas.microsoft.com/office/powerpoint/2010/main" val="3263527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09D5-A59F-1FA9-2861-764CBF4A39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D392CA-1D58-9A99-8C16-8F67E23D3336}"/>
              </a:ext>
            </a:extLst>
          </p:cNvPr>
          <p:cNvSpPr>
            <a:spLocks noGrp="1"/>
          </p:cNvSpPr>
          <p:nvPr>
            <p:ph type="title"/>
          </p:nvPr>
        </p:nvSpPr>
        <p:spPr/>
        <p:txBody>
          <a:bodyPr/>
          <a:lstStyle/>
          <a:p>
            <a:r>
              <a:rPr lang="en-US"/>
              <a:t>Design Alternatives</a:t>
            </a:r>
          </a:p>
        </p:txBody>
      </p:sp>
      <p:sp>
        <p:nvSpPr>
          <p:cNvPr id="3" name="Content Placeholder 2">
            <a:extLst>
              <a:ext uri="{FF2B5EF4-FFF2-40B4-BE49-F238E27FC236}">
                <a16:creationId xmlns:a16="http://schemas.microsoft.com/office/drawing/2014/main" id="{B675B62D-0A03-6200-F185-B63E32651B81}"/>
              </a:ext>
            </a:extLst>
          </p:cNvPr>
          <p:cNvSpPr>
            <a:spLocks noGrp="1"/>
          </p:cNvSpPr>
          <p:nvPr>
            <p:ph idx="1"/>
          </p:nvPr>
        </p:nvSpPr>
        <p:spPr/>
        <p:txBody>
          <a:bodyPr/>
          <a:lstStyle/>
          <a:p>
            <a:pPr algn="l"/>
            <a:r>
              <a:rPr sz="2000"/>
              <a:t>UI: Streamlit vs. PySide6 vs. Electron</a:t>
            </a:r>
          </a:p>
          <a:p>
            <a:pPr lvl="1" algn="l"/>
            <a:r>
              <a:rPr sz="1800"/>
              <a:t>PySide6: native threading, no browser, real-time camera</a:t>
            </a:r>
          </a:p>
          <a:p>
            <a:pPr algn="l"/>
            <a:r>
              <a:rPr sz="2000"/>
              <a:t>Model: OpenCLIP vs. MobileCLIP vs. DINOv2</a:t>
            </a:r>
          </a:p>
          <a:p>
            <a:pPr lvl="1" algn="l"/>
            <a:r>
              <a:rPr sz="1800"/>
              <a:t>DINOv2: open-source, strong features, no labels needed</a:t>
            </a:r>
          </a:p>
          <a:p>
            <a:pPr algn="l"/>
            <a:r>
              <a:rPr sz="2000"/>
              <a:t>Verification: Single-frame vs. Sliding-window</a:t>
            </a:r>
          </a:p>
          <a:p>
            <a:pPr lvl="1" algn="l"/>
            <a:r>
              <a:rPr sz="1800"/>
              <a:t>Sliding window: 7/10 consensus eliminates jitter</a:t>
            </a:r>
          </a:p>
        </p:txBody>
      </p:sp>
      <p:sp>
        <p:nvSpPr>
          <p:cNvPr id="4" name="Slide Number Placeholder 3">
            <a:extLst>
              <a:ext uri="{FF2B5EF4-FFF2-40B4-BE49-F238E27FC236}">
                <a16:creationId xmlns:a16="http://schemas.microsoft.com/office/drawing/2014/main" id="{BDDEB594-5B41-0EA2-57CE-5F255BF3CE2B}"/>
              </a:ext>
            </a:extLst>
          </p:cNvPr>
          <p:cNvSpPr>
            <a:spLocks noGrp="1"/>
          </p:cNvSpPr>
          <p:nvPr>
            <p:ph type="sldNum" sz="quarter" idx="12"/>
          </p:nvPr>
        </p:nvSpPr>
        <p:spPr/>
        <p:txBody>
          <a:bodyPr/>
          <a:lstStyle/>
          <a:p>
            <a:fld id="{D57F1E4F-1CFF-5643-939E-02111984F565}" type="slidenum">
              <a:rPr lang="en-US" smtClean="0"/>
              <a:t>17</a:t>
            </a:fld>
            <a:endParaRPr lang="en-US"/>
          </a:p>
        </p:txBody>
      </p:sp>
    </p:spTree>
    <p:extLst>
      <p:ext uri="{BB962C8B-B14F-4D97-AF65-F5344CB8AC3E}">
        <p14:creationId xmlns:p14="http://schemas.microsoft.com/office/powerpoint/2010/main" val="29296227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1816EAE-E08E-8B08-0905-755E3FED11E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383F1B7-35E2-0C35-F036-767EF6D2D24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6" name="Picture 5">
            <a:extLst>
              <a:ext uri="{FF2B5EF4-FFF2-40B4-BE49-F238E27FC236}">
                <a16:creationId xmlns:a16="http://schemas.microsoft.com/office/drawing/2014/main" id="{070B1BA8-F17D-04F8-618E-000AC4819C1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7" name="Oval 6">
            <a:extLst>
              <a:ext uri="{FF2B5EF4-FFF2-40B4-BE49-F238E27FC236}">
                <a16:creationId xmlns:a16="http://schemas.microsoft.com/office/drawing/2014/main" id="{C43B3B81-CED4-7E66-389E-60A5714BB2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a:extLst>
              <a:ext uri="{FF2B5EF4-FFF2-40B4-BE49-F238E27FC236}">
                <a16:creationId xmlns:a16="http://schemas.microsoft.com/office/drawing/2014/main" id="{5AEBAFAE-22EB-BFC6-33CD-AEC0A24F85C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1" name="Picture 10">
            <a:extLst>
              <a:ext uri="{FF2B5EF4-FFF2-40B4-BE49-F238E27FC236}">
                <a16:creationId xmlns:a16="http://schemas.microsoft.com/office/drawing/2014/main" id="{9A76F846-43D7-D9FB-F4DE-4722A33D129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7">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3" name="Rectangle 12">
            <a:extLst>
              <a:ext uri="{FF2B5EF4-FFF2-40B4-BE49-F238E27FC236}">
                <a16:creationId xmlns:a16="http://schemas.microsoft.com/office/drawing/2014/main" id="{3B665072-B6DD-4719-35A3-A577B3E57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15" name="Rectangle 14">
            <a:extLst>
              <a:ext uri="{FF2B5EF4-FFF2-40B4-BE49-F238E27FC236}">
                <a16:creationId xmlns:a16="http://schemas.microsoft.com/office/drawing/2014/main" id="{62DF69F6-30B0-5A9B-BA45-0C514A959B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980189BB-18E5-66CA-DC11-767C5F5D33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lide Number Placeholder 2">
            <a:extLst>
              <a:ext uri="{FF2B5EF4-FFF2-40B4-BE49-F238E27FC236}">
                <a16:creationId xmlns:a16="http://schemas.microsoft.com/office/drawing/2014/main" id="{714AFB3C-BCD6-B094-5043-0EF356D15288}"/>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defTabSz="457200">
              <a:spcAft>
                <a:spcPts val="600"/>
              </a:spcAft>
            </a:pPr>
            <a:fld id="{D57F1E4F-1CFF-5643-939E-02111984F565}" type="slidenum">
              <a:rPr lang="en-US" b="0" i="0" kern="1200">
                <a:solidFill>
                  <a:srgbClr val="FFFFFF"/>
                </a:solidFill>
                <a:latin typeface="+mn-lt"/>
                <a:ea typeface="+mn-ea"/>
                <a:cs typeface="+mn-cs"/>
              </a:rPr>
              <a:pPr defTabSz="457200">
                <a:spcAft>
                  <a:spcPts val="600"/>
                </a:spcAft>
              </a:pPr>
              <a:t>18</a:t>
            </a:fld>
            <a:endParaRPr lang="en-US" b="0" i="0" kern="1200">
              <a:solidFill>
                <a:srgbClr val="FFFFFF"/>
              </a:solidFill>
              <a:latin typeface="+mn-lt"/>
              <a:ea typeface="+mn-ea"/>
              <a:cs typeface="+mn-cs"/>
            </a:endParaRPr>
          </a:p>
        </p:txBody>
      </p:sp>
      <p:cxnSp>
        <p:nvCxnSpPr>
          <p:cNvPr id="19" name="Straight Connector 18">
            <a:extLst>
              <a:ext uri="{FF2B5EF4-FFF2-40B4-BE49-F238E27FC236}">
                <a16:creationId xmlns:a16="http://schemas.microsoft.com/office/drawing/2014/main" id="{183D5115-7381-06FA-6454-9F08DC1446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56687" y="1930986"/>
            <a:ext cx="0" cy="3200400"/>
          </a:xfrm>
          <a:prstGeom prst="line">
            <a:avLst/>
          </a:prstGeom>
          <a:ln w="15875" cap="sq">
            <a:solidFill>
              <a:schemeClr val="tx2">
                <a:alpha val="7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7747B8B-0A33-D2B5-ED06-82B3B9F5B7BD}"/>
              </a:ext>
            </a:extLst>
          </p:cNvPr>
          <p:cNvSpPr>
            <a:spLocks noGrp="1"/>
          </p:cNvSpPr>
          <p:nvPr>
            <p:ph type="title"/>
          </p:nvPr>
        </p:nvSpPr>
        <p:spPr>
          <a:xfrm>
            <a:off x="4654295" y="1266958"/>
            <a:ext cx="6808362" cy="4528457"/>
          </a:xfrm>
        </p:spPr>
        <p:txBody>
          <a:bodyPr vert="horz" lIns="91440" tIns="45720" rIns="91440" bIns="45720" rtlCol="0" anchor="ctr">
            <a:normAutofit/>
          </a:bodyPr>
          <a:lstStyle/>
          <a:p>
            <a:r>
              <a:rPr lang="en-US" sz="7200"/>
              <a:t>Test Cases</a:t>
            </a:r>
            <a:endParaRPr lang="en-US" sz="7200" b="0" i="0" kern="1200">
              <a:latin typeface="+mj-lt"/>
            </a:endParaRPr>
          </a:p>
        </p:txBody>
      </p:sp>
    </p:spTree>
    <p:extLst>
      <p:ext uri="{BB962C8B-B14F-4D97-AF65-F5344CB8AC3E}">
        <p14:creationId xmlns:p14="http://schemas.microsoft.com/office/powerpoint/2010/main" val="23332456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5664E-58B3-DFA3-CE59-05FEC37666D3}"/>
              </a:ext>
            </a:extLst>
          </p:cNvPr>
          <p:cNvSpPr>
            <a:spLocks noGrp="1"/>
          </p:cNvSpPr>
          <p:nvPr>
            <p:ph type="title"/>
          </p:nvPr>
        </p:nvSpPr>
        <p:spPr/>
        <p:txBody>
          <a:bodyPr/>
          <a:lstStyle/>
          <a:p>
            <a:r>
              <a:rPr lang="en-US"/>
              <a:t>Test Cases</a:t>
            </a:r>
          </a:p>
        </p:txBody>
      </p:sp>
      <p:sp>
        <p:nvSpPr>
          <p:cNvPr id="3" name="Content Placeholder 2">
            <a:extLst>
              <a:ext uri="{FF2B5EF4-FFF2-40B4-BE49-F238E27FC236}">
                <a16:creationId xmlns:a16="http://schemas.microsoft.com/office/drawing/2014/main" id="{A3AF15A8-0295-E8EB-EAAE-B7CC91801D41}"/>
              </a:ext>
            </a:extLst>
          </p:cNvPr>
          <p:cNvSpPr>
            <a:spLocks noGrp="1"/>
          </p:cNvSpPr>
          <p:nvPr>
            <p:ph idx="1"/>
          </p:nvPr>
        </p:nvSpPr>
        <p:spPr/>
        <p:txBody>
          <a:bodyPr/>
          <a:lstStyle/>
          <a:p>
            <a:pPr algn="l"/>
            <a:r>
              <a:rPr sz="2000"/>
              <a:t>54 test design cards / 54 execution cards</a:t>
            </a:r>
          </a:p>
          <a:p>
            <a:pPr algn="l"/>
            <a:r>
              <a:rPr sz="2000"/>
              <a:t>21 automated tests passing (pytest)</a:t>
            </a:r>
          </a:p>
          <a:p>
            <a:pPr algn="l"/>
            <a:r>
              <a:rPr sz="2000"/>
              <a:t/>
            </a:r>
          </a:p>
          <a:p>
            <a:pPr algn="l"/>
            <a:r>
              <a:rPr sz="2000"/>
              <a:t>Suites:</a:t>
            </a:r>
          </a:p>
          <a:p>
            <a:pPr lvl="1" algn="l"/>
            <a:r>
              <a:rPr sz="1800"/>
              <a:t>Unit — QR decode, parse, config</a:t>
            </a:r>
          </a:p>
          <a:p>
            <a:pPr lvl="1" algn="l"/>
            <a:r>
              <a:rPr sz="1800"/>
              <a:t>Integration — end-to-end workflows, simulation</a:t>
            </a:r>
          </a:p>
          <a:p>
            <a:pPr lvl="1" algn="l"/>
            <a:r>
              <a:rPr sz="1800"/>
              <a:t>System — deployed workstation, MES/ERP, step verification</a:t>
            </a:r>
          </a:p>
          <a:p>
            <a:pPr lvl="1" algn="l"/>
            <a:r>
              <a:rPr sz="1800"/>
              <a:t>Acceptance — operator and supervisor UAT</a:t>
            </a:r>
          </a:p>
        </p:txBody>
      </p:sp>
      <p:sp>
        <p:nvSpPr>
          <p:cNvPr id="4" name="Slide Number Placeholder 3">
            <a:extLst>
              <a:ext uri="{FF2B5EF4-FFF2-40B4-BE49-F238E27FC236}">
                <a16:creationId xmlns:a16="http://schemas.microsoft.com/office/drawing/2014/main" id="{1A0A8362-AC8F-6BCA-DAC3-C94195D81966}"/>
              </a:ext>
            </a:extLst>
          </p:cNvPr>
          <p:cNvSpPr>
            <a:spLocks noGrp="1"/>
          </p:cNvSpPr>
          <p:nvPr>
            <p:ph type="sldNum" sz="quarter" idx="12"/>
          </p:nvPr>
        </p:nvSpPr>
        <p:spPr/>
        <p:txBody>
          <a:bodyPr/>
          <a:lstStyle/>
          <a:p>
            <a:fld id="{D57F1E4F-1CFF-5643-939E-02111984F565}" type="slidenum">
              <a:rPr lang="en-US" smtClean="0"/>
              <a:t>19</a:t>
            </a:fld>
            <a:endParaRPr lang="en-US"/>
          </a:p>
        </p:txBody>
      </p:sp>
    </p:spTree>
    <p:extLst>
      <p:ext uri="{BB962C8B-B14F-4D97-AF65-F5344CB8AC3E}">
        <p14:creationId xmlns:p14="http://schemas.microsoft.com/office/powerpoint/2010/main" val="1840072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57777D2-9FD0-141D-06F7-C8E29463A1E9}"/>
              </a:ext>
            </a:extLst>
          </p:cNvPr>
          <p:cNvSpPr>
            <a:spLocks noGrp="1"/>
          </p:cNvSpPr>
          <p:nvPr>
            <p:ph type="sldNum" sz="quarter" idx="12"/>
          </p:nvPr>
        </p:nvSpPr>
        <p:spPr>
          <a:xfrm>
            <a:off x="10360818" y="103958"/>
            <a:ext cx="839788" cy="474023"/>
          </a:xfrm>
        </p:spPr>
        <p:txBody>
          <a:bodyPr>
            <a:normAutofit fontScale="92500" lnSpcReduction="10000"/>
          </a:bodyPr>
          <a:lstStyle/>
          <a:p>
            <a:pPr>
              <a:spcAft>
                <a:spcPts val="600"/>
              </a:spcAft>
            </a:pPr>
            <a:fld id="{D57F1E4F-1CFF-5643-939E-02111984F565}" type="slidenum">
              <a:rPr lang="en-US">
                <a:solidFill>
                  <a:srgbClr val="FFFFFF"/>
                </a:solidFill>
              </a:rPr>
              <a:pPr>
                <a:spcAft>
                  <a:spcPts val="600"/>
                </a:spcAft>
              </a:pPr>
              <a:t>20</a:t>
            </a:fld>
            <a:endParaRPr lang="en-US">
              <a:solidFill>
                <a:srgbClr val="FFFFFF"/>
              </a:solidFill>
            </a:endParaRPr>
          </a:p>
        </p:txBody>
      </p:sp>
      <p:sp>
        <p:nvSpPr>
          <p:cNvPr id="11" name="TextBox 10"/>
          <p:cNvSpPr txBox="1"/>
          <p:nvPr/>
        </p:nvSpPr>
        <p:spPr>
          <a:xfrm>
            <a:off x="457200" y="274320"/>
            <a:ext cx="7772400" cy="731520"/>
          </a:xfrm>
          <a:prstGeom prst="rect">
            <a:avLst/>
          </a:prstGeom>
          <a:noFill/>
        </p:spPr>
        <p:txBody>
          <a:bodyPr wrap="square">
            <a:spAutoFit/>
          </a:bodyPr>
          <a:lstStyle/>
          <a:p>
            <a:pPr algn="l"/>
            <a:r>
              <a:rPr sz="2400" b="1"/>
              <a:t>UI Design</a:t>
            </a:r>
          </a:p>
        </p:txBody>
      </p:sp>
      <p:sp>
        <p:nvSpPr>
          <p:cNvPr id="12" name="TextBox 11"/>
          <p:cNvSpPr txBox="1"/>
          <p:nvPr/>
        </p:nvSpPr>
        <p:spPr>
          <a:xfrm>
            <a:off x="457200" y="1097280"/>
            <a:ext cx="7772400" cy="5303520"/>
          </a:xfrm>
          <a:prstGeom prst="rect">
            <a:avLst/>
          </a:prstGeom>
          <a:noFill/>
        </p:spPr>
        <p:txBody>
          <a:bodyPr wrap="square">
            <a:spAutoFit/>
          </a:bodyPr>
          <a:lstStyle/>
          <a:p>
            <a:pPr algn="l"/>
            <a:r>
              <a:rPr sz="1100"/>
              <a:t>Training Mode (PySide6 — 3 phases):</a:t>
            </a:r>
          </a:p>
          <a:p>
            <a:pPr lvl="1" algn="l"/>
            <a:r>
              <a:rPr sz="1100"/>
              <a:t>1. Record: Live camera capture or video file upload</a:t>
            </a:r>
          </a:p>
          <a:p>
            <a:pPr lvl="1" algn="l"/>
            <a:r>
              <a:rPr sz="1100"/>
              <a:t>2. Review: Draggable segment list with thumbnails, reorder, rename, delete</a:t>
            </a:r>
          </a:p>
          <a:p>
            <a:pPr lvl="1" algn="l"/>
            <a:r>
              <a:rPr sz="1100"/>
              <a:t>3. Augment: Add more videos to already-trained steps, merge embeddings</a:t>
            </a:r>
          </a:p>
          <a:p>
            <a:pPr algn="l"/>
            <a:r>
              <a:rPr sz="1100"/>
              <a:t/>
            </a:r>
          </a:p>
          <a:p>
            <a:pPr algn="l"/>
            <a:r>
              <a:rPr sz="1100"/>
              <a:t>Operation Mode (PySide6):</a:t>
            </a:r>
          </a:p>
          <a:p>
            <a:pPr lvl="1" algn="l"/>
            <a:r>
              <a:rPr sz="1100"/>
              <a:t>Progress bar showing Step X / Y completion</a:t>
            </a:r>
          </a:p>
          <a:p>
            <a:pPr lvl="1" algn="l"/>
            <a:r>
              <a:rPr sz="1100"/>
              <a:t>Live video feed with annotated state overlay</a:t>
            </a:r>
          </a:p>
          <a:p>
            <a:pPr lvl="1" algn="l"/>
            <a:r>
              <a:rPr sz="1100"/>
              <a:t>Real-time status bar: state + confidence percentage</a:t>
            </a:r>
          </a:p>
          <a:p>
            <a:pPr lvl="1" algn="l"/>
            <a:r>
              <a:rPr sz="1100"/>
              <a:t>Start / Stop / Restart controls</a:t>
            </a:r>
          </a:p>
          <a:p>
            <a:pPr algn="l"/>
            <a:r>
              <a:rPr sz="1100"/>
              <a:t/>
            </a:r>
          </a:p>
          <a:p>
            <a:pPr algn="l"/>
            <a:r>
              <a:rPr sz="1100"/>
              <a:t>[INSERT SCREENSHOTS OF BOTH MODES HERE]</a:t>
            </a:r>
          </a:p>
        </p:txBody>
      </p:sp>
    </p:spTree>
    <p:extLst>
      <p:ext uri="{BB962C8B-B14F-4D97-AF65-F5344CB8AC3E}">
        <p14:creationId xmlns:p14="http://schemas.microsoft.com/office/powerpoint/2010/main" val="30691472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AB40F66D-63DF-2B2F-43F9-B4320826E34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DE61463-8A33-D03C-13A4-24D2B243EB9A}"/>
              </a:ext>
            </a:extLst>
          </p:cNvPr>
          <p:cNvSpPr>
            <a:spLocks noGrp="1"/>
          </p:cNvSpPr>
          <p:nvPr>
            <p:ph type="sldNum" sz="quarter" idx="12"/>
          </p:nvPr>
        </p:nvSpPr>
        <p:spPr>
          <a:xfrm>
            <a:off x="10361612" y="-196187"/>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21</a:t>
            </a:fld>
            <a:endParaRPr lang="en-US">
              <a:solidFill>
                <a:srgbClr val="FFFFFF"/>
              </a:solidFill>
            </a:endParaRPr>
          </a:p>
        </p:txBody>
      </p:sp>
      <p:sp>
        <p:nvSpPr>
          <p:cNvPr id="11" name="TextBox 10"/>
          <p:cNvSpPr txBox="1"/>
          <p:nvPr/>
        </p:nvSpPr>
        <p:spPr>
          <a:xfrm>
            <a:off x="457200" y="274320"/>
            <a:ext cx="7772400" cy="731520"/>
          </a:xfrm>
          <a:prstGeom prst="rect">
            <a:avLst/>
          </a:prstGeom>
          <a:noFill/>
        </p:spPr>
        <p:txBody>
          <a:bodyPr wrap="square">
            <a:spAutoFit/>
          </a:bodyPr>
          <a:lstStyle/>
          <a:p>
            <a:pPr algn="l"/>
            <a:r>
              <a:rPr sz="2400" b="1"/>
              <a:t>Challenges &amp; Action Plans</a:t>
            </a:r>
          </a:p>
        </p:txBody>
      </p:sp>
      <p:sp>
        <p:nvSpPr>
          <p:cNvPr id="12" name="TextBox 11"/>
          <p:cNvSpPr txBox="1"/>
          <p:nvPr/>
        </p:nvSpPr>
        <p:spPr>
          <a:xfrm>
            <a:off x="457200" y="1097280"/>
            <a:ext cx="7772400" cy="5303520"/>
          </a:xfrm>
          <a:prstGeom prst="rect">
            <a:avLst/>
          </a:prstGeom>
          <a:noFill/>
        </p:spPr>
        <p:txBody>
          <a:bodyPr wrap="square">
            <a:spAutoFit/>
          </a:bodyPr>
          <a:lstStyle/>
          <a:p>
            <a:pPr algn="l"/>
            <a:r>
              <a:rPr sz="1100"/>
              <a:t>Hard-coded hyperparameters — threshold, window, confidence have no validation</a:t>
            </a:r>
          </a:p>
          <a:p>
            <a:pPr lvl="1" algn="l"/>
            <a:r>
              <a:rPr sz="1100"/>
              <a:t>→ Move to config.yaml with ranges; add argparse validators</a:t>
            </a:r>
          </a:p>
          <a:p>
            <a:pPr algn="l"/>
            <a:r>
              <a:rPr sz="1100"/>
              <a:t/>
            </a:r>
          </a:p>
          <a:p>
            <a:pPr algn="l"/>
            <a:r>
              <a:rPr sz="1100"/>
              <a:t>Silent QR exception handling — camera failures look like empty frames</a:t>
            </a:r>
          </a:p>
          <a:p>
            <a:pPr lvl="1" algn="l"/>
            <a:r>
              <a:rPr sz="1100"/>
              <a:t>→ Add structured logging before returning empty results</a:t>
            </a:r>
          </a:p>
          <a:p>
            <a:pPr algn="l"/>
            <a:r>
              <a:rPr sz="1100"/>
              <a:t/>
            </a:r>
          </a:p>
          <a:p>
            <a:pPr algn="l"/>
            <a:r>
              <a:rPr sz="1100"/>
              <a:t>No camera recovery — USB disconnect forces full monitoring restart</a:t>
            </a:r>
          </a:p>
          <a:p>
            <a:pPr lvl="1" algn="l"/>
            <a:r>
              <a:rPr sz="1100"/>
              <a:t>→ Implement exponential-backoff retry with reconnecting indicator</a:t>
            </a:r>
          </a:p>
          <a:p>
            <a:pPr algn="l"/>
            <a:r>
              <a:rPr sz="1100"/>
              <a:t/>
            </a:r>
          </a:p>
          <a:p>
            <a:pPr algn="l"/>
            <a:r>
              <a:rPr sz="1100"/>
              <a:t>Missing deployment validation — no pre-flight check for workstations</a:t>
            </a:r>
          </a:p>
          <a:p>
            <a:pPr lvl="1" algn="l"/>
            <a:r>
              <a:rPr sz="1100"/>
              <a:t>→ Create tools/validate_deployment.py for configs, camera, model, I/O</a:t>
            </a:r>
          </a:p>
          <a:p>
            <a:pPr algn="l"/>
            <a:r>
              <a:rPr sz="1100"/>
              <a:t/>
            </a:r>
          </a:p>
          <a:p>
            <a:pPr algn="l"/>
            <a:r>
              <a:rPr sz="1100"/>
              <a:t>Incomplete audit trail — error states not logged structurally</a:t>
            </a:r>
          </a:p>
          <a:p>
            <a:pPr lvl="1" algn="l"/>
            <a:r>
              <a:rPr sz="1100"/>
              <a:t>→ Add errors[] array to run-record schema with typed timestamps</a:t>
            </a:r>
          </a:p>
        </p:txBody>
      </p:sp>
    </p:spTree>
    <p:extLst>
      <p:ext uri="{BB962C8B-B14F-4D97-AF65-F5344CB8AC3E}">
        <p14:creationId xmlns:p14="http://schemas.microsoft.com/office/powerpoint/2010/main" val="34301039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6B296BC3-E35A-EE8D-1C05-B40130F4A0F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68A3230-D87A-2DE3-C1A5-292929ED4C78}"/>
              </a:ext>
            </a:extLst>
          </p:cNvPr>
          <p:cNvSpPr>
            <a:spLocks noGrp="1"/>
          </p:cNvSpPr>
          <p:nvPr>
            <p:ph type="sldNum" sz="quarter" idx="12"/>
          </p:nvPr>
        </p:nvSpPr>
        <p:spPr>
          <a:xfrm>
            <a:off x="10361612" y="-131570"/>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22</a:t>
            </a:fld>
            <a:endParaRPr lang="en-US">
              <a:solidFill>
                <a:srgbClr val="FFFFFF"/>
              </a:solidFill>
            </a:endParaRPr>
          </a:p>
        </p:txBody>
      </p:sp>
      <p:sp>
        <p:nvSpPr>
          <p:cNvPr id="11" name="TextBox 10"/>
          <p:cNvSpPr txBox="1"/>
          <p:nvPr/>
        </p:nvSpPr>
        <p:spPr>
          <a:xfrm>
            <a:off x="457200" y="274320"/>
            <a:ext cx="7772400" cy="731520"/>
          </a:xfrm>
          <a:prstGeom prst="rect">
            <a:avLst/>
          </a:prstGeom>
          <a:noFill/>
        </p:spPr>
        <p:txBody>
          <a:bodyPr wrap="square">
            <a:spAutoFit/>
          </a:bodyPr>
          <a:lstStyle/>
          <a:p>
            <a:pPr algn="l"/>
            <a:r>
              <a:rPr sz="2400" b="1"/>
              <a:t>Algorithm: DINOv2 Embedding Pipeline</a:t>
            </a:r>
          </a:p>
        </p:txBody>
      </p:sp>
      <p:sp>
        <p:nvSpPr>
          <p:cNvPr id="12" name="TextBox 11"/>
          <p:cNvSpPr txBox="1"/>
          <p:nvPr/>
        </p:nvSpPr>
        <p:spPr>
          <a:xfrm>
            <a:off x="457200" y="1097280"/>
            <a:ext cx="7772400" cy="5303520"/>
          </a:xfrm>
          <a:prstGeom prst="rect">
            <a:avLst/>
          </a:prstGeom>
          <a:noFill/>
        </p:spPr>
        <p:txBody>
          <a:bodyPr wrap="square">
            <a:spAutoFit/>
          </a:bodyPr>
          <a:lstStyle/>
          <a:p>
            <a:pPr algn="l"/>
            <a:r>
              <a:rPr sz="1100"/>
              <a:t>Pseudocode:</a:t>
            </a:r>
          </a:p>
          <a:p>
            <a:pPr lvl="1" algn="l"/>
            <a:r>
              <a:rPr sz="1100"/>
              <a:t>function GET_EMBEDDING(frame):</a:t>
            </a:r>
          </a:p>
          <a:p>
            <a:pPr lvl="1" algn="l"/>
            <a:r>
              <a:rPr sz="1100"/>
              <a:t>    img ← resize(frame, 256) → center_crop(224)</a:t>
            </a:r>
          </a:p>
          <a:p>
            <a:pPr lvl="1" algn="l"/>
            <a:r>
              <a:rPr sz="1100"/>
              <a:t>    tensor ← normalize(img, ImageNet μ/σ)</a:t>
            </a:r>
          </a:p>
          <a:p>
            <a:pPr lvl="1" algn="l"/>
            <a:r>
              <a:rPr sz="1100"/>
              <a:t>    embedding ← DINOv2_ViTS14(tensor)   // 384-dim vector</a:t>
            </a:r>
          </a:p>
          <a:p>
            <a:pPr lvl="1" algn="l"/>
            <a:r>
              <a:rPr sz="1100"/>
              <a:t>    return L2_normalize(embedding)</a:t>
            </a:r>
          </a:p>
          <a:p>
            <a:pPr algn="l"/>
            <a:r>
              <a:rPr sz="1100"/>
              <a:t/>
            </a:r>
          </a:p>
          <a:p>
            <a:pPr lvl="1" algn="l"/>
            <a:r>
              <a:rPr sz="1100"/>
              <a:t>function TRAIN_STEP(frames[1..n]):</a:t>
            </a:r>
          </a:p>
          <a:p>
            <a:pPr lvl="1" algn="l"/>
            <a:r>
              <a:rPr sz="1100"/>
              <a:t>    for each frame_i: e_i ← GET_EMBEDDING(frame_i)</a:t>
            </a:r>
          </a:p>
          <a:p>
            <a:pPr lvl="1" algn="l"/>
            <a:r>
              <a:rPr sz="1100"/>
              <a:t>    centroid ← L2_normalize( mean(e_1, ..., e_n) )</a:t>
            </a:r>
          </a:p>
          <a:p>
            <a:pPr lvl="1" algn="l"/>
            <a:r>
              <a:rPr sz="1100"/>
              <a:t>    return centroid</a:t>
            </a:r>
          </a:p>
          <a:p>
            <a:pPr algn="l"/>
            <a:r>
              <a:rPr sz="1100"/>
              <a:t/>
            </a:r>
          </a:p>
          <a:p>
            <a:pPr algn="l"/>
            <a:r>
              <a:rPr sz="1100"/>
              <a:t>Complexity:</a:t>
            </a:r>
          </a:p>
          <a:p>
            <a:pPr lvl="1" algn="l"/>
            <a:r>
              <a:rPr sz="1100"/>
              <a:t>Time: O(d) per frame inference (d=384). O(S·n·d) to train S steps, n frames each.</a:t>
            </a:r>
          </a:p>
          <a:p>
            <a:pPr lvl="1" algn="l"/>
            <a:r>
              <a:rPr sz="1100"/>
              <a:t>Space: O(S·d) to store all step centroids.</a:t>
            </a:r>
          </a:p>
        </p:txBody>
      </p:sp>
    </p:spTree>
    <p:extLst>
      <p:ext uri="{BB962C8B-B14F-4D97-AF65-F5344CB8AC3E}">
        <p14:creationId xmlns:p14="http://schemas.microsoft.com/office/powerpoint/2010/main" val="2431814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7BCBFACB-0C91-EEA6-7D4A-99C60388153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9D0A2EA-60E0-3886-D1B8-EA5FCD2D25A1}"/>
              </a:ext>
            </a:extLst>
          </p:cNvPr>
          <p:cNvSpPr>
            <a:spLocks noGrp="1"/>
          </p:cNvSpPr>
          <p:nvPr>
            <p:ph type="sldNum" sz="quarter" idx="12"/>
          </p:nvPr>
        </p:nvSpPr>
        <p:spPr>
          <a:xfrm>
            <a:off x="10361612" y="-198553"/>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23</a:t>
            </a:fld>
            <a:endParaRPr lang="en-US">
              <a:solidFill>
                <a:srgbClr val="FFFFFF"/>
              </a:solidFill>
            </a:endParaRPr>
          </a:p>
        </p:txBody>
      </p:sp>
      <p:sp>
        <p:nvSpPr>
          <p:cNvPr id="18" name="TextBox 17"/>
          <p:cNvSpPr txBox="1"/>
          <p:nvPr/>
        </p:nvSpPr>
        <p:spPr>
          <a:xfrm>
            <a:off x="457200" y="274320"/>
            <a:ext cx="7772400" cy="731520"/>
          </a:xfrm>
          <a:prstGeom prst="rect">
            <a:avLst/>
          </a:prstGeom>
          <a:noFill/>
        </p:spPr>
        <p:txBody>
          <a:bodyPr wrap="square">
            <a:spAutoFit/>
          </a:bodyPr>
          <a:lstStyle/>
          <a:p>
            <a:pPr algn="l"/>
            <a:r>
              <a:rPr sz="2400" b="1"/>
              <a:t>Algorithm: Sliding-Window Verification</a:t>
            </a:r>
          </a:p>
        </p:txBody>
      </p:sp>
      <p:sp>
        <p:nvSpPr>
          <p:cNvPr id="19" name="TextBox 18"/>
          <p:cNvSpPr txBox="1"/>
          <p:nvPr/>
        </p:nvSpPr>
        <p:spPr>
          <a:xfrm>
            <a:off x="457200" y="1097280"/>
            <a:ext cx="7772400" cy="5303520"/>
          </a:xfrm>
          <a:prstGeom prst="rect">
            <a:avLst/>
          </a:prstGeom>
          <a:noFill/>
        </p:spPr>
        <p:txBody>
          <a:bodyPr wrap="square">
            <a:spAutoFit/>
          </a:bodyPr>
          <a:lstStyle/>
          <a:p>
            <a:pPr algn="l"/>
            <a:r>
              <a:rPr sz="1100"/>
              <a:t>Pseudocode:</a:t>
            </a:r>
          </a:p>
          <a:p>
            <a:pPr lvl="1" algn="l"/>
            <a:r>
              <a:rPr sz="1100"/>
              <a:t>function VERIFY(embedding, steps, window, threshold):</a:t>
            </a:r>
          </a:p>
          <a:p>
            <a:pPr lvl="1" algn="l"/>
            <a:r>
              <a:rPr sz="1100"/>
              <a:t>    best_idx ← argmax_s( dot(embedding, steps[s].centroid) )</a:t>
            </a:r>
          </a:p>
          <a:p>
            <a:pPr lvl="1" algn="l"/>
            <a:r>
              <a:rPr sz="1100"/>
              <a:t>    if similarity(best_idx) &lt; threshold: return IDLE</a:t>
            </a:r>
          </a:p>
          <a:p>
            <a:pPr lvl="1" algn="l"/>
            <a:r>
              <a:rPr sz="1100"/>
              <a:t>    window.append( (now(), best_idx) )</a:t>
            </a:r>
          </a:p>
          <a:p>
            <a:pPr lvl="1" algn="l"/>
            <a:r>
              <a:rPr sz="1100"/>
              <a:t>    prune entries older than window_duration</a:t>
            </a:r>
          </a:p>
          <a:p>
            <a:pPr lvl="1" algn="l"/>
            <a:r>
              <a:rPr sz="1100"/>
              <a:t>    votes ← count(window, best_idx) / len(window)</a:t>
            </a:r>
          </a:p>
          <a:p>
            <a:pPr lvl="1" algn="l"/>
            <a:r>
              <a:rPr sz="1100"/>
              <a:t>    if votes &gt;= required_fraction:</a:t>
            </a:r>
          </a:p>
          <a:p>
            <a:pPr lvl="1" algn="l"/>
            <a:r>
              <a:rPr sz="1100"/>
              <a:t>        if best_idx == current_step: return CONFIRMED</a:t>
            </a:r>
          </a:p>
          <a:p>
            <a:pPr lvl="1" algn="l"/>
            <a:r>
              <a:rPr sz="1100"/>
              <a:t>        if best_idx &lt; current_step: return WRONG_ORDER</a:t>
            </a:r>
          </a:p>
          <a:p>
            <a:pPr lvl="1" algn="l"/>
            <a:r>
              <a:rPr sz="1100"/>
              <a:t>        if best_idx &gt; current_step: return SKIPPED</a:t>
            </a:r>
          </a:p>
          <a:p>
            <a:pPr lvl="1" algn="l"/>
            <a:r>
              <a:rPr sz="1100"/>
              <a:t>    return CORRECT_STEP  // still accumulating</a:t>
            </a:r>
          </a:p>
          <a:p>
            <a:pPr algn="l"/>
            <a:r>
              <a:rPr sz="1100"/>
              <a:t/>
            </a:r>
          </a:p>
          <a:p>
            <a:pPr algn="l"/>
            <a:r>
              <a:rPr sz="1100"/>
              <a:t>Complexity:</a:t>
            </a:r>
          </a:p>
          <a:p>
            <a:pPr lvl="1" algn="l"/>
            <a:r>
              <a:rPr sz="1100"/>
              <a:t>Time: O(S) per frame for similarity. O(W) for window pruning. Total: O(S + W).</a:t>
            </a:r>
          </a:p>
          <a:p>
            <a:pPr lvl="1" algn="l"/>
            <a:r>
              <a:rPr sz="1100"/>
              <a:t>Space: O(W) for sliding window entries.</a:t>
            </a:r>
          </a:p>
        </p:txBody>
      </p:sp>
    </p:spTree>
    <p:extLst>
      <p:ext uri="{BB962C8B-B14F-4D97-AF65-F5344CB8AC3E}">
        <p14:creationId xmlns:p14="http://schemas.microsoft.com/office/powerpoint/2010/main" val="17288640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A3E4F62D-112A-792E-993D-DB2378063AB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4D43DED-A9DF-72A3-E199-D36DFA2F2E72}"/>
              </a:ext>
            </a:extLst>
          </p:cNvPr>
          <p:cNvSpPr>
            <a:spLocks noGrp="1"/>
          </p:cNvSpPr>
          <p:nvPr>
            <p:ph type="sldNum" sz="quarter" idx="12"/>
          </p:nvPr>
        </p:nvSpPr>
        <p:spPr>
          <a:xfrm>
            <a:off x="10361612" y="-196187"/>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24</a:t>
            </a:fld>
            <a:endParaRPr lang="en-US">
              <a:solidFill>
                <a:srgbClr val="FFFFFF"/>
              </a:solidFill>
            </a:endParaRPr>
          </a:p>
        </p:txBody>
      </p:sp>
      <p:sp>
        <p:nvSpPr>
          <p:cNvPr id="18" name="TextBox 17"/>
          <p:cNvSpPr txBox="1"/>
          <p:nvPr/>
        </p:nvSpPr>
        <p:spPr>
          <a:xfrm>
            <a:off x="457200" y="274320"/>
            <a:ext cx="7772400" cy="731520"/>
          </a:xfrm>
          <a:prstGeom prst="rect">
            <a:avLst/>
          </a:prstGeom>
          <a:noFill/>
        </p:spPr>
        <p:txBody>
          <a:bodyPr wrap="square">
            <a:spAutoFit/>
          </a:bodyPr>
          <a:lstStyle/>
          <a:p>
            <a:pPr algn="l"/>
            <a:r>
              <a:rPr sz="2400" b="1"/>
              <a:t>Lessons Learned</a:t>
            </a:r>
          </a:p>
        </p:txBody>
      </p:sp>
      <p:sp>
        <p:nvSpPr>
          <p:cNvPr id="19" name="TextBox 18"/>
          <p:cNvSpPr txBox="1"/>
          <p:nvPr/>
        </p:nvSpPr>
        <p:spPr>
          <a:xfrm>
            <a:off x="457200" y="1097280"/>
            <a:ext cx="7772400" cy="5303520"/>
          </a:xfrm>
          <a:prstGeom prst="rect">
            <a:avLst/>
          </a:prstGeom>
          <a:noFill/>
        </p:spPr>
        <p:txBody>
          <a:bodyPr wrap="square">
            <a:spAutoFit/>
          </a:bodyPr>
          <a:lstStyle/>
          <a:p>
            <a:pPr algn="l"/>
            <a:r>
              <a:rPr sz="1100"/>
              <a:t>Start modular — our monolithic Streamlit app had to be fully rewritten</a:t>
            </a:r>
          </a:p>
          <a:p>
            <a:pPr lvl="1" algn="l"/>
            <a:r>
              <a:rPr sz="1100"/>
              <a:t>when we hit threading limitations. A modular architecture from the</a:t>
            </a:r>
          </a:p>
          <a:p>
            <a:pPr lvl="1" algn="l"/>
            <a:r>
              <a:rPr sz="1100"/>
              <a:t>start would have saved weeks of refactoring.</a:t>
            </a:r>
          </a:p>
          <a:p>
            <a:pPr algn="l"/>
            <a:r>
              <a:rPr sz="1100"/>
              <a:t/>
            </a:r>
          </a:p>
          <a:p>
            <a:pPr algn="l"/>
            <a:r>
              <a:rPr sz="1100"/>
              <a:t>Mock data ≠ real conditions — controlled test images worked perfectly,</a:t>
            </a:r>
          </a:p>
          <a:p>
            <a:pPr lvl="1" algn="l"/>
            <a:r>
              <a:rPr sz="1100"/>
              <a:t>but real factory lighting, camera angles, and partial occlusion</a:t>
            </a:r>
          </a:p>
          <a:p>
            <a:pPr lvl="1" algn="l"/>
            <a:r>
              <a:rPr sz="1100"/>
              <a:t>caused unexpected failures during on-site testing.</a:t>
            </a:r>
          </a:p>
          <a:p>
            <a:pPr algn="l"/>
            <a:r>
              <a:rPr sz="1100"/>
              <a:t/>
            </a:r>
          </a:p>
          <a:p>
            <a:pPr algn="l"/>
            <a:r>
              <a:rPr sz="1100"/>
              <a:t>Test early, trace everything — writing test cases late revealed gaps</a:t>
            </a:r>
          </a:p>
          <a:p>
            <a:pPr lvl="1" algn="l"/>
            <a:r>
              <a:rPr sz="1100"/>
              <a:t>in requirement coverage. Building traceability from day one keeps</a:t>
            </a:r>
          </a:p>
          <a:p>
            <a:pPr lvl="1" algn="l"/>
            <a:r>
              <a:rPr sz="1100"/>
              <a:t>the project honest and auditable.</a:t>
            </a:r>
          </a:p>
          <a:p>
            <a:pPr algn="l"/>
            <a:r>
              <a:rPr sz="1100"/>
              <a:t/>
            </a:r>
          </a:p>
          <a:p>
            <a:pPr algn="l"/>
            <a:r>
              <a:rPr sz="1100"/>
              <a:t>Communicate proactively — information flows through multiple layers</a:t>
            </a:r>
          </a:p>
          <a:p>
            <a:pPr lvl="1" algn="l"/>
            <a:r>
              <a:rPr sz="1100"/>
              <a:t>(manufacturer → KMD → AIBI → team). We learned to ask specific</a:t>
            </a:r>
          </a:p>
          <a:p>
            <a:pPr lvl="1" algn="l"/>
            <a:r>
              <a:rPr sz="1100"/>
              <a:t>questions early rather than wait for answers to trickle down.</a:t>
            </a:r>
          </a:p>
        </p:txBody>
      </p:sp>
    </p:spTree>
    <p:extLst>
      <p:ext uri="{BB962C8B-B14F-4D97-AF65-F5344CB8AC3E}">
        <p14:creationId xmlns:p14="http://schemas.microsoft.com/office/powerpoint/2010/main" val="41924535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70472482-984F-4DBD-CD5A-6F7EA49C3B1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DEEA21-B87C-6E50-8A88-F854186CA64D}"/>
              </a:ext>
            </a:extLst>
          </p:cNvPr>
          <p:cNvSpPr>
            <a:spLocks noGrp="1"/>
          </p:cNvSpPr>
          <p:nvPr>
            <p:ph type="sldNum" sz="quarter" idx="12"/>
          </p:nvPr>
        </p:nvSpPr>
        <p:spPr>
          <a:xfrm>
            <a:off x="10361612" y="-178410"/>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25</a:t>
            </a:fld>
            <a:endParaRPr lang="en-US">
              <a:solidFill>
                <a:srgbClr val="FFFFFF"/>
              </a:solidFill>
            </a:endParaRPr>
          </a:p>
        </p:txBody>
      </p:sp>
      <p:sp>
        <p:nvSpPr>
          <p:cNvPr id="12" name="TextBox 11"/>
          <p:cNvSpPr txBox="1"/>
          <p:nvPr/>
        </p:nvSpPr>
        <p:spPr>
          <a:xfrm>
            <a:off x="457200" y="274320"/>
            <a:ext cx="7772400" cy="731520"/>
          </a:xfrm>
          <a:prstGeom prst="rect">
            <a:avLst/>
          </a:prstGeom>
          <a:noFill/>
        </p:spPr>
        <p:txBody>
          <a:bodyPr wrap="square">
            <a:spAutoFit/>
          </a:bodyPr>
          <a:lstStyle/>
          <a:p>
            <a:pPr algn="l"/>
            <a:r>
              <a:rPr sz="2400" b="1"/>
              <a:t>Skills Learned</a:t>
            </a:r>
          </a:p>
        </p:txBody>
      </p:sp>
      <p:sp>
        <p:nvSpPr>
          <p:cNvPr id="13" name="TextBox 12"/>
          <p:cNvSpPr txBox="1"/>
          <p:nvPr/>
        </p:nvSpPr>
        <p:spPr>
          <a:xfrm>
            <a:off x="457200" y="1097280"/>
            <a:ext cx="7772400" cy="5303520"/>
          </a:xfrm>
          <a:prstGeom prst="rect">
            <a:avLst/>
          </a:prstGeom>
          <a:noFill/>
        </p:spPr>
        <p:txBody>
          <a:bodyPr wrap="square">
            <a:spAutoFit/>
          </a:bodyPr>
          <a:lstStyle/>
          <a:p>
            <a:pPr algn="l"/>
            <a:r>
              <a:rPr sz="1100"/>
              <a:t>Deep learning deployment</a:t>
            </a:r>
          </a:p>
          <a:p>
            <a:pPr lvl="1" algn="l"/>
            <a:r>
              <a:rPr sz="1100"/>
              <a:t>Loading, caching, and optimizing DINOv2 for real-time inference</a:t>
            </a:r>
          </a:p>
          <a:p>
            <a:pPr lvl="1" algn="l"/>
            <a:r>
              <a:rPr sz="1100"/>
              <a:t>on edge hardware — directly applicable to production ML systems</a:t>
            </a:r>
          </a:p>
          <a:p>
            <a:pPr algn="l"/>
            <a:r>
              <a:rPr sz="1100"/>
              <a:t/>
            </a:r>
          </a:p>
          <a:p>
            <a:pPr algn="l"/>
            <a:r>
              <a:rPr sz="1100"/>
              <a:t>Qt / PySide6</a:t>
            </a:r>
          </a:p>
          <a:p>
            <a:pPr lvl="1" algn="l"/>
            <a:r>
              <a:rPr sz="1100"/>
              <a:t>Building multithreaded desktop apps with signal/slot architecture,</a:t>
            </a:r>
          </a:p>
          <a:p>
            <a:pPr lvl="1" algn="l"/>
            <a:r>
              <a:rPr sz="1100"/>
              <a:t>threaded camera workers, and responsive UIs</a:t>
            </a:r>
          </a:p>
          <a:p>
            <a:pPr algn="l"/>
            <a:r>
              <a:rPr sz="1100"/>
              <a:t/>
            </a:r>
          </a:p>
          <a:p>
            <a:pPr algn="l"/>
            <a:r>
              <a:rPr sz="1100"/>
              <a:t>Computer vision pipelines</a:t>
            </a:r>
          </a:p>
          <a:p>
            <a:pPr lvl="1" algn="l"/>
            <a:r>
              <a:rPr sz="1100"/>
              <a:t>OpenCV preprocessing, DINOv2 embedding extraction, cosine similarity</a:t>
            </a:r>
          </a:p>
          <a:p>
            <a:pPr lvl="1" algn="l"/>
            <a:r>
              <a:rPr sz="1100"/>
              <a:t>matching, and sliding-window consensus — end-to-end CV system design</a:t>
            </a:r>
          </a:p>
          <a:p>
            <a:pPr algn="l"/>
            <a:r>
              <a:rPr sz="1100"/>
              <a:t/>
            </a:r>
          </a:p>
          <a:p>
            <a:pPr algn="l"/>
            <a:r>
              <a:rPr sz="1100"/>
              <a:t>Requirements engineering</a:t>
            </a:r>
          </a:p>
          <a:p>
            <a:pPr lvl="1" algn="l"/>
            <a:r>
              <a:rPr sz="1100"/>
              <a:t>Full traceability: user needs → system requirements → use cases →</a:t>
            </a:r>
          </a:p>
          <a:p>
            <a:pPr lvl="1" algn="l"/>
            <a:r>
              <a:rPr sz="1100"/>
              <a:t>test cases → execution reports — a discipline for future roles</a:t>
            </a:r>
          </a:p>
        </p:txBody>
      </p:sp>
    </p:spTree>
    <p:extLst>
      <p:ext uri="{BB962C8B-B14F-4D97-AF65-F5344CB8AC3E}">
        <p14:creationId xmlns:p14="http://schemas.microsoft.com/office/powerpoint/2010/main" val="348523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C8EE8C7E-9297-BFF7-D157-EB81AA71E45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4280AA5-ECC8-F5B3-08E0-C08A4E4A8AAA}"/>
              </a:ext>
            </a:extLst>
          </p:cNvPr>
          <p:cNvSpPr>
            <a:spLocks noGrp="1"/>
          </p:cNvSpPr>
          <p:nvPr>
            <p:ph type="sldNum" sz="quarter" idx="12"/>
          </p:nvPr>
        </p:nvSpPr>
        <p:spPr>
          <a:xfrm>
            <a:off x="10361612" y="-191589"/>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26</a:t>
            </a:fld>
            <a:endParaRPr lang="en-US">
              <a:solidFill>
                <a:srgbClr val="FFFFFF"/>
              </a:solidFill>
            </a:endParaRPr>
          </a:p>
        </p:txBody>
      </p:sp>
      <p:sp>
        <p:nvSpPr>
          <p:cNvPr id="11" name="TextBox 10"/>
          <p:cNvSpPr txBox="1"/>
          <p:nvPr/>
        </p:nvSpPr>
        <p:spPr>
          <a:xfrm>
            <a:off x="457200" y="274320"/>
            <a:ext cx="7772400" cy="731520"/>
          </a:xfrm>
          <a:prstGeom prst="rect">
            <a:avLst/>
          </a:prstGeom>
          <a:noFill/>
        </p:spPr>
        <p:txBody>
          <a:bodyPr wrap="square">
            <a:spAutoFit/>
          </a:bodyPr>
          <a:lstStyle/>
          <a:p>
            <a:pPr algn="l"/>
            <a:r>
              <a:rPr sz="2400" b="1"/>
              <a:t>Requirements Satisfaction</a:t>
            </a:r>
          </a:p>
        </p:txBody>
      </p:sp>
      <p:sp>
        <p:nvSpPr>
          <p:cNvPr id="12" name="TextBox 11"/>
          <p:cNvSpPr txBox="1"/>
          <p:nvPr/>
        </p:nvSpPr>
        <p:spPr>
          <a:xfrm>
            <a:off x="457200" y="1097280"/>
            <a:ext cx="7772400" cy="5303520"/>
          </a:xfrm>
          <a:prstGeom prst="rect">
            <a:avLst/>
          </a:prstGeom>
          <a:noFill/>
        </p:spPr>
        <p:txBody>
          <a:bodyPr wrap="square">
            <a:spAutoFit/>
          </a:bodyPr>
          <a:lstStyle/>
          <a:p>
            <a:pPr algn="l"/>
            <a:r>
              <a:rPr sz="1100"/>
              <a:t>QR Scanning (Part &amp; Material Tracking):</a:t>
            </a:r>
          </a:p>
          <a:p>
            <a:pPr lvl="1" algn="l"/>
            <a:r>
              <a:rPr sz="1100"/>
              <a:t>UFR1  Detect/decode multiple QR codes — Met</a:t>
            </a:r>
          </a:p>
          <a:p>
            <a:pPr lvl="1" algn="l"/>
            <a:r>
              <a:rPr sz="1100"/>
              <a:t>UFR4  Structured JSON output with metadata — Met</a:t>
            </a:r>
          </a:p>
          <a:p>
            <a:pPr lvl="1" algn="l"/>
            <a:r>
              <a:rPr sz="1100"/>
              <a:t>UFR5  Keyboard emulation to target apps — Met</a:t>
            </a:r>
          </a:p>
          <a:p>
            <a:pPr lvl="1" algn="l"/>
            <a:r>
              <a:rPr sz="1100"/>
              <a:t>UFR9  Configurable workstation behavior — Met</a:t>
            </a:r>
          </a:p>
          <a:p>
            <a:pPr algn="l"/>
            <a:r>
              <a:rPr sz="1100"/>
              <a:t/>
            </a:r>
          </a:p>
          <a:p>
            <a:pPr algn="l"/>
            <a:r>
              <a:rPr sz="1100"/>
              <a:t>Step Verification (Worker-Step Tracking):</a:t>
            </a:r>
          </a:p>
          <a:p>
            <a:pPr lvl="1" algn="l"/>
            <a:r>
              <a:rPr sz="1100"/>
              <a:t>UFR2  Monitor steps in correct sequence — Met</a:t>
            </a:r>
          </a:p>
          <a:p>
            <a:pPr lvl="1" algn="l"/>
            <a:r>
              <a:rPr sz="1100"/>
              <a:t>UFR3  Supervisor trains system on processes — Met</a:t>
            </a:r>
          </a:p>
          <a:p>
            <a:pPr lvl="1" algn="l"/>
            <a:r>
              <a:rPr sz="1100"/>
              <a:t>UFR6  Real-time visual feedback and alerts — Met</a:t>
            </a:r>
          </a:p>
          <a:p>
            <a:pPr lvl="1" algn="l"/>
            <a:r>
              <a:rPr sz="1100"/>
              <a:t>UFR8  Intuitive training UI for non-technical users — Met</a:t>
            </a:r>
          </a:p>
          <a:p>
            <a:pPr algn="l"/>
            <a:r>
              <a:rPr sz="1100"/>
              <a:t/>
            </a:r>
          </a:p>
          <a:p>
            <a:pPr algn="l"/>
            <a:r>
              <a:rPr sz="1100"/>
              <a:t>Non-Functional:</a:t>
            </a:r>
          </a:p>
          <a:p>
            <a:pPr lvl="1" algn="l"/>
            <a:r>
              <a:rPr sz="1100"/>
              <a:t>Security — All data stays on-premises — Met</a:t>
            </a:r>
          </a:p>
          <a:p>
            <a:pPr lvl="1" algn="l"/>
            <a:r>
              <a:rPr sz="1100"/>
              <a:t>Performance — Real-time inference &lt; 1s per frame — Met</a:t>
            </a:r>
          </a:p>
          <a:p>
            <a:pPr lvl="1" algn="l"/>
            <a:r>
              <a:rPr sz="1100"/>
              <a:t>Usability — Operators complete workflows after brief onboarding — Met</a:t>
            </a:r>
          </a:p>
        </p:txBody>
      </p:sp>
    </p:spTree>
    <p:extLst>
      <p:ext uri="{BB962C8B-B14F-4D97-AF65-F5344CB8AC3E}">
        <p14:creationId xmlns:p14="http://schemas.microsoft.com/office/powerpoint/2010/main" val="17642883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AAA2A0C9-A7E4-2EE1-2B6A-9412C4B9298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FB754D3-9BCA-3323-3626-793F369CEC03}"/>
              </a:ext>
            </a:extLst>
          </p:cNvPr>
          <p:cNvSpPr>
            <a:spLocks noGrp="1"/>
          </p:cNvSpPr>
          <p:nvPr>
            <p:ph type="sldNum" sz="quarter" idx="12"/>
          </p:nvPr>
        </p:nvSpPr>
        <p:spPr>
          <a:xfrm>
            <a:off x="10361612" y="-45025"/>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27</a:t>
            </a:fld>
            <a:endParaRPr lang="en-US">
              <a:solidFill>
                <a:srgbClr val="FFFFFF"/>
              </a:solidFill>
            </a:endParaRPr>
          </a:p>
        </p:txBody>
      </p:sp>
      <p:sp>
        <p:nvSpPr>
          <p:cNvPr id="25" name="TextBox 24"/>
          <p:cNvSpPr txBox="1"/>
          <p:nvPr/>
        </p:nvSpPr>
        <p:spPr>
          <a:xfrm>
            <a:off x="457200" y="274320"/>
            <a:ext cx="7772400" cy="731520"/>
          </a:xfrm>
          <a:prstGeom prst="rect">
            <a:avLst/>
          </a:prstGeom>
          <a:noFill/>
        </p:spPr>
        <p:txBody>
          <a:bodyPr wrap="square">
            <a:spAutoFit/>
          </a:bodyPr>
          <a:lstStyle/>
          <a:p>
            <a:pPr algn="l"/>
            <a:r>
              <a:rPr sz="2400" b="1"/>
              <a:t>Test Results Summary</a:t>
            </a:r>
          </a:p>
        </p:txBody>
      </p:sp>
      <p:sp>
        <p:nvSpPr>
          <p:cNvPr id="26" name="TextBox 25"/>
          <p:cNvSpPr txBox="1"/>
          <p:nvPr/>
        </p:nvSpPr>
        <p:spPr>
          <a:xfrm>
            <a:off x="457200" y="1097280"/>
            <a:ext cx="7772400" cy="5303520"/>
          </a:xfrm>
          <a:prstGeom prst="rect">
            <a:avLst/>
          </a:prstGeom>
          <a:noFill/>
        </p:spPr>
        <p:txBody>
          <a:bodyPr wrap="square">
            <a:spAutoFit/>
          </a:bodyPr>
          <a:lstStyle/>
          <a:p>
            <a:pPr algn="l"/>
            <a:r>
              <a:rPr sz="1100"/>
              <a:t>Automated Test Results (pytest):</a:t>
            </a:r>
          </a:p>
          <a:p>
            <a:pPr lvl="1" algn="l"/>
            <a:r>
              <a:rPr sz="1100"/>
              <a:t>test_unit_requirements.py .......... 10 passed</a:t>
            </a:r>
          </a:p>
          <a:p>
            <a:pPr lvl="1" algn="l"/>
            <a:r>
              <a:rPr sz="1100"/>
              <a:t>test_auto_coverage.py ........... 11 passed</a:t>
            </a:r>
          </a:p>
          <a:p>
            <a:pPr lvl="1" algn="l"/>
            <a:r>
              <a:rPr sz="1100"/>
              <a:t>Total: 21 passed, 0 failed</a:t>
            </a:r>
          </a:p>
          <a:p>
            <a:pPr algn="l"/>
            <a:r>
              <a:rPr sz="1100"/>
              <a:t/>
            </a:r>
          </a:p>
          <a:p>
            <a:pPr algn="l"/>
            <a:r>
              <a:rPr sz="1100"/>
              <a:t>Test Coverage by Category:</a:t>
            </a:r>
          </a:p>
          <a:p>
            <a:pPr lvl="1" algn="l"/>
            <a:r>
              <a:rPr sz="1100"/>
              <a:t>Functional: SFR1-SFR18 — all AUTO cases implemented</a:t>
            </a:r>
          </a:p>
          <a:p>
            <a:pPr lvl="1" algn="l"/>
            <a:r>
              <a:rPr sz="1100"/>
              <a:t>Non-Functional: PPSR2, PPSR5, PDSR1-4, ODSR1, OOSR4, EISR3-6 — covered</a:t>
            </a:r>
          </a:p>
          <a:p>
            <a:pPr lvl="1" algn="l"/>
            <a:r>
              <a:rPr sz="1100"/>
              <a:t>System tests: MAN cases executed on deployed workstation</a:t>
            </a:r>
          </a:p>
          <a:p>
            <a:pPr lvl="1" algn="l"/>
            <a:r>
              <a:rPr sz="1100"/>
              <a:t>Acceptance tests: UAT with operator and supervisor stakeholders</a:t>
            </a:r>
          </a:p>
          <a:p>
            <a:pPr algn="l"/>
            <a:r>
              <a:rPr sz="1100"/>
              <a:t/>
            </a:r>
          </a:p>
          <a:p>
            <a:pPr algn="l"/>
            <a:r>
              <a:rPr sz="1100"/>
              <a:t>[INSERT SCREENSHOT OF PYTEST OUTPUT HERE]</a:t>
            </a:r>
          </a:p>
        </p:txBody>
      </p:sp>
    </p:spTree>
    <p:extLst>
      <p:ext uri="{BB962C8B-B14F-4D97-AF65-F5344CB8AC3E}">
        <p14:creationId xmlns:p14="http://schemas.microsoft.com/office/powerpoint/2010/main" val="22893232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86EB6D29-036A-0322-0F2D-0C0E32DC7C8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0069DA6-0F1D-3E16-D39B-DCA98D58A3A9}"/>
              </a:ext>
            </a:extLst>
          </p:cNvPr>
          <p:cNvSpPr>
            <a:spLocks noGrp="1"/>
          </p:cNvSpPr>
          <p:nvPr>
            <p:ph type="sldNum" sz="quarter" idx="12"/>
          </p:nvPr>
        </p:nvSpPr>
        <p:spPr>
          <a:xfrm>
            <a:off x="10361612" y="-196212"/>
            <a:ext cx="838199" cy="767687"/>
          </a:xfrm>
        </p:spPr>
        <p:txBody>
          <a:bodyPr>
            <a:normAutofit/>
          </a:bodyPr>
          <a:lstStyle/>
          <a:p>
            <a:pPr>
              <a:spcAft>
                <a:spcPts val="600"/>
              </a:spcAft>
            </a:pPr>
            <a:fld id="{D57F1E4F-1CFF-5643-939E-02111984F565}" type="slidenum">
              <a:rPr lang="en-US">
                <a:solidFill>
                  <a:srgbClr val="FFFFFF"/>
                </a:solidFill>
              </a:rPr>
              <a:pPr>
                <a:spcAft>
                  <a:spcPts val="600"/>
                </a:spcAft>
              </a:pPr>
              <a:t>28</a:t>
            </a:fld>
            <a:endParaRPr lang="en-US">
              <a:solidFill>
                <a:srgbClr val="FFFFFF"/>
              </a:solidFill>
            </a:endParaRPr>
          </a:p>
        </p:txBody>
      </p:sp>
      <p:sp>
        <p:nvSpPr>
          <p:cNvPr id="18" name="TextBox 17"/>
          <p:cNvSpPr txBox="1"/>
          <p:nvPr/>
        </p:nvSpPr>
        <p:spPr>
          <a:xfrm>
            <a:off x="457200" y="274320"/>
            <a:ext cx="7772400" cy="731520"/>
          </a:xfrm>
          <a:prstGeom prst="rect">
            <a:avLst/>
          </a:prstGeom>
          <a:noFill/>
        </p:spPr>
        <p:txBody>
          <a:bodyPr wrap="square">
            <a:spAutoFit/>
          </a:bodyPr>
          <a:lstStyle/>
          <a:p>
            <a:pPr algn="l"/>
            <a:r>
              <a:rPr sz="2400" b="1"/>
              <a:t>Challenges, Algorithms &amp; Reflections</a:t>
            </a:r>
          </a:p>
        </p:txBody>
      </p:sp>
      <p:sp>
        <p:nvSpPr>
          <p:cNvPr id="19" name="TextBox 18"/>
          <p:cNvSpPr txBox="1"/>
          <p:nvPr/>
        </p:nvSpPr>
        <p:spPr>
          <a:xfrm>
            <a:off x="457200" y="1097280"/>
            <a:ext cx="7772400" cy="5303520"/>
          </a:xfrm>
          <a:prstGeom prst="rect">
            <a:avLst/>
          </a:prstGeom>
          <a:noFill/>
        </p:spPr>
        <p:txBody>
          <a:bodyPr wrap="square">
            <a:spAutoFit/>
          </a:bodyPr>
          <a:lstStyle/>
          <a:p>
            <a:pPr algn="l"/>
            <a:r>
              <a:rPr sz="1100"/>
              <a:t/>
            </a:r>
          </a:p>
          <a:p>
            <a:pPr algn="l"/>
            <a:r>
              <a:rPr sz="1100"/>
              <a:t/>
            </a:r>
          </a:p>
          <a:p>
            <a:pPr algn="l"/>
            <a:r>
              <a:rPr sz="1100"/>
              <a:t/>
            </a:r>
          </a:p>
          <a:p>
            <a:pPr algn="l"/>
            <a:r>
              <a:rPr sz="1100"/>
              <a:t>                    (Section Divider)</a:t>
            </a:r>
          </a:p>
        </p:txBody>
      </p:sp>
    </p:spTree>
    <p:extLst>
      <p:ext uri="{BB962C8B-B14F-4D97-AF65-F5344CB8AC3E}">
        <p14:creationId xmlns:p14="http://schemas.microsoft.com/office/powerpoint/2010/main" val="368132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785ECC98-0149-F832-EACF-0B5BD64BCA64}"/>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91B28F63-CF00-448F-B141-FE33C33B18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11" name="Picture 10">
            <a:extLst>
              <a:ext uri="{FF2B5EF4-FFF2-40B4-BE49-F238E27FC236}">
                <a16:creationId xmlns:a16="http://schemas.microsoft.com/office/drawing/2014/main" id="{2AE609E2-8522-44E4-9077-980E5BCF3E1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3" name="Oval 12">
            <a:extLst>
              <a:ext uri="{FF2B5EF4-FFF2-40B4-BE49-F238E27FC236}">
                <a16:creationId xmlns:a16="http://schemas.microsoft.com/office/drawing/2014/main" id="{4FA533C5-33E3-4611-AF9F-72811D8B26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5" name="Picture 14">
            <a:extLst>
              <a:ext uri="{FF2B5EF4-FFF2-40B4-BE49-F238E27FC236}">
                <a16:creationId xmlns:a16="http://schemas.microsoft.com/office/drawing/2014/main" id="{8949AD42-25FD-4C3D-9EEE-B7FEC580998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7" name="Picture 16">
            <a:extLst>
              <a:ext uri="{FF2B5EF4-FFF2-40B4-BE49-F238E27FC236}">
                <a16:creationId xmlns:a16="http://schemas.microsoft.com/office/drawing/2014/main" id="{6AC7D913-60B7-4603-881B-831DA5D3A94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9" name="Rectangle 18">
            <a:extLst>
              <a:ext uri="{FF2B5EF4-FFF2-40B4-BE49-F238E27FC236}">
                <a16:creationId xmlns:a16="http://schemas.microsoft.com/office/drawing/2014/main" id="{87F0FDC4-AD8C-47D9-9131-623C98ADB0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21" name="Rectangle 20">
            <a:extLst>
              <a:ext uri="{FF2B5EF4-FFF2-40B4-BE49-F238E27FC236}">
                <a16:creationId xmlns:a16="http://schemas.microsoft.com/office/drawing/2014/main" id="{E6A222EB-A81E-4238-B08D-AAB1828C8E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E014676C-074B-475A-8346-9C901C86C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lide Number Placeholder 2">
            <a:extLst>
              <a:ext uri="{FF2B5EF4-FFF2-40B4-BE49-F238E27FC236}">
                <a16:creationId xmlns:a16="http://schemas.microsoft.com/office/drawing/2014/main" id="{D2BF74E6-F7A0-6C4B-078F-6038B93CBD6F}"/>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defTabSz="457200">
              <a:spcAft>
                <a:spcPts val="600"/>
              </a:spcAft>
            </a:pPr>
            <a:fld id="{D57F1E4F-1CFF-5643-939E-02111984F565}" type="slidenum">
              <a:rPr lang="en-US" b="0" i="0" kern="1200">
                <a:solidFill>
                  <a:srgbClr val="FFFFFF"/>
                </a:solidFill>
                <a:latin typeface="+mn-lt"/>
                <a:ea typeface="+mn-ea"/>
                <a:cs typeface="+mn-cs"/>
              </a:rPr>
              <a:pPr defTabSz="457200">
                <a:spcAft>
                  <a:spcPts val="600"/>
                </a:spcAft>
              </a:pPr>
              <a:t>29</a:t>
            </a:fld>
            <a:endParaRPr lang="en-US" b="0" i="0" kern="1200">
              <a:solidFill>
                <a:srgbClr val="FFFFFF"/>
              </a:solidFill>
              <a:latin typeface="+mn-lt"/>
              <a:ea typeface="+mn-ea"/>
              <a:cs typeface="+mn-cs"/>
            </a:endParaRPr>
          </a:p>
        </p:txBody>
      </p:sp>
      <p:cxnSp>
        <p:nvCxnSpPr>
          <p:cNvPr id="25" name="Straight Connector 24">
            <a:extLst>
              <a:ext uri="{FF2B5EF4-FFF2-40B4-BE49-F238E27FC236}">
                <a16:creationId xmlns:a16="http://schemas.microsoft.com/office/drawing/2014/main" id="{179C4C8E-197B-4679-AE96-B5147F971C9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56687" y="1930986"/>
            <a:ext cx="0" cy="3200400"/>
          </a:xfrm>
          <a:prstGeom prst="line">
            <a:avLst/>
          </a:prstGeom>
          <a:ln w="15875" cap="sq">
            <a:solidFill>
              <a:schemeClr val="tx2">
                <a:alpha val="7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67AA6FA-3064-E374-BBA9-ADCA0C012465}"/>
              </a:ext>
            </a:extLst>
          </p:cNvPr>
          <p:cNvSpPr>
            <a:spLocks noGrp="1"/>
          </p:cNvSpPr>
          <p:nvPr>
            <p:ph type="title"/>
          </p:nvPr>
        </p:nvSpPr>
        <p:spPr>
          <a:xfrm>
            <a:off x="4654295" y="1266958"/>
            <a:ext cx="6808362" cy="4528457"/>
          </a:xfrm>
        </p:spPr>
        <p:txBody>
          <a:bodyPr vert="horz" lIns="91440" tIns="45720" rIns="91440" bIns="45720" rtlCol="0" anchor="ctr">
            <a:normAutofit/>
          </a:bodyPr>
          <a:lstStyle/>
          <a:p>
            <a:r>
              <a:rPr lang="en-US" sz="7200" b="0" i="0" kern="1200">
                <a:solidFill>
                  <a:schemeClr val="tx2"/>
                </a:solidFill>
                <a:latin typeface="+mj-lt"/>
                <a:ea typeface="+mj-ea"/>
                <a:cs typeface="+mj-cs"/>
              </a:rPr>
              <a:t>Challenges</a:t>
            </a:r>
          </a:p>
        </p:txBody>
      </p:sp>
      <p:sp>
        <p:nvSpPr>
          <p:cNvPr id="4" name="AutoShape 2" descr="uv - pip killer or yet another package manager?">
            <a:extLst>
              <a:ext uri="{FF2B5EF4-FFF2-40B4-BE49-F238E27FC236}">
                <a16:creationId xmlns:a16="http://schemas.microsoft.com/office/drawing/2014/main" id="{D7C36DA5-AF3B-C1F2-02C9-473A8B4A67A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6142995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4890-371A-F6AE-FE68-68074022C6BB}"/>
              </a:ext>
            </a:extLst>
          </p:cNvPr>
          <p:cNvSpPr>
            <a:spLocks noGrp="1"/>
          </p:cNvSpPr>
          <p:nvPr>
            <p:ph type="title"/>
          </p:nvPr>
        </p:nvSpPr>
        <p:spPr/>
        <p:txBody>
          <a:bodyPr/>
          <a:lstStyle/>
          <a:p>
            <a:r>
              <a:rPr lang="en-US"/>
              <a:t>Original Challenges (Addressed)</a:t>
            </a:r>
          </a:p>
        </p:txBody>
      </p:sp>
      <p:sp>
        <p:nvSpPr>
          <p:cNvPr id="3" name="Content Placeholder 2">
            <a:extLst>
              <a:ext uri="{FF2B5EF4-FFF2-40B4-BE49-F238E27FC236}">
                <a16:creationId xmlns:a16="http://schemas.microsoft.com/office/drawing/2014/main" id="{2B65DC22-8409-25A8-A8A0-926408665F72}"/>
              </a:ext>
            </a:extLst>
          </p:cNvPr>
          <p:cNvSpPr>
            <a:spLocks noGrp="1"/>
          </p:cNvSpPr>
          <p:nvPr>
            <p:ph idx="1"/>
          </p:nvPr>
        </p:nvSpPr>
        <p:spPr>
          <a:xfrm>
            <a:off x="1103312" y="2052918"/>
            <a:ext cx="10095062" cy="4195481"/>
          </a:xfrm>
        </p:spPr>
        <p:txBody>
          <a:bodyPr vert="horz" lIns="91440" tIns="45720" rIns="91440" bIns="45720" rtlCol="0" anchor="t">
            <a:normAutofit/>
          </a:bodyPr>
          <a:lstStyle/>
          <a:p>
            <a:pPr algn="l"/>
            <a:r>
              <a:rPr sz="1800"/>
              <a:t>Facility security — limited access to real data</a:t>
            </a:r>
          </a:p>
          <a:p>
            <a:pPr lvl="1" algn="l"/>
            <a:r>
              <a:rPr sz="1600"/>
              <a:t>Simulation harness for offline testing</a:t>
            </a:r>
          </a:p>
          <a:p>
            <a:pPr algn="l"/>
            <a:r>
              <a:rPr sz="1800"/>
              <a:t>DINOv2 loading latency (~5s)</a:t>
            </a:r>
          </a:p>
          <a:p>
            <a:pPr lvl="1" algn="l"/>
            <a:r>
              <a:rPr sz="1600"/>
              <a:t>Pre-load with async progress dialog</a:t>
            </a:r>
          </a:p>
          <a:p>
            <a:pPr algn="l"/>
            <a:r>
              <a:rPr sz="1800"/>
              <a:t>QR detection in poor lighting</a:t>
            </a:r>
          </a:p>
          <a:p>
            <a:pPr lvl="1" algn="l"/>
            <a:r>
              <a:rPr sz="1600"/>
              <a:t>3-tier fallback: pyzbar → OpenCV multi → single</a:t>
            </a:r>
          </a:p>
          <a:p>
            <a:pPr algn="l"/>
            <a:r>
              <a:rPr sz="1800"/>
              <a:t>Step detection jitter</a:t>
            </a:r>
          </a:p>
          <a:p>
            <a:pPr lvl="1" algn="l"/>
            <a:r>
              <a:rPr sz="1600"/>
              <a:t>Sliding-window voting (7/10 consensus)</a:t>
            </a:r>
          </a:p>
          <a:p>
            <a:pPr algn="l"/>
            <a:r>
              <a:rPr sz="1800"/>
              <a:t>Monolithic app.py</a:t>
            </a:r>
          </a:p>
          <a:p>
            <a:pPr lvl="1" algn="l"/>
            <a:r>
              <a:rPr sz="1600"/>
              <a:t>Refactored into widgets, workers, models</a:t>
            </a:r>
          </a:p>
        </p:txBody>
      </p:sp>
      <p:sp>
        <p:nvSpPr>
          <p:cNvPr id="4" name="Slide Number Placeholder 3">
            <a:extLst>
              <a:ext uri="{FF2B5EF4-FFF2-40B4-BE49-F238E27FC236}">
                <a16:creationId xmlns:a16="http://schemas.microsoft.com/office/drawing/2014/main" id="{C6641F41-8D54-F64E-DF36-91895DF747CD}"/>
              </a:ext>
            </a:extLst>
          </p:cNvPr>
          <p:cNvSpPr>
            <a:spLocks noGrp="1"/>
          </p:cNvSpPr>
          <p:nvPr>
            <p:ph type="sldNum" sz="quarter" idx="12"/>
          </p:nvPr>
        </p:nvSpPr>
        <p:spPr/>
        <p:txBody>
          <a:bodyPr/>
          <a:lstStyle/>
          <a:p>
            <a:fld id="{D57F1E4F-1CFF-5643-939E-02111984F565}" type="slidenum">
              <a:rPr lang="en-US" dirty="0"/>
              <a:t>30</a:t>
            </a:fld>
            <a:endParaRPr lang="en-US"/>
          </a:p>
        </p:txBody>
      </p:sp>
    </p:spTree>
    <p:extLst>
      <p:ext uri="{BB962C8B-B14F-4D97-AF65-F5344CB8AC3E}">
        <p14:creationId xmlns:p14="http://schemas.microsoft.com/office/powerpoint/2010/main" val="36095322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332794A-27CE-282D-1C11-5B08F750D074}"/>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91B28F63-CF00-448F-B141-FE33C33B18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10" name="Picture 9">
            <a:extLst>
              <a:ext uri="{FF2B5EF4-FFF2-40B4-BE49-F238E27FC236}">
                <a16:creationId xmlns:a16="http://schemas.microsoft.com/office/drawing/2014/main" id="{2AE609E2-8522-44E4-9077-980E5BCF3E1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2" name="Oval 11">
            <a:extLst>
              <a:ext uri="{FF2B5EF4-FFF2-40B4-BE49-F238E27FC236}">
                <a16:creationId xmlns:a16="http://schemas.microsoft.com/office/drawing/2014/main" id="{4FA533C5-33E3-4611-AF9F-72811D8B26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4" name="Picture 13">
            <a:extLst>
              <a:ext uri="{FF2B5EF4-FFF2-40B4-BE49-F238E27FC236}">
                <a16:creationId xmlns:a16="http://schemas.microsoft.com/office/drawing/2014/main" id="{8949AD42-25FD-4C3D-9EEE-B7FEC580998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6" name="Picture 15">
            <a:extLst>
              <a:ext uri="{FF2B5EF4-FFF2-40B4-BE49-F238E27FC236}">
                <a16:creationId xmlns:a16="http://schemas.microsoft.com/office/drawing/2014/main" id="{6AC7D913-60B7-4603-881B-831DA5D3A94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8" name="Rectangle 17">
            <a:extLst>
              <a:ext uri="{FF2B5EF4-FFF2-40B4-BE49-F238E27FC236}">
                <a16:creationId xmlns:a16="http://schemas.microsoft.com/office/drawing/2014/main" id="{87F0FDC4-AD8C-47D9-9131-623C98ADB0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20" name="Rectangle 19">
            <a:extLst>
              <a:ext uri="{FF2B5EF4-FFF2-40B4-BE49-F238E27FC236}">
                <a16:creationId xmlns:a16="http://schemas.microsoft.com/office/drawing/2014/main" id="{E6A222EB-A81E-4238-B08D-AAB1828C8E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014676C-074B-475A-8346-9C901C86C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lide Number Placeholder 2">
            <a:extLst>
              <a:ext uri="{FF2B5EF4-FFF2-40B4-BE49-F238E27FC236}">
                <a16:creationId xmlns:a16="http://schemas.microsoft.com/office/drawing/2014/main" id="{A3A893F5-AF23-51CE-813A-D849355DA462}"/>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defTabSz="457200">
              <a:spcAft>
                <a:spcPts val="600"/>
              </a:spcAft>
            </a:pPr>
            <a:fld id="{D57F1E4F-1CFF-5643-939E-02111984F565}" type="slidenum">
              <a:rPr lang="en-US" b="0" i="0" kern="1200">
                <a:solidFill>
                  <a:srgbClr val="FFFFFF"/>
                </a:solidFill>
                <a:latin typeface="+mn-lt"/>
                <a:ea typeface="+mn-ea"/>
                <a:cs typeface="+mn-cs"/>
              </a:rPr>
              <a:pPr defTabSz="457200">
                <a:spcAft>
                  <a:spcPts val="600"/>
                </a:spcAft>
              </a:pPr>
              <a:t>31</a:t>
            </a:fld>
            <a:endParaRPr lang="en-US" b="0" i="0" kern="1200">
              <a:solidFill>
                <a:srgbClr val="FFFFFF"/>
              </a:solidFill>
              <a:latin typeface="+mn-lt"/>
              <a:ea typeface="+mn-ea"/>
              <a:cs typeface="+mn-cs"/>
            </a:endParaRPr>
          </a:p>
        </p:txBody>
      </p:sp>
      <p:cxnSp>
        <p:nvCxnSpPr>
          <p:cNvPr id="24" name="Straight Connector 23">
            <a:extLst>
              <a:ext uri="{FF2B5EF4-FFF2-40B4-BE49-F238E27FC236}">
                <a16:creationId xmlns:a16="http://schemas.microsoft.com/office/drawing/2014/main" id="{179C4C8E-197B-4679-AE96-B5147F971C9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56687" y="1930986"/>
            <a:ext cx="0" cy="3200400"/>
          </a:xfrm>
          <a:prstGeom prst="line">
            <a:avLst/>
          </a:prstGeom>
          <a:ln w="15875" cap="sq">
            <a:solidFill>
              <a:schemeClr val="tx2">
                <a:alpha val="7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34B3AE9-F2DF-63D1-92EE-206EC4163CB6}"/>
              </a:ext>
            </a:extLst>
          </p:cNvPr>
          <p:cNvSpPr>
            <a:spLocks noGrp="1"/>
          </p:cNvSpPr>
          <p:nvPr>
            <p:ph type="title"/>
          </p:nvPr>
        </p:nvSpPr>
        <p:spPr>
          <a:xfrm>
            <a:off x="4654295" y="1266958"/>
            <a:ext cx="6808362" cy="4528457"/>
          </a:xfrm>
        </p:spPr>
        <p:txBody>
          <a:bodyPr vert="horz" lIns="91440" tIns="45720" rIns="91440" bIns="45720" rtlCol="0" anchor="ctr">
            <a:normAutofit/>
          </a:bodyPr>
          <a:lstStyle/>
          <a:p>
            <a:r>
              <a:rPr lang="en-US" sz="7200" b="0" i="0" kern="1200">
                <a:latin typeface="+mj-lt"/>
                <a:ea typeface="+mj-ea"/>
                <a:cs typeface="+mj-cs"/>
              </a:rPr>
              <a:t>Team </a:t>
            </a:r>
            <a:r>
              <a:rPr lang="en-US" sz="7200"/>
              <a:t>Member</a:t>
            </a:r>
            <a:r>
              <a:rPr lang="en-US" sz="7200" b="0" i="0" kern="1200">
                <a:latin typeface="+mj-lt"/>
                <a:ea typeface="+mj-ea"/>
                <a:cs typeface="+mj-cs"/>
              </a:rPr>
              <a:t> Logs</a:t>
            </a:r>
          </a:p>
        </p:txBody>
      </p:sp>
    </p:spTree>
    <p:extLst>
      <p:ext uri="{BB962C8B-B14F-4D97-AF65-F5344CB8AC3E}">
        <p14:creationId xmlns:p14="http://schemas.microsoft.com/office/powerpoint/2010/main" val="37755854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F747F1B4-B831-4277-8AB0-32767F7EB7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5" name="Freeform 7">
            <a:extLst>
              <a:ext uri="{FF2B5EF4-FFF2-40B4-BE49-F238E27FC236}">
                <a16:creationId xmlns:a16="http://schemas.microsoft.com/office/drawing/2014/main" id="{D80CFA21-AB7C-4BEB-9BFF-05764FBBF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B1CA2BAE-C67B-095C-9F8B-4A89ECF4682D}"/>
              </a:ext>
            </a:extLst>
          </p:cNvPr>
          <p:cNvSpPr>
            <a:spLocks noGrp="1"/>
          </p:cNvSpPr>
          <p:nvPr>
            <p:ph type="title"/>
          </p:nvPr>
        </p:nvSpPr>
        <p:spPr>
          <a:xfrm>
            <a:off x="648930" y="629267"/>
            <a:ext cx="9252154" cy="1016654"/>
          </a:xfrm>
        </p:spPr>
        <p:txBody>
          <a:bodyPr vert="horz" lIns="91440" tIns="45720" rIns="91440" bIns="45720" rtlCol="0">
            <a:normAutofit/>
          </a:bodyPr>
          <a:lstStyle/>
          <a:p>
            <a:r>
              <a:rPr lang="en-US" b="0" i="0" kern="1200">
                <a:solidFill>
                  <a:srgbClr val="EBEBEB"/>
                </a:solidFill>
                <a:latin typeface="+mj-lt"/>
                <a:ea typeface="+mj-ea"/>
                <a:cs typeface="+mj-cs"/>
              </a:rPr>
              <a:t>Nathan DiGilio</a:t>
            </a:r>
          </a:p>
        </p:txBody>
      </p:sp>
      <p:sp>
        <p:nvSpPr>
          <p:cNvPr id="27" name="Rectangle 26">
            <a:extLst>
              <a:ext uri="{FF2B5EF4-FFF2-40B4-BE49-F238E27FC236}">
                <a16:creationId xmlns:a16="http://schemas.microsoft.com/office/drawing/2014/main" id="{12F7E335-851A-4CAE-B09F-E657819D4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2B83475B-ABCC-C52A-831F-973D634ED31E}"/>
              </a:ext>
            </a:extLst>
          </p:cNvPr>
          <p:cNvSpPr>
            <a:spLocks noGrp="1"/>
          </p:cNvSpPr>
          <p:nvPr>
            <p:ph type="sldNum" sz="quarter" idx="12"/>
          </p:nvPr>
        </p:nvSpPr>
        <p:spPr>
          <a:xfrm>
            <a:off x="10352540" y="295729"/>
            <a:ext cx="838199" cy="767687"/>
          </a:xfrm>
        </p:spPr>
        <p:txBody>
          <a:bodyPr vert="horz" lIns="91440" tIns="45720" rIns="91440" bIns="45720" rtlCol="0">
            <a:normAutofit/>
          </a:bodyPr>
          <a:lstStyle/>
          <a:p>
            <a:pPr>
              <a:spcAft>
                <a:spcPts val="600"/>
              </a:spcAft>
            </a:pPr>
            <a:fld id="{D57F1E4F-1CFF-5643-939E-02111984F565}" type="slidenum">
              <a:rPr lang="en-US">
                <a:solidFill>
                  <a:srgbClr val="FFFFFF"/>
                </a:solidFill>
              </a:rPr>
              <a:pPr>
                <a:spcAft>
                  <a:spcPts val="600"/>
                </a:spcAft>
              </a:pPr>
              <a:t>32</a:t>
            </a:fld>
            <a:endParaRPr lang="en-US">
              <a:solidFill>
                <a:srgbClr val="FFFFFF"/>
              </a:solidFill>
            </a:endParaRPr>
          </a:p>
        </p:txBody>
      </p:sp>
      <p:sp>
        <p:nvSpPr>
          <p:cNvPr id="29" name="Freeform: Shape 28">
            <a:extLst>
              <a:ext uri="{FF2B5EF4-FFF2-40B4-BE49-F238E27FC236}">
                <a16:creationId xmlns:a16="http://schemas.microsoft.com/office/drawing/2014/main" id="{10B541F0-7F6E-402E-84D8-CF96EACA5F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8" cy="5095933"/>
          </a:xfrm>
          <a:custGeom>
            <a:avLst/>
            <a:gdLst>
              <a:gd name="connsiteX0" fmla="*/ 1 w 12192418"/>
              <a:gd name="connsiteY0" fmla="*/ 0 h 5095933"/>
              <a:gd name="connsiteX1" fmla="*/ 71932 w 12192418"/>
              <a:gd name="connsiteY1" fmla="*/ 12261 h 5095933"/>
              <a:gd name="connsiteX2" fmla="*/ 282849 w 12192418"/>
              <a:gd name="connsiteY2" fmla="*/ 48343 h 5095933"/>
              <a:gd name="connsiteX3" fmla="*/ 436464 w 12192418"/>
              <a:gd name="connsiteY3" fmla="*/ 73565 h 5095933"/>
              <a:gd name="connsiteX4" fmla="*/ 619339 w 12192418"/>
              <a:gd name="connsiteY4" fmla="*/ 100188 h 5095933"/>
              <a:gd name="connsiteX5" fmla="*/ 836351 w 12192418"/>
              <a:gd name="connsiteY5" fmla="*/ 132066 h 5095933"/>
              <a:gd name="connsiteX6" fmla="*/ 1076528 w 12192418"/>
              <a:gd name="connsiteY6" fmla="*/ 165696 h 5095933"/>
              <a:gd name="connsiteX7" fmla="*/ 1347184 w 12192418"/>
              <a:gd name="connsiteY7" fmla="*/ 201077 h 5095933"/>
              <a:gd name="connsiteX8" fmla="*/ 1642223 w 12192418"/>
              <a:gd name="connsiteY8" fmla="*/ 238560 h 5095933"/>
              <a:gd name="connsiteX9" fmla="*/ 1962864 w 12192418"/>
              <a:gd name="connsiteY9" fmla="*/ 276043 h 5095933"/>
              <a:gd name="connsiteX10" fmla="*/ 2304232 w 12192418"/>
              <a:gd name="connsiteY10" fmla="*/ 314227 h 5095933"/>
              <a:gd name="connsiteX11" fmla="*/ 2672421 w 12192418"/>
              <a:gd name="connsiteY11" fmla="*/ 349608 h 5095933"/>
              <a:gd name="connsiteX12" fmla="*/ 3057678 w 12192418"/>
              <a:gd name="connsiteY12" fmla="*/ 383588 h 5095933"/>
              <a:gd name="connsiteX13" fmla="*/ 3464881 w 12192418"/>
              <a:gd name="connsiteY13" fmla="*/ 414415 h 5095933"/>
              <a:gd name="connsiteX14" fmla="*/ 3889152 w 12192418"/>
              <a:gd name="connsiteY14" fmla="*/ 443841 h 5095933"/>
              <a:gd name="connsiteX15" fmla="*/ 4331710 w 12192418"/>
              <a:gd name="connsiteY15" fmla="*/ 471515 h 5095933"/>
              <a:gd name="connsiteX16" fmla="*/ 4558476 w 12192418"/>
              <a:gd name="connsiteY16" fmla="*/ 481324 h 5095933"/>
              <a:gd name="connsiteX17" fmla="*/ 4790118 w 12192418"/>
              <a:gd name="connsiteY17" fmla="*/ 492183 h 5095933"/>
              <a:gd name="connsiteX18" fmla="*/ 5025418 w 12192418"/>
              <a:gd name="connsiteY18" fmla="*/ 502342 h 5095933"/>
              <a:gd name="connsiteX19" fmla="*/ 5261937 w 12192418"/>
              <a:gd name="connsiteY19" fmla="*/ 508998 h 5095933"/>
              <a:gd name="connsiteX20" fmla="*/ 5503332 w 12192418"/>
              <a:gd name="connsiteY20" fmla="*/ 514953 h 5095933"/>
              <a:gd name="connsiteX21" fmla="*/ 5747167 w 12192418"/>
              <a:gd name="connsiteY21" fmla="*/ 521259 h 5095933"/>
              <a:gd name="connsiteX22" fmla="*/ 5995877 w 12192418"/>
              <a:gd name="connsiteY22" fmla="*/ 525463 h 5095933"/>
              <a:gd name="connsiteX23" fmla="*/ 6247026 w 12192418"/>
              <a:gd name="connsiteY23" fmla="*/ 525463 h 5095933"/>
              <a:gd name="connsiteX24" fmla="*/ 6500613 w 12192418"/>
              <a:gd name="connsiteY24" fmla="*/ 527565 h 5095933"/>
              <a:gd name="connsiteX25" fmla="*/ 6756639 w 12192418"/>
              <a:gd name="connsiteY25" fmla="*/ 525463 h 5095933"/>
              <a:gd name="connsiteX26" fmla="*/ 7016322 w 12192418"/>
              <a:gd name="connsiteY26" fmla="*/ 521259 h 5095933"/>
              <a:gd name="connsiteX27" fmla="*/ 7276005 w 12192418"/>
              <a:gd name="connsiteY27" fmla="*/ 517406 h 5095933"/>
              <a:gd name="connsiteX28" fmla="*/ 7539345 w 12192418"/>
              <a:gd name="connsiteY28" fmla="*/ 508998 h 5095933"/>
              <a:gd name="connsiteX29" fmla="*/ 7805124 w 12192418"/>
              <a:gd name="connsiteY29" fmla="*/ 500241 h 5095933"/>
              <a:gd name="connsiteX30" fmla="*/ 8070903 w 12192418"/>
              <a:gd name="connsiteY30" fmla="*/ 490082 h 5095933"/>
              <a:gd name="connsiteX31" fmla="*/ 8339121 w 12192418"/>
              <a:gd name="connsiteY31" fmla="*/ 475719 h 5095933"/>
              <a:gd name="connsiteX32" fmla="*/ 8609776 w 12192418"/>
              <a:gd name="connsiteY32" fmla="*/ 458554 h 5095933"/>
              <a:gd name="connsiteX33" fmla="*/ 8881651 w 12192418"/>
              <a:gd name="connsiteY33" fmla="*/ 442089 h 5095933"/>
              <a:gd name="connsiteX34" fmla="*/ 9153526 w 12192418"/>
              <a:gd name="connsiteY34" fmla="*/ 421071 h 5095933"/>
              <a:gd name="connsiteX35" fmla="*/ 9429058 w 12192418"/>
              <a:gd name="connsiteY35" fmla="*/ 395849 h 5095933"/>
              <a:gd name="connsiteX36" fmla="*/ 9700933 w 12192418"/>
              <a:gd name="connsiteY36" fmla="*/ 370626 h 5095933"/>
              <a:gd name="connsiteX37" fmla="*/ 9977684 w 12192418"/>
              <a:gd name="connsiteY37" fmla="*/ 341551 h 5095933"/>
              <a:gd name="connsiteX38" fmla="*/ 10255655 w 12192418"/>
              <a:gd name="connsiteY38" fmla="*/ 309673 h 5095933"/>
              <a:gd name="connsiteX39" fmla="*/ 10529968 w 12192418"/>
              <a:gd name="connsiteY39" fmla="*/ 276043 h 5095933"/>
              <a:gd name="connsiteX40" fmla="*/ 10807939 w 12192418"/>
              <a:gd name="connsiteY40" fmla="*/ 236809 h 5095933"/>
              <a:gd name="connsiteX41" fmla="*/ 11084690 w 12192418"/>
              <a:gd name="connsiteY41" fmla="*/ 194772 h 5095933"/>
              <a:gd name="connsiteX42" fmla="*/ 11362661 w 12192418"/>
              <a:gd name="connsiteY42" fmla="*/ 153085 h 5095933"/>
              <a:gd name="connsiteX43" fmla="*/ 11639412 w 12192418"/>
              <a:gd name="connsiteY43" fmla="*/ 104392 h 5095933"/>
              <a:gd name="connsiteX44" fmla="*/ 11914945 w 12192418"/>
              <a:gd name="connsiteY44" fmla="*/ 54648 h 5095933"/>
              <a:gd name="connsiteX45" fmla="*/ 12191696 w 12192418"/>
              <a:gd name="connsiteY45" fmla="*/ 2452 h 5095933"/>
              <a:gd name="connsiteX46" fmla="*/ 12191696 w 12192418"/>
              <a:gd name="connsiteY46" fmla="*/ 2109542 h 5095933"/>
              <a:gd name="connsiteX47" fmla="*/ 12191999 w 12192418"/>
              <a:gd name="connsiteY47" fmla="*/ 2109542 h 5095933"/>
              <a:gd name="connsiteX48" fmla="*/ 12191999 w 12192418"/>
              <a:gd name="connsiteY48" fmla="*/ 2802467 h 5095933"/>
              <a:gd name="connsiteX49" fmla="*/ 12192418 w 12192418"/>
              <a:gd name="connsiteY49" fmla="*/ 2802467 h 5095933"/>
              <a:gd name="connsiteX50" fmla="*/ 12192418 w 12192418"/>
              <a:gd name="connsiteY50" fmla="*/ 5095933 h 5095933"/>
              <a:gd name="connsiteX51" fmla="*/ 1 w 12192418"/>
              <a:gd name="connsiteY51" fmla="*/ 5095933 h 5095933"/>
              <a:gd name="connsiteX52" fmla="*/ 1 w 12192418"/>
              <a:gd name="connsiteY52" fmla="*/ 4074529 h 5095933"/>
              <a:gd name="connsiteX53" fmla="*/ 0 w 12192418"/>
              <a:gd name="connsiteY53" fmla="*/ 4074529 h 5095933"/>
              <a:gd name="connsiteX54" fmla="*/ 0 w 12192418"/>
              <a:gd name="connsiteY54" fmla="*/ 2109542 h 5095933"/>
              <a:gd name="connsiteX55" fmla="*/ 1 w 12192418"/>
              <a:gd name="connsiteY55" fmla="*/ 2109542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418" h="5095933">
                <a:moveTo>
                  <a:pt x="1" y="0"/>
                </a:moveTo>
                <a:lnTo>
                  <a:pt x="71932" y="12261"/>
                </a:lnTo>
                <a:lnTo>
                  <a:pt x="282849" y="48343"/>
                </a:lnTo>
                <a:lnTo>
                  <a:pt x="436464" y="73565"/>
                </a:lnTo>
                <a:lnTo>
                  <a:pt x="619339" y="100188"/>
                </a:lnTo>
                <a:lnTo>
                  <a:pt x="836351" y="132066"/>
                </a:lnTo>
                <a:lnTo>
                  <a:pt x="1076528" y="165696"/>
                </a:lnTo>
                <a:lnTo>
                  <a:pt x="1347184" y="201077"/>
                </a:lnTo>
                <a:lnTo>
                  <a:pt x="1642223" y="238560"/>
                </a:lnTo>
                <a:lnTo>
                  <a:pt x="1962864" y="276043"/>
                </a:lnTo>
                <a:lnTo>
                  <a:pt x="2304232" y="314227"/>
                </a:lnTo>
                <a:lnTo>
                  <a:pt x="2672421" y="349608"/>
                </a:lnTo>
                <a:lnTo>
                  <a:pt x="3057678" y="383588"/>
                </a:lnTo>
                <a:lnTo>
                  <a:pt x="3464881" y="414415"/>
                </a:lnTo>
                <a:lnTo>
                  <a:pt x="3889152" y="443841"/>
                </a:lnTo>
                <a:lnTo>
                  <a:pt x="4331710" y="471515"/>
                </a:lnTo>
                <a:lnTo>
                  <a:pt x="4558476" y="481324"/>
                </a:lnTo>
                <a:lnTo>
                  <a:pt x="4790118" y="492183"/>
                </a:lnTo>
                <a:lnTo>
                  <a:pt x="5025418" y="502342"/>
                </a:lnTo>
                <a:lnTo>
                  <a:pt x="5261937" y="508998"/>
                </a:lnTo>
                <a:lnTo>
                  <a:pt x="5503332" y="514953"/>
                </a:lnTo>
                <a:lnTo>
                  <a:pt x="5747167" y="521259"/>
                </a:lnTo>
                <a:lnTo>
                  <a:pt x="5995877" y="525463"/>
                </a:lnTo>
                <a:lnTo>
                  <a:pt x="6247026" y="525463"/>
                </a:lnTo>
                <a:lnTo>
                  <a:pt x="6500613" y="527565"/>
                </a:lnTo>
                <a:lnTo>
                  <a:pt x="6756639" y="525463"/>
                </a:lnTo>
                <a:lnTo>
                  <a:pt x="7016322" y="521259"/>
                </a:lnTo>
                <a:lnTo>
                  <a:pt x="7276005" y="517406"/>
                </a:lnTo>
                <a:lnTo>
                  <a:pt x="7539345" y="508998"/>
                </a:lnTo>
                <a:lnTo>
                  <a:pt x="7805124" y="500241"/>
                </a:lnTo>
                <a:lnTo>
                  <a:pt x="8070903" y="490082"/>
                </a:lnTo>
                <a:lnTo>
                  <a:pt x="8339121" y="475719"/>
                </a:lnTo>
                <a:lnTo>
                  <a:pt x="8609776" y="458554"/>
                </a:lnTo>
                <a:lnTo>
                  <a:pt x="8881651" y="442089"/>
                </a:lnTo>
                <a:lnTo>
                  <a:pt x="9153526" y="421071"/>
                </a:lnTo>
                <a:lnTo>
                  <a:pt x="9429058" y="395849"/>
                </a:lnTo>
                <a:lnTo>
                  <a:pt x="9700933" y="370626"/>
                </a:lnTo>
                <a:lnTo>
                  <a:pt x="9977684" y="341551"/>
                </a:lnTo>
                <a:lnTo>
                  <a:pt x="10255655" y="309673"/>
                </a:lnTo>
                <a:lnTo>
                  <a:pt x="10529968" y="276043"/>
                </a:lnTo>
                <a:lnTo>
                  <a:pt x="10807939" y="236809"/>
                </a:lnTo>
                <a:lnTo>
                  <a:pt x="11084690" y="194772"/>
                </a:lnTo>
                <a:lnTo>
                  <a:pt x="11362661" y="153085"/>
                </a:lnTo>
                <a:lnTo>
                  <a:pt x="11639412" y="104392"/>
                </a:lnTo>
                <a:lnTo>
                  <a:pt x="11914945" y="54648"/>
                </a:lnTo>
                <a:lnTo>
                  <a:pt x="12191696" y="2452"/>
                </a:lnTo>
                <a:lnTo>
                  <a:pt x="12191696" y="2109542"/>
                </a:lnTo>
                <a:lnTo>
                  <a:pt x="12191999" y="2109542"/>
                </a:lnTo>
                <a:lnTo>
                  <a:pt x="12191999" y="2802467"/>
                </a:lnTo>
                <a:lnTo>
                  <a:pt x="12192418" y="2802467"/>
                </a:lnTo>
                <a:lnTo>
                  <a:pt x="12192418" y="5095933"/>
                </a:lnTo>
                <a:lnTo>
                  <a:pt x="1" y="5095933"/>
                </a:lnTo>
                <a:lnTo>
                  <a:pt x="1" y="4074529"/>
                </a:lnTo>
                <a:lnTo>
                  <a:pt x="0" y="4074529"/>
                </a:lnTo>
                <a:lnTo>
                  <a:pt x="0" y="2109542"/>
                </a:lnTo>
                <a:lnTo>
                  <a:pt x="1" y="2109542"/>
                </a:lnTo>
                <a:close/>
              </a:path>
            </a:pathLst>
          </a:custGeom>
          <a:solidFill>
            <a:schemeClr val="bg1"/>
          </a:solidFill>
          <a:ln>
            <a:noFill/>
          </a:ln>
        </p:spPr>
        <p:txBody>
          <a:bodyPr/>
          <a:lstStyle/>
          <a:p>
            <a:endParaRPr lang="en-US"/>
          </a:p>
        </p:txBody>
      </p:sp>
      <p:sp>
        <p:nvSpPr>
          <p:cNvPr id="6" name="Rectangle 1">
            <a:extLst>
              <a:ext uri="{FF2B5EF4-FFF2-40B4-BE49-F238E27FC236}">
                <a16:creationId xmlns:a16="http://schemas.microsoft.com/office/drawing/2014/main" id="{E0BCD753-4324-21EE-61E2-E7D2E7729182}"/>
              </a:ext>
            </a:extLst>
          </p:cNvPr>
          <p:cNvSpPr>
            <a:spLocks noChangeArrowheads="1"/>
          </p:cNvSpPr>
          <p:nvPr/>
        </p:nvSpPr>
        <p:spPr bwMode="auto">
          <a:xfrm>
            <a:off x="-2896220" y="-12649"/>
            <a:ext cx="15088220" cy="4698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graphicFrame>
        <p:nvGraphicFramePr>
          <p:cNvPr id="7" name="Content Placeholder 6">
            <a:extLst>
              <a:ext uri="{FF2B5EF4-FFF2-40B4-BE49-F238E27FC236}">
                <a16:creationId xmlns:a16="http://schemas.microsoft.com/office/drawing/2014/main" id="{0EB315CA-4523-FAD0-6E09-B9940F95BC40}"/>
              </a:ext>
            </a:extLst>
          </p:cNvPr>
          <p:cNvGraphicFramePr>
            <a:graphicFrameLocks noGrp="1"/>
          </p:cNvGraphicFramePr>
          <p:nvPr>
            <p:ph idx="1"/>
            <p:extLst>
              <p:ext uri="{D42A27DB-BD31-4B8C-83A1-F6EECF244321}">
                <p14:modId xmlns:p14="http://schemas.microsoft.com/office/powerpoint/2010/main" val="2406504636"/>
              </p:ext>
            </p:extLst>
          </p:nvPr>
        </p:nvGraphicFramePr>
        <p:xfrm>
          <a:off x="1267342" y="2485593"/>
          <a:ext cx="9657314" cy="3404284"/>
        </p:xfrm>
        <a:graphic>
          <a:graphicData uri="http://schemas.openxmlformats.org/drawingml/2006/table">
            <a:tbl>
              <a:tblPr firstRow="1" firstCol="1" bandRow="1">
                <a:tableStyleId>{5C22544A-7EE6-4342-B048-85BDC9FD1C3A}</a:tableStyleId>
              </a:tblPr>
              <a:tblGrid>
                <a:gridCol w="1490869">
                  <a:extLst>
                    <a:ext uri="{9D8B030D-6E8A-4147-A177-3AD203B41FA5}">
                      <a16:colId xmlns:a16="http://schemas.microsoft.com/office/drawing/2014/main" val="3552584695"/>
                    </a:ext>
                  </a:extLst>
                </a:gridCol>
                <a:gridCol w="6360376">
                  <a:extLst>
                    <a:ext uri="{9D8B030D-6E8A-4147-A177-3AD203B41FA5}">
                      <a16:colId xmlns:a16="http://schemas.microsoft.com/office/drawing/2014/main" val="814131483"/>
                    </a:ext>
                  </a:extLst>
                </a:gridCol>
                <a:gridCol w="1806069">
                  <a:extLst>
                    <a:ext uri="{9D8B030D-6E8A-4147-A177-3AD203B41FA5}">
                      <a16:colId xmlns:a16="http://schemas.microsoft.com/office/drawing/2014/main" val="2200585745"/>
                    </a:ext>
                  </a:extLst>
                </a:gridCol>
              </a:tblGrid>
              <a:tr h="292952">
                <a:tc>
                  <a:txBody>
                    <a:bodyPr/>
                    <a:lstStyle/>
                    <a:p>
                      <a:r>
                        <a:t>Date</a:t>
                      </a:r>
                    </a:p>
                  </a:txBody>
                  <a:tcPr marL="81806" marR="81806" marT="0" marB="0"/>
                </a:tc>
                <a:tc>
                  <a:txBody>
                    <a:bodyPr/>
                    <a:lstStyle/>
                    <a:p>
                      <a:r>
                        <a:t>Task</a:t>
                      </a:r>
                    </a:p>
                  </a:txBody>
                  <a:tcPr marL="81806" marR="81806" marT="0" marB="0"/>
                </a:tc>
                <a:tc>
                  <a:txBody>
                    <a:bodyPr/>
                    <a:lstStyle/>
                    <a:p>
                      <a:r>
                        <a:t>Duration</a:t>
                      </a:r>
                    </a:p>
                  </a:txBody>
                  <a:tcPr marL="81806" marR="81806" marT="0" marB="0"/>
                </a:tc>
                <a:extLst>
                  <a:ext uri="{0D108BD9-81ED-4DB2-BD59-A6C34878D82A}">
                    <a16:rowId xmlns:a16="http://schemas.microsoft.com/office/drawing/2014/main" val="1073198038"/>
                  </a:ext>
                </a:extLst>
              </a:tr>
              <a:tr h="306691">
                <a:tc>
                  <a:txBody>
                    <a:bodyPr/>
                    <a:lstStyle/>
                    <a:p>
                      <a:r>
                        <a:t>3/16/2026</a:t>
                      </a:r>
                    </a:p>
                  </a:txBody>
                  <a:tcPr marL="60809" marR="60809" marT="0" marB="0"/>
                </a:tc>
                <a:tc>
                  <a:txBody>
                    <a:bodyPr/>
                    <a:lstStyle/>
                    <a:p>
                      <a:r>
                        <a:t>Advisor meeting, group work/discussion</a:t>
                      </a:r>
                    </a:p>
                  </a:txBody>
                  <a:tcPr marL="60809" marR="60809" marT="0" marB="0"/>
                </a:tc>
                <a:tc>
                  <a:txBody>
                    <a:bodyPr/>
                    <a:lstStyle/>
                    <a:p>
                      <a:r>
                        <a:t>2 hours</a:t>
                      </a:r>
                    </a:p>
                  </a:txBody>
                  <a:tcPr marL="60809" marR="60809" marT="0" marB="0"/>
                </a:tc>
                <a:extLst>
                  <a:ext uri="{0D108BD9-81ED-4DB2-BD59-A6C34878D82A}">
                    <a16:rowId xmlns:a16="http://schemas.microsoft.com/office/drawing/2014/main" val="3288249031"/>
                  </a:ext>
                </a:extLst>
              </a:tr>
              <a:tr h="671543">
                <a:tc>
                  <a:txBody>
                    <a:bodyPr/>
                    <a:lstStyle/>
                    <a:p>
                      <a:r>
                        <a:t>3/22/2026</a:t>
                      </a:r>
                    </a:p>
                  </a:txBody>
                  <a:tcPr marL="60809" marR="60809" marT="0" marB="0"/>
                </a:tc>
                <a:tc>
                  <a:txBody>
                    <a:bodyPr/>
                    <a:lstStyle/>
                    <a:p>
                      <a:r>
                        <a:t>Enhanced training/verification with segment handling</a:t>
                      </a:r>
                    </a:p>
                  </a:txBody>
                  <a:tcPr marL="60809" marR="60809" marT="0" marB="0"/>
                </a:tc>
                <a:tc>
                  <a:txBody>
                    <a:bodyPr/>
                    <a:lstStyle/>
                    <a:p>
                      <a:r>
                        <a:t>4 hours</a:t>
                      </a:r>
                    </a:p>
                  </a:txBody>
                  <a:tcPr marL="60809" marR="60809" marT="0" marB="0"/>
                </a:tc>
                <a:extLst>
                  <a:ext uri="{0D108BD9-81ED-4DB2-BD59-A6C34878D82A}">
                    <a16:rowId xmlns:a16="http://schemas.microsoft.com/office/drawing/2014/main" val="698044160"/>
                  </a:ext>
                </a:extLst>
              </a:tr>
              <a:tr h="306691">
                <a:tc>
                  <a:txBody>
                    <a:bodyPr/>
                    <a:lstStyle/>
                    <a:p>
                      <a:r>
                        <a:t>3/26/2026</a:t>
                      </a:r>
                    </a:p>
                  </a:txBody>
                  <a:tcPr marL="60809" marR="60809" marT="0" marB="0"/>
                </a:tc>
                <a:tc>
                  <a:txBody>
                    <a:bodyPr/>
                    <a:lstStyle/>
                    <a:p>
                      <a:r>
                        <a:t>Mentor meeting, group work/discussion</a:t>
                      </a:r>
                    </a:p>
                  </a:txBody>
                  <a:tcPr marL="60809" marR="60809" marT="0" marB="0"/>
                </a:tc>
                <a:tc>
                  <a:txBody>
                    <a:bodyPr/>
                    <a:lstStyle/>
                    <a:p>
                      <a:r>
                        <a:t>2 hours</a:t>
                      </a:r>
                    </a:p>
                  </a:txBody>
                  <a:tcPr marL="60809" marR="60809" marT="0" marB="0"/>
                </a:tc>
                <a:extLst>
                  <a:ext uri="{0D108BD9-81ED-4DB2-BD59-A6C34878D82A}">
                    <a16:rowId xmlns:a16="http://schemas.microsoft.com/office/drawing/2014/main" val="3808639089"/>
                  </a:ext>
                </a:extLst>
              </a:tr>
              <a:tr h="306691">
                <a:tc>
                  <a:txBody>
                    <a:bodyPr/>
                    <a:lstStyle/>
                    <a:p>
                      <a:r>
                        <a:t>4/5/2026</a:t>
                      </a:r>
                    </a:p>
                  </a:txBody>
                  <a:tcPr marL="60809" marR="60809" marT="0" marB="0"/>
                </a:tc>
                <a:tc>
                  <a:txBody>
                    <a:bodyPr/>
                    <a:lstStyle/>
                    <a:p>
                      <a:r>
                        <a:t>Refactored step validation into modular widgets/workers</a:t>
                      </a:r>
                    </a:p>
                  </a:txBody>
                  <a:tcPr marL="60809" marR="60809" marT="0" marB="0"/>
                </a:tc>
                <a:tc>
                  <a:txBody>
                    <a:bodyPr/>
                    <a:lstStyle/>
                    <a:p>
                      <a:r>
                        <a:t>5 hours</a:t>
                      </a:r>
                    </a:p>
                  </a:txBody>
                  <a:tcPr marL="60809" marR="60809" marT="0" marB="0"/>
                </a:tc>
                <a:extLst>
                  <a:ext uri="{0D108BD9-81ED-4DB2-BD59-A6C34878D82A}">
                    <a16:rowId xmlns:a16="http://schemas.microsoft.com/office/drawing/2014/main" val="2885894014"/>
                  </a:ext>
                </a:extLst>
              </a:tr>
              <a:tr h="306691">
                <a:tc>
                  <a:txBody>
                    <a:bodyPr/>
                    <a:lstStyle/>
                    <a:p>
                      <a:r>
                        <a:t>4/6/2026</a:t>
                      </a:r>
                    </a:p>
                  </a:txBody>
                  <a:tcPr marL="60809" marR="60809" marT="0" marB="0"/>
                </a:tc>
                <a:tc>
                  <a:txBody>
                    <a:bodyPr/>
                    <a:lstStyle/>
                    <a:p>
                      <a:r>
                        <a:t>Advisor meeting. Auto-start + progress bar</a:t>
                      </a:r>
                    </a:p>
                  </a:txBody>
                  <a:tcPr marL="60809" marR="60809" marT="0" marB="0"/>
                </a:tc>
                <a:tc>
                  <a:txBody>
                    <a:bodyPr/>
                    <a:lstStyle/>
                    <a:p>
                      <a:r>
                        <a:t>4 hours</a:t>
                      </a:r>
                    </a:p>
                  </a:txBody>
                  <a:tcPr marL="60809" marR="60809" marT="0" marB="0"/>
                </a:tc>
                <a:extLst>
                  <a:ext uri="{0D108BD9-81ED-4DB2-BD59-A6C34878D82A}">
                    <a16:rowId xmlns:a16="http://schemas.microsoft.com/office/drawing/2014/main" val="2941269822"/>
                  </a:ext>
                </a:extLst>
              </a:tr>
              <a:tr h="306691">
                <a:tc>
                  <a:txBody>
                    <a:bodyPr/>
                    <a:lstStyle/>
                    <a:p>
                      <a:r>
                        <a:t>4/13/2026</a:t>
                      </a:r>
                    </a:p>
                  </a:txBody>
                  <a:tcPr marL="60809" marR="60809" marT="0" marB="0"/>
                </a:tc>
                <a:tc>
                  <a:txBody>
                    <a:bodyPr/>
                    <a:lstStyle/>
                    <a:p>
                      <a:r>
                        <a:t>Camera release, preview behavior, run logging</a:t>
                      </a:r>
                    </a:p>
                  </a:txBody>
                  <a:tcPr marL="60809" marR="60809" marT="0" marB="0"/>
                </a:tc>
                <a:tc>
                  <a:txBody>
                    <a:bodyPr/>
                    <a:lstStyle/>
                    <a:p>
                      <a:r>
                        <a:t>4 hours</a:t>
                      </a:r>
                    </a:p>
                  </a:txBody>
                  <a:tcPr marL="60809" marR="60809" marT="0" marB="0"/>
                </a:tc>
                <a:extLst>
                  <a:ext uri="{0D108BD9-81ED-4DB2-BD59-A6C34878D82A}">
                    <a16:rowId xmlns:a16="http://schemas.microsoft.com/office/drawing/2014/main" val="2061115925"/>
                  </a:ext>
                </a:extLst>
              </a:tr>
              <a:tr h="306691">
                <a:tc>
                  <a:txBody>
                    <a:bodyPr/>
                    <a:lstStyle/>
                    <a:p>
                      <a:r>
                        <a:t>4/15/2026</a:t>
                      </a:r>
                    </a:p>
                  </a:txBody>
                  <a:tcPr marL="60809" marR="60809" marT="0" marB="0"/>
                </a:tc>
                <a:tc>
                  <a:txBody>
                    <a:bodyPr/>
                    <a:lstStyle/>
                    <a:p>
                      <a:r>
                        <a:t>Embedding visualizer, 11 new unit tests, Parse fix</a:t>
                      </a:r>
                    </a:p>
                  </a:txBody>
                  <a:tcPr marL="60809" marR="60809" marT="0" marB="0"/>
                </a:tc>
                <a:tc>
                  <a:txBody>
                    <a:bodyPr/>
                    <a:lstStyle/>
                    <a:p>
                      <a:r>
                        <a:t>5 hours</a:t>
                      </a:r>
                    </a:p>
                  </a:txBody>
                  <a:tcPr marL="60809" marR="60809" marT="0" marB="0"/>
                </a:tc>
                <a:extLst>
                  <a:ext uri="{0D108BD9-81ED-4DB2-BD59-A6C34878D82A}">
                    <a16:rowId xmlns:a16="http://schemas.microsoft.com/office/drawing/2014/main" val="3829284505"/>
                  </a:ext>
                </a:extLst>
              </a:tr>
              <a:tr h="306691">
                <a:tc>
                  <a:txBody>
                    <a:bodyPr/>
                    <a:lstStyle/>
                    <a:p>
                      <a:r>
                        <a:t>4/17/2026</a:t>
                      </a:r>
                    </a:p>
                  </a:txBody>
                  <a:tcPr marL="60809" marR="60809" marT="0" marB="0"/>
                </a:tc>
                <a:tc>
                  <a:txBody>
                    <a:bodyPr/>
                    <a:lstStyle/>
                    <a:p>
                      <a:r>
                        <a:t>Fasenmeyer poster, group discussion</a:t>
                      </a:r>
                    </a:p>
                  </a:txBody>
                  <a:tcPr marL="60809" marR="60809" marT="0" marB="0"/>
                </a:tc>
                <a:tc>
                  <a:txBody>
                    <a:bodyPr/>
                    <a:lstStyle/>
                    <a:p>
                      <a:r>
                        <a:t>4 hours</a:t>
                      </a:r>
                    </a:p>
                  </a:txBody>
                  <a:tcPr marL="60809" marR="60809" marT="0" marB="0"/>
                </a:tc>
                <a:extLst>
                  <a:ext uri="{0D108BD9-81ED-4DB2-BD59-A6C34878D82A}">
                    <a16:rowId xmlns:a16="http://schemas.microsoft.com/office/drawing/2014/main" val="2107488961"/>
                  </a:ext>
                </a:extLst>
              </a:tr>
              <a:tr h="292952">
                <a:tc>
                  <a:txBody>
                    <a:bodyPr/>
                    <a:lstStyle/>
                    <a:p>
                      <a:r>
                        <a:t>4/19/2026</a:t>
                      </a:r>
                    </a:p>
                  </a:txBody>
                  <a:tcPr marL="81806" marR="81806" marT="0" marB="0"/>
                </a:tc>
                <a:tc>
                  <a:txBody>
                    <a:bodyPr/>
                    <a:lstStyle/>
                    <a:p>
                      <a:r>
                        <a:t>2D data matrix fixes, report updates</a:t>
                      </a:r>
                    </a:p>
                  </a:txBody>
                  <a:tcPr marL="81806" marR="81806" marT="0" marB="0"/>
                </a:tc>
                <a:tc>
                  <a:txBody>
                    <a:bodyPr/>
                    <a:lstStyle/>
                    <a:p>
                      <a:r>
                        <a:t>5 hours</a:t>
                      </a:r>
                    </a:p>
                  </a:txBody>
                  <a:tcPr marL="81806" marR="81806" marT="0" marB="0"/>
                </a:tc>
                <a:extLst>
                  <a:ext uri="{0D108BD9-81ED-4DB2-BD59-A6C34878D82A}">
                    <a16:rowId xmlns:a16="http://schemas.microsoft.com/office/drawing/2014/main" val="1886239318"/>
                  </a:ext>
                </a:extLst>
              </a:tr>
            </a:tbl>
          </a:graphicData>
        </a:graphic>
      </p:graphicFrame>
    </p:spTree>
    <p:extLst>
      <p:ext uri="{BB962C8B-B14F-4D97-AF65-F5344CB8AC3E}">
        <p14:creationId xmlns:p14="http://schemas.microsoft.com/office/powerpoint/2010/main" val="2757429137"/>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D0D53A-7D8B-700A-D018-965C84BBC739}"/>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F747F1B4-B831-4277-8AB0-32767F7EB7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5" name="Freeform 7">
            <a:extLst>
              <a:ext uri="{FF2B5EF4-FFF2-40B4-BE49-F238E27FC236}">
                <a16:creationId xmlns:a16="http://schemas.microsoft.com/office/drawing/2014/main" id="{D80CFA21-AB7C-4BEB-9BFF-05764FBBF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694A35D5-FA7E-E951-56C9-17A9D64C8A01}"/>
              </a:ext>
            </a:extLst>
          </p:cNvPr>
          <p:cNvSpPr>
            <a:spLocks noGrp="1"/>
          </p:cNvSpPr>
          <p:nvPr>
            <p:ph type="title"/>
          </p:nvPr>
        </p:nvSpPr>
        <p:spPr>
          <a:xfrm>
            <a:off x="648930" y="629267"/>
            <a:ext cx="9252154" cy="1016654"/>
          </a:xfrm>
        </p:spPr>
        <p:txBody>
          <a:bodyPr vert="horz" lIns="91440" tIns="45720" rIns="91440" bIns="45720" rtlCol="0">
            <a:normAutofit/>
          </a:bodyPr>
          <a:lstStyle/>
          <a:p>
            <a:r>
              <a:rPr lang="en-US" b="0" i="0" kern="1200">
                <a:solidFill>
                  <a:srgbClr val="EBEBEB"/>
                </a:solidFill>
                <a:latin typeface="+mj-lt"/>
                <a:ea typeface="+mj-ea"/>
                <a:cs typeface="+mj-cs"/>
              </a:rPr>
              <a:t>Jacob Dzikowski</a:t>
            </a:r>
          </a:p>
        </p:txBody>
      </p:sp>
      <p:sp>
        <p:nvSpPr>
          <p:cNvPr id="20" name="Rectangle 19">
            <a:extLst>
              <a:ext uri="{FF2B5EF4-FFF2-40B4-BE49-F238E27FC236}">
                <a16:creationId xmlns:a16="http://schemas.microsoft.com/office/drawing/2014/main" id="{12F7E335-851A-4CAE-B09F-E657819D4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1C72D1A2-8226-7388-E353-8B6969F490ED}"/>
              </a:ext>
            </a:extLst>
          </p:cNvPr>
          <p:cNvSpPr>
            <a:spLocks noGrp="1"/>
          </p:cNvSpPr>
          <p:nvPr>
            <p:ph type="sldNum" sz="quarter" idx="12"/>
          </p:nvPr>
        </p:nvSpPr>
        <p:spPr>
          <a:xfrm>
            <a:off x="10352540" y="295729"/>
            <a:ext cx="838199" cy="767687"/>
          </a:xfrm>
        </p:spPr>
        <p:txBody>
          <a:bodyPr vert="horz" lIns="91440" tIns="45720" rIns="91440" bIns="45720" rtlCol="0">
            <a:normAutofit/>
          </a:bodyPr>
          <a:lstStyle/>
          <a:p>
            <a:pPr>
              <a:spcAft>
                <a:spcPts val="600"/>
              </a:spcAft>
            </a:pPr>
            <a:fld id="{D57F1E4F-1CFF-5643-939E-02111984F565}" type="slidenum">
              <a:rPr lang="en-US">
                <a:solidFill>
                  <a:srgbClr val="FFFFFF"/>
                </a:solidFill>
              </a:rPr>
              <a:pPr>
                <a:spcAft>
                  <a:spcPts val="600"/>
                </a:spcAft>
              </a:pPr>
              <a:t>33</a:t>
            </a:fld>
            <a:endParaRPr lang="en-US">
              <a:solidFill>
                <a:srgbClr val="FFFFFF"/>
              </a:solidFill>
            </a:endParaRPr>
          </a:p>
        </p:txBody>
      </p:sp>
      <p:sp>
        <p:nvSpPr>
          <p:cNvPr id="29" name="Freeform: Shape 28">
            <a:extLst>
              <a:ext uri="{FF2B5EF4-FFF2-40B4-BE49-F238E27FC236}">
                <a16:creationId xmlns:a16="http://schemas.microsoft.com/office/drawing/2014/main" id="{10B541F0-7F6E-402E-84D8-CF96EACA5F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8" cy="5095933"/>
          </a:xfrm>
          <a:custGeom>
            <a:avLst/>
            <a:gdLst>
              <a:gd name="connsiteX0" fmla="*/ 1 w 12192418"/>
              <a:gd name="connsiteY0" fmla="*/ 0 h 5095933"/>
              <a:gd name="connsiteX1" fmla="*/ 71932 w 12192418"/>
              <a:gd name="connsiteY1" fmla="*/ 12261 h 5095933"/>
              <a:gd name="connsiteX2" fmla="*/ 282849 w 12192418"/>
              <a:gd name="connsiteY2" fmla="*/ 48343 h 5095933"/>
              <a:gd name="connsiteX3" fmla="*/ 436464 w 12192418"/>
              <a:gd name="connsiteY3" fmla="*/ 73565 h 5095933"/>
              <a:gd name="connsiteX4" fmla="*/ 619339 w 12192418"/>
              <a:gd name="connsiteY4" fmla="*/ 100188 h 5095933"/>
              <a:gd name="connsiteX5" fmla="*/ 836351 w 12192418"/>
              <a:gd name="connsiteY5" fmla="*/ 132066 h 5095933"/>
              <a:gd name="connsiteX6" fmla="*/ 1076528 w 12192418"/>
              <a:gd name="connsiteY6" fmla="*/ 165696 h 5095933"/>
              <a:gd name="connsiteX7" fmla="*/ 1347184 w 12192418"/>
              <a:gd name="connsiteY7" fmla="*/ 201077 h 5095933"/>
              <a:gd name="connsiteX8" fmla="*/ 1642223 w 12192418"/>
              <a:gd name="connsiteY8" fmla="*/ 238560 h 5095933"/>
              <a:gd name="connsiteX9" fmla="*/ 1962864 w 12192418"/>
              <a:gd name="connsiteY9" fmla="*/ 276043 h 5095933"/>
              <a:gd name="connsiteX10" fmla="*/ 2304232 w 12192418"/>
              <a:gd name="connsiteY10" fmla="*/ 314227 h 5095933"/>
              <a:gd name="connsiteX11" fmla="*/ 2672421 w 12192418"/>
              <a:gd name="connsiteY11" fmla="*/ 349608 h 5095933"/>
              <a:gd name="connsiteX12" fmla="*/ 3057678 w 12192418"/>
              <a:gd name="connsiteY12" fmla="*/ 383588 h 5095933"/>
              <a:gd name="connsiteX13" fmla="*/ 3464881 w 12192418"/>
              <a:gd name="connsiteY13" fmla="*/ 414415 h 5095933"/>
              <a:gd name="connsiteX14" fmla="*/ 3889152 w 12192418"/>
              <a:gd name="connsiteY14" fmla="*/ 443841 h 5095933"/>
              <a:gd name="connsiteX15" fmla="*/ 4331710 w 12192418"/>
              <a:gd name="connsiteY15" fmla="*/ 471515 h 5095933"/>
              <a:gd name="connsiteX16" fmla="*/ 4558476 w 12192418"/>
              <a:gd name="connsiteY16" fmla="*/ 481324 h 5095933"/>
              <a:gd name="connsiteX17" fmla="*/ 4790118 w 12192418"/>
              <a:gd name="connsiteY17" fmla="*/ 492183 h 5095933"/>
              <a:gd name="connsiteX18" fmla="*/ 5025418 w 12192418"/>
              <a:gd name="connsiteY18" fmla="*/ 502342 h 5095933"/>
              <a:gd name="connsiteX19" fmla="*/ 5261937 w 12192418"/>
              <a:gd name="connsiteY19" fmla="*/ 508998 h 5095933"/>
              <a:gd name="connsiteX20" fmla="*/ 5503332 w 12192418"/>
              <a:gd name="connsiteY20" fmla="*/ 514953 h 5095933"/>
              <a:gd name="connsiteX21" fmla="*/ 5747167 w 12192418"/>
              <a:gd name="connsiteY21" fmla="*/ 521259 h 5095933"/>
              <a:gd name="connsiteX22" fmla="*/ 5995877 w 12192418"/>
              <a:gd name="connsiteY22" fmla="*/ 525463 h 5095933"/>
              <a:gd name="connsiteX23" fmla="*/ 6247026 w 12192418"/>
              <a:gd name="connsiteY23" fmla="*/ 525463 h 5095933"/>
              <a:gd name="connsiteX24" fmla="*/ 6500613 w 12192418"/>
              <a:gd name="connsiteY24" fmla="*/ 527565 h 5095933"/>
              <a:gd name="connsiteX25" fmla="*/ 6756639 w 12192418"/>
              <a:gd name="connsiteY25" fmla="*/ 525463 h 5095933"/>
              <a:gd name="connsiteX26" fmla="*/ 7016322 w 12192418"/>
              <a:gd name="connsiteY26" fmla="*/ 521259 h 5095933"/>
              <a:gd name="connsiteX27" fmla="*/ 7276005 w 12192418"/>
              <a:gd name="connsiteY27" fmla="*/ 517406 h 5095933"/>
              <a:gd name="connsiteX28" fmla="*/ 7539345 w 12192418"/>
              <a:gd name="connsiteY28" fmla="*/ 508998 h 5095933"/>
              <a:gd name="connsiteX29" fmla="*/ 7805124 w 12192418"/>
              <a:gd name="connsiteY29" fmla="*/ 500241 h 5095933"/>
              <a:gd name="connsiteX30" fmla="*/ 8070903 w 12192418"/>
              <a:gd name="connsiteY30" fmla="*/ 490082 h 5095933"/>
              <a:gd name="connsiteX31" fmla="*/ 8339121 w 12192418"/>
              <a:gd name="connsiteY31" fmla="*/ 475719 h 5095933"/>
              <a:gd name="connsiteX32" fmla="*/ 8609776 w 12192418"/>
              <a:gd name="connsiteY32" fmla="*/ 458554 h 5095933"/>
              <a:gd name="connsiteX33" fmla="*/ 8881651 w 12192418"/>
              <a:gd name="connsiteY33" fmla="*/ 442089 h 5095933"/>
              <a:gd name="connsiteX34" fmla="*/ 9153526 w 12192418"/>
              <a:gd name="connsiteY34" fmla="*/ 421071 h 5095933"/>
              <a:gd name="connsiteX35" fmla="*/ 9429058 w 12192418"/>
              <a:gd name="connsiteY35" fmla="*/ 395849 h 5095933"/>
              <a:gd name="connsiteX36" fmla="*/ 9700933 w 12192418"/>
              <a:gd name="connsiteY36" fmla="*/ 370626 h 5095933"/>
              <a:gd name="connsiteX37" fmla="*/ 9977684 w 12192418"/>
              <a:gd name="connsiteY37" fmla="*/ 341551 h 5095933"/>
              <a:gd name="connsiteX38" fmla="*/ 10255655 w 12192418"/>
              <a:gd name="connsiteY38" fmla="*/ 309673 h 5095933"/>
              <a:gd name="connsiteX39" fmla="*/ 10529968 w 12192418"/>
              <a:gd name="connsiteY39" fmla="*/ 276043 h 5095933"/>
              <a:gd name="connsiteX40" fmla="*/ 10807939 w 12192418"/>
              <a:gd name="connsiteY40" fmla="*/ 236809 h 5095933"/>
              <a:gd name="connsiteX41" fmla="*/ 11084690 w 12192418"/>
              <a:gd name="connsiteY41" fmla="*/ 194772 h 5095933"/>
              <a:gd name="connsiteX42" fmla="*/ 11362661 w 12192418"/>
              <a:gd name="connsiteY42" fmla="*/ 153085 h 5095933"/>
              <a:gd name="connsiteX43" fmla="*/ 11639412 w 12192418"/>
              <a:gd name="connsiteY43" fmla="*/ 104392 h 5095933"/>
              <a:gd name="connsiteX44" fmla="*/ 11914945 w 12192418"/>
              <a:gd name="connsiteY44" fmla="*/ 54648 h 5095933"/>
              <a:gd name="connsiteX45" fmla="*/ 12191696 w 12192418"/>
              <a:gd name="connsiteY45" fmla="*/ 2452 h 5095933"/>
              <a:gd name="connsiteX46" fmla="*/ 12191696 w 12192418"/>
              <a:gd name="connsiteY46" fmla="*/ 2109542 h 5095933"/>
              <a:gd name="connsiteX47" fmla="*/ 12191999 w 12192418"/>
              <a:gd name="connsiteY47" fmla="*/ 2109542 h 5095933"/>
              <a:gd name="connsiteX48" fmla="*/ 12191999 w 12192418"/>
              <a:gd name="connsiteY48" fmla="*/ 2802467 h 5095933"/>
              <a:gd name="connsiteX49" fmla="*/ 12192418 w 12192418"/>
              <a:gd name="connsiteY49" fmla="*/ 2802467 h 5095933"/>
              <a:gd name="connsiteX50" fmla="*/ 12192418 w 12192418"/>
              <a:gd name="connsiteY50" fmla="*/ 5095933 h 5095933"/>
              <a:gd name="connsiteX51" fmla="*/ 1 w 12192418"/>
              <a:gd name="connsiteY51" fmla="*/ 5095933 h 5095933"/>
              <a:gd name="connsiteX52" fmla="*/ 1 w 12192418"/>
              <a:gd name="connsiteY52" fmla="*/ 4074529 h 5095933"/>
              <a:gd name="connsiteX53" fmla="*/ 0 w 12192418"/>
              <a:gd name="connsiteY53" fmla="*/ 4074529 h 5095933"/>
              <a:gd name="connsiteX54" fmla="*/ 0 w 12192418"/>
              <a:gd name="connsiteY54" fmla="*/ 2109542 h 5095933"/>
              <a:gd name="connsiteX55" fmla="*/ 1 w 12192418"/>
              <a:gd name="connsiteY55" fmla="*/ 2109542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418" h="5095933">
                <a:moveTo>
                  <a:pt x="1" y="0"/>
                </a:moveTo>
                <a:lnTo>
                  <a:pt x="71932" y="12261"/>
                </a:lnTo>
                <a:lnTo>
                  <a:pt x="282849" y="48343"/>
                </a:lnTo>
                <a:lnTo>
                  <a:pt x="436464" y="73565"/>
                </a:lnTo>
                <a:lnTo>
                  <a:pt x="619339" y="100188"/>
                </a:lnTo>
                <a:lnTo>
                  <a:pt x="836351" y="132066"/>
                </a:lnTo>
                <a:lnTo>
                  <a:pt x="1076528" y="165696"/>
                </a:lnTo>
                <a:lnTo>
                  <a:pt x="1347184" y="201077"/>
                </a:lnTo>
                <a:lnTo>
                  <a:pt x="1642223" y="238560"/>
                </a:lnTo>
                <a:lnTo>
                  <a:pt x="1962864" y="276043"/>
                </a:lnTo>
                <a:lnTo>
                  <a:pt x="2304232" y="314227"/>
                </a:lnTo>
                <a:lnTo>
                  <a:pt x="2672421" y="349608"/>
                </a:lnTo>
                <a:lnTo>
                  <a:pt x="3057678" y="383588"/>
                </a:lnTo>
                <a:lnTo>
                  <a:pt x="3464881" y="414415"/>
                </a:lnTo>
                <a:lnTo>
                  <a:pt x="3889152" y="443841"/>
                </a:lnTo>
                <a:lnTo>
                  <a:pt x="4331710" y="471515"/>
                </a:lnTo>
                <a:lnTo>
                  <a:pt x="4558476" y="481324"/>
                </a:lnTo>
                <a:lnTo>
                  <a:pt x="4790118" y="492183"/>
                </a:lnTo>
                <a:lnTo>
                  <a:pt x="5025418" y="502342"/>
                </a:lnTo>
                <a:lnTo>
                  <a:pt x="5261937" y="508998"/>
                </a:lnTo>
                <a:lnTo>
                  <a:pt x="5503332" y="514953"/>
                </a:lnTo>
                <a:lnTo>
                  <a:pt x="5747167" y="521259"/>
                </a:lnTo>
                <a:lnTo>
                  <a:pt x="5995877" y="525463"/>
                </a:lnTo>
                <a:lnTo>
                  <a:pt x="6247026" y="525463"/>
                </a:lnTo>
                <a:lnTo>
                  <a:pt x="6500613" y="527565"/>
                </a:lnTo>
                <a:lnTo>
                  <a:pt x="6756639" y="525463"/>
                </a:lnTo>
                <a:lnTo>
                  <a:pt x="7016322" y="521259"/>
                </a:lnTo>
                <a:lnTo>
                  <a:pt x="7276005" y="517406"/>
                </a:lnTo>
                <a:lnTo>
                  <a:pt x="7539345" y="508998"/>
                </a:lnTo>
                <a:lnTo>
                  <a:pt x="7805124" y="500241"/>
                </a:lnTo>
                <a:lnTo>
                  <a:pt x="8070903" y="490082"/>
                </a:lnTo>
                <a:lnTo>
                  <a:pt x="8339121" y="475719"/>
                </a:lnTo>
                <a:lnTo>
                  <a:pt x="8609776" y="458554"/>
                </a:lnTo>
                <a:lnTo>
                  <a:pt x="8881651" y="442089"/>
                </a:lnTo>
                <a:lnTo>
                  <a:pt x="9153526" y="421071"/>
                </a:lnTo>
                <a:lnTo>
                  <a:pt x="9429058" y="395849"/>
                </a:lnTo>
                <a:lnTo>
                  <a:pt x="9700933" y="370626"/>
                </a:lnTo>
                <a:lnTo>
                  <a:pt x="9977684" y="341551"/>
                </a:lnTo>
                <a:lnTo>
                  <a:pt x="10255655" y="309673"/>
                </a:lnTo>
                <a:lnTo>
                  <a:pt x="10529968" y="276043"/>
                </a:lnTo>
                <a:lnTo>
                  <a:pt x="10807939" y="236809"/>
                </a:lnTo>
                <a:lnTo>
                  <a:pt x="11084690" y="194772"/>
                </a:lnTo>
                <a:lnTo>
                  <a:pt x="11362661" y="153085"/>
                </a:lnTo>
                <a:lnTo>
                  <a:pt x="11639412" y="104392"/>
                </a:lnTo>
                <a:lnTo>
                  <a:pt x="11914945" y="54648"/>
                </a:lnTo>
                <a:lnTo>
                  <a:pt x="12191696" y="2452"/>
                </a:lnTo>
                <a:lnTo>
                  <a:pt x="12191696" y="2109542"/>
                </a:lnTo>
                <a:lnTo>
                  <a:pt x="12191999" y="2109542"/>
                </a:lnTo>
                <a:lnTo>
                  <a:pt x="12191999" y="2802467"/>
                </a:lnTo>
                <a:lnTo>
                  <a:pt x="12192418" y="2802467"/>
                </a:lnTo>
                <a:lnTo>
                  <a:pt x="12192418" y="5095933"/>
                </a:lnTo>
                <a:lnTo>
                  <a:pt x="1" y="5095933"/>
                </a:lnTo>
                <a:lnTo>
                  <a:pt x="1" y="4074529"/>
                </a:lnTo>
                <a:lnTo>
                  <a:pt x="0" y="4074529"/>
                </a:lnTo>
                <a:lnTo>
                  <a:pt x="0" y="2109542"/>
                </a:lnTo>
                <a:lnTo>
                  <a:pt x="1" y="2109542"/>
                </a:lnTo>
                <a:close/>
              </a:path>
            </a:pathLst>
          </a:custGeom>
          <a:solidFill>
            <a:schemeClr val="bg1"/>
          </a:solidFill>
          <a:ln>
            <a:noFill/>
          </a:ln>
        </p:spPr>
        <p:txBody>
          <a:bodyPr/>
          <a:lstStyle/>
          <a:p>
            <a:endParaRPr lang="en-US"/>
          </a:p>
        </p:txBody>
      </p:sp>
      <p:sp>
        <p:nvSpPr>
          <p:cNvPr id="6" name="Rectangle 1">
            <a:extLst>
              <a:ext uri="{FF2B5EF4-FFF2-40B4-BE49-F238E27FC236}">
                <a16:creationId xmlns:a16="http://schemas.microsoft.com/office/drawing/2014/main" id="{F2691D7A-FB1D-8248-8074-934205BF2B5E}"/>
              </a:ext>
            </a:extLst>
          </p:cNvPr>
          <p:cNvSpPr>
            <a:spLocks noChangeArrowheads="1"/>
          </p:cNvSpPr>
          <p:nvPr/>
        </p:nvSpPr>
        <p:spPr bwMode="auto">
          <a:xfrm>
            <a:off x="-2896220" y="-12649"/>
            <a:ext cx="15088220" cy="4698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graphicFrame>
        <p:nvGraphicFramePr>
          <p:cNvPr id="12" name="Table 11">
            <a:extLst>
              <a:ext uri="{FF2B5EF4-FFF2-40B4-BE49-F238E27FC236}">
                <a16:creationId xmlns:a16="http://schemas.microsoft.com/office/drawing/2014/main" id="{1D33345E-6BCA-1743-2E0D-B2B81DBED7F8}"/>
              </a:ext>
            </a:extLst>
          </p:cNvPr>
          <p:cNvGraphicFramePr>
            <a:graphicFrameLocks noGrp="1"/>
          </p:cNvGraphicFramePr>
          <p:nvPr>
            <p:extLst>
              <p:ext uri="{D42A27DB-BD31-4B8C-83A1-F6EECF244321}">
                <p14:modId xmlns:p14="http://schemas.microsoft.com/office/powerpoint/2010/main" val="2568643091"/>
              </p:ext>
            </p:extLst>
          </p:nvPr>
        </p:nvGraphicFramePr>
        <p:xfrm>
          <a:off x="11042" y="1755912"/>
          <a:ext cx="12178081" cy="5078504"/>
        </p:xfrm>
        <a:graphic>
          <a:graphicData uri="http://schemas.openxmlformats.org/drawingml/2006/table">
            <a:tbl>
              <a:tblPr firstRow="1" firstCol="1" bandRow="1">
                <a:tableStyleId>{5C22544A-7EE6-4342-B048-85BDC9FD1C3A}</a:tableStyleId>
              </a:tblPr>
              <a:tblGrid>
                <a:gridCol w="1630861">
                  <a:extLst>
                    <a:ext uri="{9D8B030D-6E8A-4147-A177-3AD203B41FA5}">
                      <a16:colId xmlns:a16="http://schemas.microsoft.com/office/drawing/2014/main" val="4206311443"/>
                    </a:ext>
                  </a:extLst>
                </a:gridCol>
                <a:gridCol w="8090172">
                  <a:extLst>
                    <a:ext uri="{9D8B030D-6E8A-4147-A177-3AD203B41FA5}">
                      <a16:colId xmlns:a16="http://schemas.microsoft.com/office/drawing/2014/main" val="3844745312"/>
                    </a:ext>
                  </a:extLst>
                </a:gridCol>
                <a:gridCol w="2457048">
                  <a:extLst>
                    <a:ext uri="{9D8B030D-6E8A-4147-A177-3AD203B41FA5}">
                      <a16:colId xmlns:a16="http://schemas.microsoft.com/office/drawing/2014/main" val="534251307"/>
                    </a:ext>
                  </a:extLst>
                </a:gridCol>
              </a:tblGrid>
              <a:tr h="291868">
                <a:tc>
                  <a:txBody>
                    <a:bodyPr/>
                    <a:lstStyle/>
                    <a:p>
                      <a:r>
                        <a:t>Report 4</a:t>
                      </a:r>
                    </a:p>
                  </a:txBody>
                  <a:tcPr marL="68580" marR="68580" marT="0" marB="0"/>
                </a:tc>
                <a:tc>
                  <a:txBody>
                    <a:bodyPr/>
                    <a:lstStyle/>
                    <a:p/>
                  </a:txBody>
                  <a:tcPr marL="68580" marR="68580" marT="0" marB="0"/>
                </a:tc>
                <a:tc>
                  <a:txBody>
                    <a:bodyPr/>
                    <a:lstStyle/>
                    <a:p/>
                  </a:txBody>
                  <a:tcPr marL="68580" marR="68580" marT="0" marB="0"/>
                </a:tc>
                <a:extLst>
                  <a:ext uri="{0D108BD9-81ED-4DB2-BD59-A6C34878D82A}">
                    <a16:rowId xmlns:a16="http://schemas.microsoft.com/office/drawing/2014/main" val="4078906172"/>
                  </a:ext>
                </a:extLst>
              </a:tr>
              <a:tr h="335648">
                <a:tc>
                  <a:txBody>
                    <a:bodyPr/>
                    <a:lstStyle/>
                    <a:p>
                      <a:r>
                        <a:t>3/16/2026</a:t>
                      </a:r>
                    </a:p>
                  </a:txBody>
                  <a:tcPr marL="68580" marR="68580" marT="0" marB="0"/>
                </a:tc>
                <a:tc>
                  <a:txBody>
                    <a:bodyPr/>
                    <a:lstStyle/>
                    <a:p>
                      <a:r>
                        <a:t>Advisor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1435926540"/>
                  </a:ext>
                </a:extLst>
              </a:tr>
              <a:tr h="335648">
                <a:tc>
                  <a:txBody>
                    <a:bodyPr/>
                    <a:lstStyle/>
                    <a:p>
                      <a:r>
                        <a:t>3/25/2026</a:t>
                      </a:r>
                    </a:p>
                  </a:txBody>
                  <a:tcPr marL="68580" marR="68580" marT="0" marB="0"/>
                </a:tc>
                <a:tc>
                  <a:txBody>
                    <a:bodyPr/>
                    <a:lstStyle/>
                    <a:p>
                      <a:r>
                        <a:t>Integration tests for simulation pipeline</a:t>
                      </a:r>
                    </a:p>
                  </a:txBody>
                  <a:tcPr marL="68580" marR="68580" marT="0" marB="0"/>
                </a:tc>
                <a:tc>
                  <a:txBody>
                    <a:bodyPr/>
                    <a:lstStyle/>
                    <a:p>
                      <a:r>
                        <a:t>3 hours</a:t>
                      </a:r>
                    </a:p>
                  </a:txBody>
                  <a:tcPr marL="68580" marR="68580" marT="0" marB="0"/>
                </a:tc>
                <a:extLst>
                  <a:ext uri="{0D108BD9-81ED-4DB2-BD59-A6C34878D82A}">
                    <a16:rowId xmlns:a16="http://schemas.microsoft.com/office/drawing/2014/main" val="394054168"/>
                  </a:ext>
                </a:extLst>
              </a:tr>
              <a:tr h="291868">
                <a:tc>
                  <a:txBody>
                    <a:bodyPr/>
                    <a:lstStyle/>
                    <a:p>
                      <a:r>
                        <a:t>3/26/2026</a:t>
                      </a:r>
                    </a:p>
                  </a:txBody>
                  <a:tcPr marL="68580" marR="68580" marT="0" marB="0"/>
                </a:tc>
                <a:tc>
                  <a:txBody>
                    <a:bodyPr/>
                    <a:lstStyle/>
                    <a:p>
                      <a:r>
                        <a:t>Mentor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1644474791"/>
                  </a:ext>
                </a:extLst>
              </a:tr>
              <a:tr h="335648">
                <a:tc>
                  <a:txBody>
                    <a:bodyPr/>
                    <a:lstStyle/>
                    <a:p>
                      <a:r>
                        <a:t>4/1/2026</a:t>
                      </a:r>
                    </a:p>
                  </a:txBody>
                  <a:tcPr marL="68580" marR="68580" marT="0" marB="0"/>
                </a:tc>
                <a:tc>
                  <a:txBody>
                    <a:bodyPr/>
                    <a:lstStyle/>
                    <a:p>
                      <a:r>
                        <a:t>Debugged buffer flush race in simulation</a:t>
                      </a:r>
                    </a:p>
                  </a:txBody>
                  <a:tcPr marL="68580" marR="68580" marT="0" marB="0"/>
                </a:tc>
                <a:tc>
                  <a:txBody>
                    <a:bodyPr/>
                    <a:lstStyle/>
                    <a:p>
                      <a:r>
                        <a:t>4 hours</a:t>
                      </a:r>
                    </a:p>
                  </a:txBody>
                  <a:tcPr marL="68580" marR="68580" marT="0" marB="0"/>
                </a:tc>
                <a:extLst>
                  <a:ext uri="{0D108BD9-81ED-4DB2-BD59-A6C34878D82A}">
                    <a16:rowId xmlns:a16="http://schemas.microsoft.com/office/drawing/2014/main" val="816357012"/>
                  </a:ext>
                </a:extLst>
              </a:tr>
              <a:tr h="291868">
                <a:tc>
                  <a:txBody>
                    <a:bodyPr/>
                    <a:lstStyle/>
                    <a:p>
                      <a:r>
                        <a:t>4/6/2026</a:t>
                      </a:r>
                    </a:p>
                  </a:txBody>
                  <a:tcPr marL="68580" marR="68580" marT="0" marB="0"/>
                </a:tc>
                <a:tc>
                  <a:txBody>
                    <a:bodyPr/>
                    <a:lstStyle/>
                    <a:p>
                      <a:r>
                        <a:t>Advisor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487532548"/>
                  </a:ext>
                </a:extLst>
              </a:tr>
              <a:tr h="335648">
                <a:tc>
                  <a:txBody>
                    <a:bodyPr/>
                    <a:lstStyle/>
                    <a:p>
                      <a:r>
                        <a:t>4/8/2026</a:t>
                      </a:r>
                    </a:p>
                  </a:txBody>
                  <a:tcPr marL="68580" marR="68580" marT="0" marB="0"/>
                </a:tc>
                <a:tc>
                  <a:txBody>
                    <a:bodyPr/>
                    <a:lstStyle/>
                    <a:p>
                      <a:r>
                        <a:t>Mentor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560140988"/>
                  </a:ext>
                </a:extLst>
              </a:tr>
              <a:tr h="598330">
                <a:tc>
                  <a:txBody>
                    <a:bodyPr/>
                    <a:lstStyle/>
                    <a:p>
                      <a:r>
                        <a:t>4/10/2026</a:t>
                      </a:r>
                    </a:p>
                  </a:txBody>
                  <a:tcPr marL="68580" marR="68580" marT="0" marB="0"/>
                </a:tc>
                <a:tc>
                  <a:txBody>
                    <a:bodyPr/>
                    <a:lstStyle/>
                    <a:p>
                      <a:r>
                        <a:t>Performance acceptance benchmarks</a:t>
                      </a:r>
                    </a:p>
                  </a:txBody>
                  <a:tcPr marL="68580" marR="68580" marT="0" marB="0"/>
                </a:tc>
                <a:tc>
                  <a:txBody>
                    <a:bodyPr/>
                    <a:lstStyle/>
                    <a:p>
                      <a:r>
                        <a:t>3 hours</a:t>
                      </a:r>
                    </a:p>
                  </a:txBody>
                  <a:tcPr marL="68580" marR="68580" marT="0" marB="0"/>
                </a:tc>
                <a:extLst>
                  <a:ext uri="{0D108BD9-81ED-4DB2-BD59-A6C34878D82A}">
                    <a16:rowId xmlns:a16="http://schemas.microsoft.com/office/drawing/2014/main" val="841024420"/>
                  </a:ext>
                </a:extLst>
              </a:tr>
              <a:tr h="598330">
                <a:tc>
                  <a:txBody>
                    <a:bodyPr/>
                    <a:lstStyle/>
                    <a:p>
                      <a:r>
                        <a:t>4/13/2026</a:t>
                      </a:r>
                    </a:p>
                  </a:txBody>
                  <a:tcPr marL="68580" marR="68580" marT="0" marB="0"/>
                </a:tc>
                <a:tc>
                  <a:txBody>
                    <a:bodyPr/>
                    <a:lstStyle/>
                    <a:p>
                      <a:r>
                        <a:t>Advisor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2896889918"/>
                  </a:ext>
                </a:extLst>
              </a:tr>
              <a:tr h="291868">
                <a:tc>
                  <a:txBody>
                    <a:bodyPr/>
                    <a:lstStyle/>
                    <a:p>
                      <a:r>
                        <a:t>4/15/2026</a:t>
                      </a:r>
                    </a:p>
                  </a:txBody>
                  <a:tcPr marL="68580" marR="68580" marT="0" marB="0"/>
                </a:tc>
                <a:tc>
                  <a:txBody>
                    <a:bodyPr/>
                    <a:lstStyle/>
                    <a:p>
                      <a:r>
                        <a:t>Fasenmeyer poster — technical background</a:t>
                      </a:r>
                    </a:p>
                  </a:txBody>
                  <a:tcPr marL="68580" marR="68580" marT="0" marB="0"/>
                </a:tc>
                <a:tc>
                  <a:txBody>
                    <a:bodyPr/>
                    <a:lstStyle/>
                    <a:p>
                      <a:r>
                        <a:t>3 hours</a:t>
                      </a:r>
                    </a:p>
                  </a:txBody>
                  <a:tcPr marL="68580" marR="68580" marT="0" marB="0"/>
                </a:tc>
                <a:extLst>
                  <a:ext uri="{0D108BD9-81ED-4DB2-BD59-A6C34878D82A}">
                    <a16:rowId xmlns:a16="http://schemas.microsoft.com/office/drawing/2014/main" val="3084930746"/>
                  </a:ext>
                </a:extLst>
              </a:tr>
              <a:tr h="335648">
                <a:tc>
                  <a:txBody>
                    <a:bodyPr/>
                    <a:lstStyle/>
                    <a:p>
                      <a:r>
                        <a:t>4/17/2026</a:t>
                      </a:r>
                    </a:p>
                  </a:txBody>
                  <a:tcPr marL="68580" marR="68580" marT="0" marB="0"/>
                </a:tc>
                <a:tc>
                  <a:txBody>
                    <a:bodyPr/>
                    <a:lstStyle/>
                    <a:p>
                      <a:r>
                        <a:t>Poster finishing touches, group discussion</a:t>
                      </a:r>
                    </a:p>
                  </a:txBody>
                  <a:tcPr marL="68580" marR="68580" marT="0" marB="0"/>
                </a:tc>
                <a:tc>
                  <a:txBody>
                    <a:bodyPr/>
                    <a:lstStyle/>
                    <a:p>
                      <a:r>
                        <a:t>4 hours</a:t>
                      </a:r>
                    </a:p>
                  </a:txBody>
                  <a:tcPr marL="68580" marR="68580" marT="0" marB="0"/>
                </a:tc>
                <a:extLst>
                  <a:ext uri="{0D108BD9-81ED-4DB2-BD59-A6C34878D82A}">
                    <a16:rowId xmlns:a16="http://schemas.microsoft.com/office/drawing/2014/main" val="3636081741"/>
                  </a:ext>
                </a:extLst>
              </a:tr>
              <a:tr h="744264">
                <a:tc>
                  <a:txBody>
                    <a:bodyPr/>
                    <a:lstStyle/>
                    <a:p>
                      <a:r>
                        <a:t>4/19/2026</a:t>
                      </a:r>
                    </a:p>
                  </a:txBody>
                  <a:tcPr marL="68580" marR="68580" marT="0" marB="0"/>
                </a:tc>
                <a:tc>
                  <a:txBody>
                    <a:bodyPr/>
                    <a:lstStyle/>
                    <a:p>
                      <a:r>
                        <a:t>Updated report sections 8.2 and 8.3</a:t>
                      </a:r>
                    </a:p>
                  </a:txBody>
                  <a:tcPr marL="68580" marR="68580" marT="0" marB="0"/>
                </a:tc>
                <a:tc>
                  <a:txBody>
                    <a:bodyPr/>
                    <a:lstStyle/>
                    <a:p>
                      <a:r>
                        <a:t>4 hours</a:t>
                      </a:r>
                    </a:p>
                  </a:txBody>
                  <a:tcPr marL="68580" marR="68580" marT="0" marB="0"/>
                </a:tc>
                <a:extLst>
                  <a:ext uri="{0D108BD9-81ED-4DB2-BD59-A6C34878D82A}">
                    <a16:rowId xmlns:a16="http://schemas.microsoft.com/office/drawing/2014/main" val="665424194"/>
                  </a:ext>
                </a:extLst>
              </a:tr>
              <a:tr h="291868">
                <a:tc>
                  <a:txBody>
                    <a:bodyPr/>
                    <a:lstStyle/>
                    <a:p/>
                  </a:txBody>
                  <a:tcPr marL="68580" marR="68580" marT="0" marB="0"/>
                </a:tc>
                <a:tc>
                  <a:txBody>
                    <a:bodyPr/>
                    <a:lstStyle/>
                    <a:p/>
                  </a:txBody>
                  <a:tcPr marL="68580" marR="68580" marT="0" marB="0"/>
                </a:tc>
                <a:tc>
                  <a:txBody>
                    <a:bodyPr/>
                    <a:lstStyle/>
                    <a:p>
                      <a:r>
                        <a:t>Total: 31 hours</a:t>
                      </a:r>
                    </a:p>
                  </a:txBody>
                  <a:tcPr marL="68580" marR="68580" marT="0" marB="0"/>
                </a:tc>
                <a:extLst>
                  <a:ext uri="{0D108BD9-81ED-4DB2-BD59-A6C34878D82A}">
                    <a16:rowId xmlns:a16="http://schemas.microsoft.com/office/drawing/2014/main" val="3918166877"/>
                  </a:ext>
                </a:extLst>
              </a:tr>
            </a:tbl>
          </a:graphicData>
        </a:graphic>
      </p:graphicFrame>
    </p:spTree>
    <p:extLst>
      <p:ext uri="{BB962C8B-B14F-4D97-AF65-F5344CB8AC3E}">
        <p14:creationId xmlns:p14="http://schemas.microsoft.com/office/powerpoint/2010/main" val="1304618324"/>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F1FBFD6-F8BD-A3E7-3016-C38A8FBBAC0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747F1B4-B831-4277-8AB0-32767F7EB7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1" name="Freeform 7">
            <a:extLst>
              <a:ext uri="{FF2B5EF4-FFF2-40B4-BE49-F238E27FC236}">
                <a16:creationId xmlns:a16="http://schemas.microsoft.com/office/drawing/2014/main" id="{D80CFA21-AB7C-4BEB-9BFF-05764FBBF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9D128374-1212-AE3C-C09B-E5ED808A194B}"/>
              </a:ext>
            </a:extLst>
          </p:cNvPr>
          <p:cNvSpPr>
            <a:spLocks noGrp="1"/>
          </p:cNvSpPr>
          <p:nvPr>
            <p:ph type="title"/>
          </p:nvPr>
        </p:nvSpPr>
        <p:spPr>
          <a:xfrm>
            <a:off x="648930" y="629267"/>
            <a:ext cx="9252154" cy="1016654"/>
          </a:xfrm>
        </p:spPr>
        <p:txBody>
          <a:bodyPr vert="horz" lIns="91440" tIns="45720" rIns="91440" bIns="45720" rtlCol="0">
            <a:normAutofit/>
          </a:bodyPr>
          <a:lstStyle/>
          <a:p>
            <a:r>
              <a:rPr lang="en-US" b="0" i="0" kern="1200">
                <a:solidFill>
                  <a:srgbClr val="EBEBEB"/>
                </a:solidFill>
                <a:latin typeface="+mj-lt"/>
                <a:ea typeface="+mj-ea"/>
                <a:cs typeface="+mj-cs"/>
              </a:rPr>
              <a:t>Collin Miller</a:t>
            </a:r>
          </a:p>
        </p:txBody>
      </p:sp>
      <p:sp>
        <p:nvSpPr>
          <p:cNvPr id="12" name="Rectangle 11">
            <a:extLst>
              <a:ext uri="{FF2B5EF4-FFF2-40B4-BE49-F238E27FC236}">
                <a16:creationId xmlns:a16="http://schemas.microsoft.com/office/drawing/2014/main" id="{12F7E335-851A-4CAE-B09F-E657819D4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1AC286AE-2335-1736-09E1-84FF26ACB844}"/>
              </a:ext>
            </a:extLst>
          </p:cNvPr>
          <p:cNvSpPr>
            <a:spLocks noGrp="1"/>
          </p:cNvSpPr>
          <p:nvPr>
            <p:ph type="sldNum" sz="quarter" idx="12"/>
          </p:nvPr>
        </p:nvSpPr>
        <p:spPr>
          <a:xfrm>
            <a:off x="10352540" y="295729"/>
            <a:ext cx="838199" cy="767687"/>
          </a:xfrm>
        </p:spPr>
        <p:txBody>
          <a:bodyPr vert="horz" lIns="91440" tIns="45720" rIns="91440" bIns="45720" rtlCol="0">
            <a:normAutofit/>
          </a:bodyPr>
          <a:lstStyle/>
          <a:p>
            <a:pPr>
              <a:spcAft>
                <a:spcPts val="600"/>
              </a:spcAft>
            </a:pPr>
            <a:fld id="{D57F1E4F-1CFF-5643-939E-02111984F565}" type="slidenum">
              <a:rPr lang="en-US">
                <a:solidFill>
                  <a:srgbClr val="FFFFFF"/>
                </a:solidFill>
              </a:rPr>
              <a:pPr>
                <a:spcAft>
                  <a:spcPts val="600"/>
                </a:spcAft>
              </a:pPr>
              <a:t>34</a:t>
            </a:fld>
            <a:endParaRPr lang="en-US">
              <a:solidFill>
                <a:srgbClr val="FFFFFF"/>
              </a:solidFill>
            </a:endParaRPr>
          </a:p>
        </p:txBody>
      </p:sp>
      <p:sp>
        <p:nvSpPr>
          <p:cNvPr id="14" name="Freeform: Shape 13">
            <a:extLst>
              <a:ext uri="{FF2B5EF4-FFF2-40B4-BE49-F238E27FC236}">
                <a16:creationId xmlns:a16="http://schemas.microsoft.com/office/drawing/2014/main" id="{10B541F0-7F6E-402E-84D8-CF96EACA5F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8" cy="5095933"/>
          </a:xfrm>
          <a:custGeom>
            <a:avLst/>
            <a:gdLst>
              <a:gd name="connsiteX0" fmla="*/ 1 w 12192418"/>
              <a:gd name="connsiteY0" fmla="*/ 0 h 5095933"/>
              <a:gd name="connsiteX1" fmla="*/ 71932 w 12192418"/>
              <a:gd name="connsiteY1" fmla="*/ 12261 h 5095933"/>
              <a:gd name="connsiteX2" fmla="*/ 282849 w 12192418"/>
              <a:gd name="connsiteY2" fmla="*/ 48343 h 5095933"/>
              <a:gd name="connsiteX3" fmla="*/ 436464 w 12192418"/>
              <a:gd name="connsiteY3" fmla="*/ 73565 h 5095933"/>
              <a:gd name="connsiteX4" fmla="*/ 619339 w 12192418"/>
              <a:gd name="connsiteY4" fmla="*/ 100188 h 5095933"/>
              <a:gd name="connsiteX5" fmla="*/ 836351 w 12192418"/>
              <a:gd name="connsiteY5" fmla="*/ 132066 h 5095933"/>
              <a:gd name="connsiteX6" fmla="*/ 1076528 w 12192418"/>
              <a:gd name="connsiteY6" fmla="*/ 165696 h 5095933"/>
              <a:gd name="connsiteX7" fmla="*/ 1347184 w 12192418"/>
              <a:gd name="connsiteY7" fmla="*/ 201077 h 5095933"/>
              <a:gd name="connsiteX8" fmla="*/ 1642223 w 12192418"/>
              <a:gd name="connsiteY8" fmla="*/ 238560 h 5095933"/>
              <a:gd name="connsiteX9" fmla="*/ 1962864 w 12192418"/>
              <a:gd name="connsiteY9" fmla="*/ 276043 h 5095933"/>
              <a:gd name="connsiteX10" fmla="*/ 2304232 w 12192418"/>
              <a:gd name="connsiteY10" fmla="*/ 314227 h 5095933"/>
              <a:gd name="connsiteX11" fmla="*/ 2672421 w 12192418"/>
              <a:gd name="connsiteY11" fmla="*/ 349608 h 5095933"/>
              <a:gd name="connsiteX12" fmla="*/ 3057678 w 12192418"/>
              <a:gd name="connsiteY12" fmla="*/ 383588 h 5095933"/>
              <a:gd name="connsiteX13" fmla="*/ 3464881 w 12192418"/>
              <a:gd name="connsiteY13" fmla="*/ 414415 h 5095933"/>
              <a:gd name="connsiteX14" fmla="*/ 3889152 w 12192418"/>
              <a:gd name="connsiteY14" fmla="*/ 443841 h 5095933"/>
              <a:gd name="connsiteX15" fmla="*/ 4331710 w 12192418"/>
              <a:gd name="connsiteY15" fmla="*/ 471515 h 5095933"/>
              <a:gd name="connsiteX16" fmla="*/ 4558476 w 12192418"/>
              <a:gd name="connsiteY16" fmla="*/ 481324 h 5095933"/>
              <a:gd name="connsiteX17" fmla="*/ 4790118 w 12192418"/>
              <a:gd name="connsiteY17" fmla="*/ 492183 h 5095933"/>
              <a:gd name="connsiteX18" fmla="*/ 5025418 w 12192418"/>
              <a:gd name="connsiteY18" fmla="*/ 502342 h 5095933"/>
              <a:gd name="connsiteX19" fmla="*/ 5261937 w 12192418"/>
              <a:gd name="connsiteY19" fmla="*/ 508998 h 5095933"/>
              <a:gd name="connsiteX20" fmla="*/ 5503332 w 12192418"/>
              <a:gd name="connsiteY20" fmla="*/ 514953 h 5095933"/>
              <a:gd name="connsiteX21" fmla="*/ 5747167 w 12192418"/>
              <a:gd name="connsiteY21" fmla="*/ 521259 h 5095933"/>
              <a:gd name="connsiteX22" fmla="*/ 5995877 w 12192418"/>
              <a:gd name="connsiteY22" fmla="*/ 525463 h 5095933"/>
              <a:gd name="connsiteX23" fmla="*/ 6247026 w 12192418"/>
              <a:gd name="connsiteY23" fmla="*/ 525463 h 5095933"/>
              <a:gd name="connsiteX24" fmla="*/ 6500613 w 12192418"/>
              <a:gd name="connsiteY24" fmla="*/ 527565 h 5095933"/>
              <a:gd name="connsiteX25" fmla="*/ 6756639 w 12192418"/>
              <a:gd name="connsiteY25" fmla="*/ 525463 h 5095933"/>
              <a:gd name="connsiteX26" fmla="*/ 7016322 w 12192418"/>
              <a:gd name="connsiteY26" fmla="*/ 521259 h 5095933"/>
              <a:gd name="connsiteX27" fmla="*/ 7276005 w 12192418"/>
              <a:gd name="connsiteY27" fmla="*/ 517406 h 5095933"/>
              <a:gd name="connsiteX28" fmla="*/ 7539345 w 12192418"/>
              <a:gd name="connsiteY28" fmla="*/ 508998 h 5095933"/>
              <a:gd name="connsiteX29" fmla="*/ 7805124 w 12192418"/>
              <a:gd name="connsiteY29" fmla="*/ 500241 h 5095933"/>
              <a:gd name="connsiteX30" fmla="*/ 8070903 w 12192418"/>
              <a:gd name="connsiteY30" fmla="*/ 490082 h 5095933"/>
              <a:gd name="connsiteX31" fmla="*/ 8339121 w 12192418"/>
              <a:gd name="connsiteY31" fmla="*/ 475719 h 5095933"/>
              <a:gd name="connsiteX32" fmla="*/ 8609776 w 12192418"/>
              <a:gd name="connsiteY32" fmla="*/ 458554 h 5095933"/>
              <a:gd name="connsiteX33" fmla="*/ 8881651 w 12192418"/>
              <a:gd name="connsiteY33" fmla="*/ 442089 h 5095933"/>
              <a:gd name="connsiteX34" fmla="*/ 9153526 w 12192418"/>
              <a:gd name="connsiteY34" fmla="*/ 421071 h 5095933"/>
              <a:gd name="connsiteX35" fmla="*/ 9429058 w 12192418"/>
              <a:gd name="connsiteY35" fmla="*/ 395849 h 5095933"/>
              <a:gd name="connsiteX36" fmla="*/ 9700933 w 12192418"/>
              <a:gd name="connsiteY36" fmla="*/ 370626 h 5095933"/>
              <a:gd name="connsiteX37" fmla="*/ 9977684 w 12192418"/>
              <a:gd name="connsiteY37" fmla="*/ 341551 h 5095933"/>
              <a:gd name="connsiteX38" fmla="*/ 10255655 w 12192418"/>
              <a:gd name="connsiteY38" fmla="*/ 309673 h 5095933"/>
              <a:gd name="connsiteX39" fmla="*/ 10529968 w 12192418"/>
              <a:gd name="connsiteY39" fmla="*/ 276043 h 5095933"/>
              <a:gd name="connsiteX40" fmla="*/ 10807939 w 12192418"/>
              <a:gd name="connsiteY40" fmla="*/ 236809 h 5095933"/>
              <a:gd name="connsiteX41" fmla="*/ 11084690 w 12192418"/>
              <a:gd name="connsiteY41" fmla="*/ 194772 h 5095933"/>
              <a:gd name="connsiteX42" fmla="*/ 11362661 w 12192418"/>
              <a:gd name="connsiteY42" fmla="*/ 153085 h 5095933"/>
              <a:gd name="connsiteX43" fmla="*/ 11639412 w 12192418"/>
              <a:gd name="connsiteY43" fmla="*/ 104392 h 5095933"/>
              <a:gd name="connsiteX44" fmla="*/ 11914945 w 12192418"/>
              <a:gd name="connsiteY44" fmla="*/ 54648 h 5095933"/>
              <a:gd name="connsiteX45" fmla="*/ 12191696 w 12192418"/>
              <a:gd name="connsiteY45" fmla="*/ 2452 h 5095933"/>
              <a:gd name="connsiteX46" fmla="*/ 12191696 w 12192418"/>
              <a:gd name="connsiteY46" fmla="*/ 2109542 h 5095933"/>
              <a:gd name="connsiteX47" fmla="*/ 12191999 w 12192418"/>
              <a:gd name="connsiteY47" fmla="*/ 2109542 h 5095933"/>
              <a:gd name="connsiteX48" fmla="*/ 12191999 w 12192418"/>
              <a:gd name="connsiteY48" fmla="*/ 2802467 h 5095933"/>
              <a:gd name="connsiteX49" fmla="*/ 12192418 w 12192418"/>
              <a:gd name="connsiteY49" fmla="*/ 2802467 h 5095933"/>
              <a:gd name="connsiteX50" fmla="*/ 12192418 w 12192418"/>
              <a:gd name="connsiteY50" fmla="*/ 5095933 h 5095933"/>
              <a:gd name="connsiteX51" fmla="*/ 1 w 12192418"/>
              <a:gd name="connsiteY51" fmla="*/ 5095933 h 5095933"/>
              <a:gd name="connsiteX52" fmla="*/ 1 w 12192418"/>
              <a:gd name="connsiteY52" fmla="*/ 4074529 h 5095933"/>
              <a:gd name="connsiteX53" fmla="*/ 0 w 12192418"/>
              <a:gd name="connsiteY53" fmla="*/ 4074529 h 5095933"/>
              <a:gd name="connsiteX54" fmla="*/ 0 w 12192418"/>
              <a:gd name="connsiteY54" fmla="*/ 2109542 h 5095933"/>
              <a:gd name="connsiteX55" fmla="*/ 1 w 12192418"/>
              <a:gd name="connsiteY55" fmla="*/ 2109542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418" h="5095933">
                <a:moveTo>
                  <a:pt x="1" y="0"/>
                </a:moveTo>
                <a:lnTo>
                  <a:pt x="71932" y="12261"/>
                </a:lnTo>
                <a:lnTo>
                  <a:pt x="282849" y="48343"/>
                </a:lnTo>
                <a:lnTo>
                  <a:pt x="436464" y="73565"/>
                </a:lnTo>
                <a:lnTo>
                  <a:pt x="619339" y="100188"/>
                </a:lnTo>
                <a:lnTo>
                  <a:pt x="836351" y="132066"/>
                </a:lnTo>
                <a:lnTo>
                  <a:pt x="1076528" y="165696"/>
                </a:lnTo>
                <a:lnTo>
                  <a:pt x="1347184" y="201077"/>
                </a:lnTo>
                <a:lnTo>
                  <a:pt x="1642223" y="238560"/>
                </a:lnTo>
                <a:lnTo>
                  <a:pt x="1962864" y="276043"/>
                </a:lnTo>
                <a:lnTo>
                  <a:pt x="2304232" y="314227"/>
                </a:lnTo>
                <a:lnTo>
                  <a:pt x="2672421" y="349608"/>
                </a:lnTo>
                <a:lnTo>
                  <a:pt x="3057678" y="383588"/>
                </a:lnTo>
                <a:lnTo>
                  <a:pt x="3464881" y="414415"/>
                </a:lnTo>
                <a:lnTo>
                  <a:pt x="3889152" y="443841"/>
                </a:lnTo>
                <a:lnTo>
                  <a:pt x="4331710" y="471515"/>
                </a:lnTo>
                <a:lnTo>
                  <a:pt x="4558476" y="481324"/>
                </a:lnTo>
                <a:lnTo>
                  <a:pt x="4790118" y="492183"/>
                </a:lnTo>
                <a:lnTo>
                  <a:pt x="5025418" y="502342"/>
                </a:lnTo>
                <a:lnTo>
                  <a:pt x="5261937" y="508998"/>
                </a:lnTo>
                <a:lnTo>
                  <a:pt x="5503332" y="514953"/>
                </a:lnTo>
                <a:lnTo>
                  <a:pt x="5747167" y="521259"/>
                </a:lnTo>
                <a:lnTo>
                  <a:pt x="5995877" y="525463"/>
                </a:lnTo>
                <a:lnTo>
                  <a:pt x="6247026" y="525463"/>
                </a:lnTo>
                <a:lnTo>
                  <a:pt x="6500613" y="527565"/>
                </a:lnTo>
                <a:lnTo>
                  <a:pt x="6756639" y="525463"/>
                </a:lnTo>
                <a:lnTo>
                  <a:pt x="7016322" y="521259"/>
                </a:lnTo>
                <a:lnTo>
                  <a:pt x="7276005" y="517406"/>
                </a:lnTo>
                <a:lnTo>
                  <a:pt x="7539345" y="508998"/>
                </a:lnTo>
                <a:lnTo>
                  <a:pt x="7805124" y="500241"/>
                </a:lnTo>
                <a:lnTo>
                  <a:pt x="8070903" y="490082"/>
                </a:lnTo>
                <a:lnTo>
                  <a:pt x="8339121" y="475719"/>
                </a:lnTo>
                <a:lnTo>
                  <a:pt x="8609776" y="458554"/>
                </a:lnTo>
                <a:lnTo>
                  <a:pt x="8881651" y="442089"/>
                </a:lnTo>
                <a:lnTo>
                  <a:pt x="9153526" y="421071"/>
                </a:lnTo>
                <a:lnTo>
                  <a:pt x="9429058" y="395849"/>
                </a:lnTo>
                <a:lnTo>
                  <a:pt x="9700933" y="370626"/>
                </a:lnTo>
                <a:lnTo>
                  <a:pt x="9977684" y="341551"/>
                </a:lnTo>
                <a:lnTo>
                  <a:pt x="10255655" y="309673"/>
                </a:lnTo>
                <a:lnTo>
                  <a:pt x="10529968" y="276043"/>
                </a:lnTo>
                <a:lnTo>
                  <a:pt x="10807939" y="236809"/>
                </a:lnTo>
                <a:lnTo>
                  <a:pt x="11084690" y="194772"/>
                </a:lnTo>
                <a:lnTo>
                  <a:pt x="11362661" y="153085"/>
                </a:lnTo>
                <a:lnTo>
                  <a:pt x="11639412" y="104392"/>
                </a:lnTo>
                <a:lnTo>
                  <a:pt x="11914945" y="54648"/>
                </a:lnTo>
                <a:lnTo>
                  <a:pt x="12191696" y="2452"/>
                </a:lnTo>
                <a:lnTo>
                  <a:pt x="12191696" y="2109542"/>
                </a:lnTo>
                <a:lnTo>
                  <a:pt x="12191999" y="2109542"/>
                </a:lnTo>
                <a:lnTo>
                  <a:pt x="12191999" y="2802467"/>
                </a:lnTo>
                <a:lnTo>
                  <a:pt x="12192418" y="2802467"/>
                </a:lnTo>
                <a:lnTo>
                  <a:pt x="12192418" y="5095933"/>
                </a:lnTo>
                <a:lnTo>
                  <a:pt x="1" y="5095933"/>
                </a:lnTo>
                <a:lnTo>
                  <a:pt x="1" y="4074529"/>
                </a:lnTo>
                <a:lnTo>
                  <a:pt x="0" y="4074529"/>
                </a:lnTo>
                <a:lnTo>
                  <a:pt x="0" y="2109542"/>
                </a:lnTo>
                <a:lnTo>
                  <a:pt x="1" y="2109542"/>
                </a:lnTo>
                <a:close/>
              </a:path>
            </a:pathLst>
          </a:custGeom>
          <a:solidFill>
            <a:schemeClr val="bg1"/>
          </a:solidFill>
          <a:ln>
            <a:noFill/>
          </a:ln>
        </p:spPr>
        <p:txBody>
          <a:bodyPr/>
          <a:lstStyle/>
          <a:p>
            <a:endParaRPr lang="en-US"/>
          </a:p>
        </p:txBody>
      </p:sp>
      <p:sp>
        <p:nvSpPr>
          <p:cNvPr id="6" name="Rectangle 1">
            <a:extLst>
              <a:ext uri="{FF2B5EF4-FFF2-40B4-BE49-F238E27FC236}">
                <a16:creationId xmlns:a16="http://schemas.microsoft.com/office/drawing/2014/main" id="{90572F4C-7D35-BB3E-9771-B7510AF7F3B8}"/>
              </a:ext>
            </a:extLst>
          </p:cNvPr>
          <p:cNvSpPr>
            <a:spLocks noChangeArrowheads="1"/>
          </p:cNvSpPr>
          <p:nvPr/>
        </p:nvSpPr>
        <p:spPr bwMode="auto">
          <a:xfrm>
            <a:off x="-2896220" y="-12649"/>
            <a:ext cx="15088220" cy="4698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graphicFrame>
        <p:nvGraphicFramePr>
          <p:cNvPr id="3" name="Table 2">
            <a:extLst>
              <a:ext uri="{FF2B5EF4-FFF2-40B4-BE49-F238E27FC236}">
                <a16:creationId xmlns:a16="http://schemas.microsoft.com/office/drawing/2014/main" id="{DA8FCF5E-327B-A59F-F2A2-E848106B27C9}"/>
              </a:ext>
            </a:extLst>
          </p:cNvPr>
          <p:cNvGraphicFramePr>
            <a:graphicFrameLocks noGrp="1"/>
          </p:cNvGraphicFramePr>
          <p:nvPr>
            <p:extLst>
              <p:ext uri="{D42A27DB-BD31-4B8C-83A1-F6EECF244321}">
                <p14:modId xmlns:p14="http://schemas.microsoft.com/office/powerpoint/2010/main" val="1239405953"/>
              </p:ext>
            </p:extLst>
          </p:nvPr>
        </p:nvGraphicFramePr>
        <p:xfrm>
          <a:off x="1039290" y="2447867"/>
          <a:ext cx="10113418" cy="4222302"/>
        </p:xfrm>
        <a:graphic>
          <a:graphicData uri="http://schemas.openxmlformats.org/drawingml/2006/table">
            <a:tbl>
              <a:tblPr firstRow="1" firstCol="1" bandRow="1">
                <a:tableStyleId>{5C22544A-7EE6-4342-B048-85BDC9FD1C3A}</a:tableStyleId>
              </a:tblPr>
              <a:tblGrid>
                <a:gridCol w="1547760">
                  <a:extLst>
                    <a:ext uri="{9D8B030D-6E8A-4147-A177-3AD203B41FA5}">
                      <a16:colId xmlns:a16="http://schemas.microsoft.com/office/drawing/2014/main" val="3582760357"/>
                    </a:ext>
                  </a:extLst>
                </a:gridCol>
                <a:gridCol w="6806909">
                  <a:extLst>
                    <a:ext uri="{9D8B030D-6E8A-4147-A177-3AD203B41FA5}">
                      <a16:colId xmlns:a16="http://schemas.microsoft.com/office/drawing/2014/main" val="9527291"/>
                    </a:ext>
                  </a:extLst>
                </a:gridCol>
                <a:gridCol w="1758749">
                  <a:extLst>
                    <a:ext uri="{9D8B030D-6E8A-4147-A177-3AD203B41FA5}">
                      <a16:colId xmlns:a16="http://schemas.microsoft.com/office/drawing/2014/main" val="2904892354"/>
                    </a:ext>
                  </a:extLst>
                </a:gridCol>
              </a:tblGrid>
              <a:tr h="324423">
                <a:tc>
                  <a:txBody>
                    <a:bodyPr/>
                    <a:lstStyle/>
                    <a:p>
                      <a:r>
                        <a:t>Date</a:t>
                      </a:r>
                    </a:p>
                  </a:txBody>
                  <a:tcPr marL="68580" marR="68580" marT="0" marB="0"/>
                </a:tc>
                <a:tc>
                  <a:txBody>
                    <a:bodyPr/>
                    <a:lstStyle/>
                    <a:p>
                      <a:r>
                        <a:t>Task</a:t>
                      </a:r>
                    </a:p>
                  </a:txBody>
                  <a:tcPr marL="68580" marR="68580" marT="0" marB="0"/>
                </a:tc>
                <a:tc>
                  <a:txBody>
                    <a:bodyPr/>
                    <a:lstStyle/>
                    <a:p>
                      <a:r>
                        <a:t>Duration</a:t>
                      </a:r>
                    </a:p>
                  </a:txBody>
                  <a:tcPr marL="68580" marR="68580" marT="0" marB="0"/>
                </a:tc>
                <a:extLst>
                  <a:ext uri="{0D108BD9-81ED-4DB2-BD59-A6C34878D82A}">
                    <a16:rowId xmlns:a16="http://schemas.microsoft.com/office/drawing/2014/main" val="2065427665"/>
                  </a:ext>
                </a:extLst>
              </a:tr>
              <a:tr h="353344">
                <a:tc>
                  <a:txBody>
                    <a:bodyPr/>
                    <a:lstStyle/>
                    <a:p>
                      <a:r>
                        <a:t>3/16/2026</a:t>
                      </a:r>
                    </a:p>
                  </a:txBody>
                  <a:tcPr/>
                </a:tc>
                <a:tc>
                  <a:txBody>
                    <a:bodyPr/>
                    <a:lstStyle/>
                    <a:p>
                      <a:r>
                        <a:t>Advisor meeting, group work/discussion</a:t>
                      </a:r>
                    </a:p>
                  </a:txBody>
                  <a:tcPr/>
                </a:tc>
                <a:tc>
                  <a:txBody>
                    <a:bodyPr/>
                    <a:lstStyle/>
                    <a:p>
                      <a:r>
                        <a:t>2 hours</a:t>
                      </a:r>
                    </a:p>
                  </a:txBody>
                  <a:tcPr/>
                </a:tc>
                <a:extLst>
                  <a:ext uri="{0D108BD9-81ED-4DB2-BD59-A6C34878D82A}">
                    <a16:rowId xmlns:a16="http://schemas.microsoft.com/office/drawing/2014/main" val="1445721394"/>
                  </a:ext>
                </a:extLst>
              </a:tr>
              <a:tr h="641400">
                <a:tc>
                  <a:txBody>
                    <a:bodyPr/>
                    <a:lstStyle/>
                    <a:p>
                      <a:r>
                        <a:t>3/25/2026</a:t>
                      </a:r>
                    </a:p>
                  </a:txBody>
                  <a:tcPr marL="68580" marR="68580" marT="0" marB="0"/>
                </a:tc>
                <a:tc>
                  <a:txBody>
                    <a:bodyPr/>
                    <a:lstStyle/>
                    <a:p>
                      <a:r>
                        <a:t>Worker-step verification testing, occlusion issue</a:t>
                      </a:r>
                    </a:p>
                  </a:txBody>
                  <a:tcPr marL="68580" marR="68580" marT="0" marB="0"/>
                </a:tc>
                <a:tc>
                  <a:txBody>
                    <a:bodyPr/>
                    <a:lstStyle/>
                    <a:p>
                      <a:r>
                        <a:t>3 hours</a:t>
                      </a:r>
                    </a:p>
                  </a:txBody>
                  <a:tcPr marL="68580" marR="68580" marT="0" marB="0"/>
                </a:tc>
                <a:extLst>
                  <a:ext uri="{0D108BD9-81ED-4DB2-BD59-A6C34878D82A}">
                    <a16:rowId xmlns:a16="http://schemas.microsoft.com/office/drawing/2014/main" val="1808380271"/>
                  </a:ext>
                </a:extLst>
              </a:tr>
              <a:tr h="271297">
                <a:tc>
                  <a:txBody>
                    <a:bodyPr/>
                    <a:lstStyle/>
                    <a:p>
                      <a:r>
                        <a:t>4/3/2026</a:t>
                      </a:r>
                    </a:p>
                  </a:txBody>
                  <a:tcPr marL="68580" marR="68580" marT="0" marB="0"/>
                </a:tc>
                <a:tc>
                  <a:txBody>
                    <a:bodyPr/>
                    <a:lstStyle/>
                    <a:p>
                      <a:r>
                        <a:t>Adjusted embedding window for occlusion recall</a:t>
                      </a:r>
                    </a:p>
                  </a:txBody>
                  <a:tcPr marL="68580" marR="68580" marT="0" marB="0"/>
                </a:tc>
                <a:tc>
                  <a:txBody>
                    <a:bodyPr/>
                    <a:lstStyle/>
                    <a:p>
                      <a:r>
                        <a:t>4 hours</a:t>
                      </a:r>
                    </a:p>
                  </a:txBody>
                  <a:tcPr marL="68580" marR="68580" marT="0" marB="0"/>
                </a:tc>
                <a:extLst>
                  <a:ext uri="{0D108BD9-81ED-4DB2-BD59-A6C34878D82A}">
                    <a16:rowId xmlns:a16="http://schemas.microsoft.com/office/drawing/2014/main" val="2735884277"/>
                  </a:ext>
                </a:extLst>
              </a:tr>
              <a:tr h="450366">
                <a:tc>
                  <a:txBody>
                    <a:bodyPr/>
                    <a:lstStyle/>
                    <a:p>
                      <a:r>
                        <a:t>4/6/2026</a:t>
                      </a:r>
                    </a:p>
                  </a:txBody>
                  <a:tcPr marL="68580" marR="68580" marT="0" marB="0"/>
                </a:tc>
                <a:tc>
                  <a:txBody>
                    <a:bodyPr/>
                    <a:lstStyle/>
                    <a:p>
                      <a:r>
                        <a:t>Advisor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1712616351"/>
                  </a:ext>
                </a:extLst>
              </a:tr>
              <a:tr h="450366">
                <a:tc>
                  <a:txBody>
                    <a:bodyPr/>
                    <a:lstStyle/>
                    <a:p>
                      <a:r>
                        <a:t>4/10/2026</a:t>
                      </a:r>
                    </a:p>
                  </a:txBody>
                  <a:tcPr marL="68580" marR="68580" marT="0" marB="0"/>
                </a:tc>
                <a:tc>
                  <a:txBody>
                    <a:bodyPr/>
                    <a:lstStyle/>
                    <a:p>
                      <a:r>
                        <a:t>Per-operator filtering for supervisor reports</a:t>
                      </a:r>
                    </a:p>
                  </a:txBody>
                  <a:tcPr marL="68580" marR="68580" marT="0" marB="0"/>
                </a:tc>
                <a:tc>
                  <a:txBody>
                    <a:bodyPr/>
                    <a:lstStyle/>
                    <a:p>
                      <a:r>
                        <a:t>3 hours</a:t>
                      </a:r>
                    </a:p>
                  </a:txBody>
                  <a:tcPr marL="68580" marR="68580" marT="0" marB="0"/>
                </a:tc>
                <a:extLst>
                  <a:ext uri="{0D108BD9-81ED-4DB2-BD59-A6C34878D82A}">
                    <a16:rowId xmlns:a16="http://schemas.microsoft.com/office/drawing/2014/main" val="2319687828"/>
                  </a:ext>
                </a:extLst>
              </a:tr>
              <a:tr h="450366">
                <a:tc>
                  <a:txBody>
                    <a:bodyPr/>
                    <a:lstStyle/>
                    <a:p>
                      <a:r>
                        <a:t>4/13/2026</a:t>
                      </a:r>
                    </a:p>
                  </a:txBody>
                  <a:tcPr marL="68580" marR="68580" marT="0" marB="0"/>
                </a:tc>
                <a:tc>
                  <a:txBody>
                    <a:bodyPr/>
                    <a:lstStyle/>
                    <a:p>
                      <a:r>
                        <a:t>Advisor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662193779"/>
                  </a:ext>
                </a:extLst>
              </a:tr>
              <a:tr h="566782">
                <a:tc>
                  <a:txBody>
                    <a:bodyPr/>
                    <a:lstStyle/>
                    <a:p>
                      <a:r>
                        <a:t>4/15/2026</a:t>
                      </a:r>
                    </a:p>
                  </a:txBody>
                  <a:tcPr marL="68580" marR="68580" marT="0" marB="0"/>
                </a:tc>
                <a:tc>
                  <a:txBody>
                    <a:bodyPr/>
                    <a:lstStyle/>
                    <a:p>
                      <a:r>
                        <a:t>Fasenmeyer poster — results and evaluation</a:t>
                      </a:r>
                    </a:p>
                  </a:txBody>
                  <a:tcPr marL="68580" marR="68580" marT="0" marB="0"/>
                </a:tc>
                <a:tc>
                  <a:txBody>
                    <a:bodyPr/>
                    <a:lstStyle/>
                    <a:p>
                      <a:r>
                        <a:t>3 hours</a:t>
                      </a:r>
                    </a:p>
                  </a:txBody>
                  <a:tcPr marL="68580" marR="68580" marT="0" marB="0"/>
                </a:tc>
                <a:extLst>
                  <a:ext uri="{0D108BD9-81ED-4DB2-BD59-A6C34878D82A}">
                    <a16:rowId xmlns:a16="http://schemas.microsoft.com/office/drawing/2014/main" val="636000688"/>
                  </a:ext>
                </a:extLst>
              </a:tr>
              <a:tr h="271297">
                <a:tc>
                  <a:txBody>
                    <a:bodyPr/>
                    <a:lstStyle/>
                    <a:p>
                      <a:r>
                        <a:t>4/17/2026</a:t>
                      </a:r>
                    </a:p>
                  </a:txBody>
                  <a:tcPr marL="68580" marR="68580" marT="0" marB="0"/>
                </a:tc>
                <a:tc>
                  <a:txBody>
                    <a:bodyPr/>
                    <a:lstStyle/>
                    <a:p>
                      <a:r>
                        <a:t>Poster finishing touches, group discussion</a:t>
                      </a:r>
                    </a:p>
                  </a:txBody>
                  <a:tcPr marL="68580" marR="68580" marT="0" marB="0"/>
                </a:tc>
                <a:tc>
                  <a:txBody>
                    <a:bodyPr/>
                    <a:lstStyle/>
                    <a:p>
                      <a:r>
                        <a:t>4 hours</a:t>
                      </a:r>
                    </a:p>
                  </a:txBody>
                  <a:tcPr marL="68580" marR="68580" marT="0" marB="0"/>
                </a:tc>
                <a:extLst>
                  <a:ext uri="{0D108BD9-81ED-4DB2-BD59-A6C34878D82A}">
                    <a16:rowId xmlns:a16="http://schemas.microsoft.com/office/drawing/2014/main" val="1843215339"/>
                  </a:ext>
                </a:extLst>
              </a:tr>
              <a:tr h="405529">
                <a:tc>
                  <a:txBody>
                    <a:bodyPr/>
                    <a:lstStyle/>
                    <a:p>
                      <a:r>
                        <a:t>4/19/2026</a:t>
                      </a:r>
                    </a:p>
                  </a:txBody>
                  <a:tcPr marL="68580" marR="68580" marT="0" marB="0"/>
                </a:tc>
                <a:tc>
                  <a:txBody>
                    <a:bodyPr/>
                    <a:lstStyle/>
                    <a:p>
                      <a:r>
                        <a:t>Pair programming on 2D data matrix</a:t>
                      </a:r>
                    </a:p>
                  </a:txBody>
                  <a:tcPr marL="68580" marR="68580" marT="0" marB="0"/>
                </a:tc>
                <a:tc>
                  <a:txBody>
                    <a:bodyPr/>
                    <a:lstStyle/>
                    <a:p>
                      <a:r>
                        <a:t>5 hours</a:t>
                      </a:r>
                    </a:p>
                  </a:txBody>
                  <a:tcPr marL="68580" marR="68580" marT="0" marB="0"/>
                </a:tc>
                <a:extLst>
                  <a:ext uri="{0D108BD9-81ED-4DB2-BD59-A6C34878D82A}">
                    <a16:rowId xmlns:a16="http://schemas.microsoft.com/office/drawing/2014/main" val="2969998559"/>
                  </a:ext>
                </a:extLst>
              </a:tr>
            </a:tbl>
          </a:graphicData>
        </a:graphic>
      </p:graphicFrame>
    </p:spTree>
    <p:extLst>
      <p:ext uri="{BB962C8B-B14F-4D97-AF65-F5344CB8AC3E}">
        <p14:creationId xmlns:p14="http://schemas.microsoft.com/office/powerpoint/2010/main" val="2763784504"/>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EA353E-0E77-44C5-4883-1461DC106D10}"/>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F747F1B4-B831-4277-8AB0-32767F7EB7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4" name="Freeform 7">
            <a:extLst>
              <a:ext uri="{FF2B5EF4-FFF2-40B4-BE49-F238E27FC236}">
                <a16:creationId xmlns:a16="http://schemas.microsoft.com/office/drawing/2014/main" id="{D80CFA21-AB7C-4BEB-9BFF-05764FBBF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79493943-0B64-B565-8EB4-6C4B80F07473}"/>
              </a:ext>
            </a:extLst>
          </p:cNvPr>
          <p:cNvSpPr>
            <a:spLocks noGrp="1"/>
          </p:cNvSpPr>
          <p:nvPr>
            <p:ph type="title"/>
          </p:nvPr>
        </p:nvSpPr>
        <p:spPr>
          <a:xfrm>
            <a:off x="648930" y="629267"/>
            <a:ext cx="9252154" cy="1016654"/>
          </a:xfrm>
        </p:spPr>
        <p:txBody>
          <a:bodyPr vert="horz" lIns="91440" tIns="45720" rIns="91440" bIns="45720" rtlCol="0">
            <a:normAutofit/>
          </a:bodyPr>
          <a:lstStyle/>
          <a:p>
            <a:r>
              <a:rPr lang="en-US" b="0" i="0" kern="1200">
                <a:solidFill>
                  <a:srgbClr val="EBEBEB"/>
                </a:solidFill>
                <a:latin typeface="+mj-lt"/>
                <a:ea typeface="+mj-ea"/>
                <a:cs typeface="+mj-cs"/>
              </a:rPr>
              <a:t>Dan Pora</a:t>
            </a:r>
          </a:p>
        </p:txBody>
      </p:sp>
      <p:sp>
        <p:nvSpPr>
          <p:cNvPr id="26" name="Rectangle 25">
            <a:extLst>
              <a:ext uri="{FF2B5EF4-FFF2-40B4-BE49-F238E27FC236}">
                <a16:creationId xmlns:a16="http://schemas.microsoft.com/office/drawing/2014/main" id="{12F7E335-851A-4CAE-B09F-E657819D4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AA07D6D2-02B3-CF86-051D-79154A70D1C6}"/>
              </a:ext>
            </a:extLst>
          </p:cNvPr>
          <p:cNvSpPr>
            <a:spLocks noGrp="1"/>
          </p:cNvSpPr>
          <p:nvPr>
            <p:ph type="sldNum" sz="quarter" idx="12"/>
          </p:nvPr>
        </p:nvSpPr>
        <p:spPr>
          <a:xfrm>
            <a:off x="10352540" y="295729"/>
            <a:ext cx="838199" cy="767687"/>
          </a:xfrm>
        </p:spPr>
        <p:txBody>
          <a:bodyPr vert="horz" lIns="91440" tIns="45720" rIns="91440" bIns="45720" rtlCol="0">
            <a:normAutofit/>
          </a:bodyPr>
          <a:lstStyle/>
          <a:p>
            <a:pPr>
              <a:spcAft>
                <a:spcPts val="600"/>
              </a:spcAft>
            </a:pPr>
            <a:fld id="{D57F1E4F-1CFF-5643-939E-02111984F565}" type="slidenum">
              <a:rPr lang="en-US">
                <a:solidFill>
                  <a:srgbClr val="FFFFFF"/>
                </a:solidFill>
              </a:rPr>
              <a:pPr>
                <a:spcAft>
                  <a:spcPts val="600"/>
                </a:spcAft>
              </a:pPr>
              <a:t>35</a:t>
            </a:fld>
            <a:endParaRPr lang="en-US">
              <a:solidFill>
                <a:srgbClr val="FFFFFF"/>
              </a:solidFill>
            </a:endParaRPr>
          </a:p>
        </p:txBody>
      </p:sp>
      <p:sp>
        <p:nvSpPr>
          <p:cNvPr id="28" name="Freeform: Shape 27">
            <a:extLst>
              <a:ext uri="{FF2B5EF4-FFF2-40B4-BE49-F238E27FC236}">
                <a16:creationId xmlns:a16="http://schemas.microsoft.com/office/drawing/2014/main" id="{10B541F0-7F6E-402E-84D8-CF96EACA5F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8" cy="5095933"/>
          </a:xfrm>
          <a:custGeom>
            <a:avLst/>
            <a:gdLst>
              <a:gd name="connsiteX0" fmla="*/ 1 w 12192418"/>
              <a:gd name="connsiteY0" fmla="*/ 0 h 5095933"/>
              <a:gd name="connsiteX1" fmla="*/ 71932 w 12192418"/>
              <a:gd name="connsiteY1" fmla="*/ 12261 h 5095933"/>
              <a:gd name="connsiteX2" fmla="*/ 282849 w 12192418"/>
              <a:gd name="connsiteY2" fmla="*/ 48343 h 5095933"/>
              <a:gd name="connsiteX3" fmla="*/ 436464 w 12192418"/>
              <a:gd name="connsiteY3" fmla="*/ 73565 h 5095933"/>
              <a:gd name="connsiteX4" fmla="*/ 619339 w 12192418"/>
              <a:gd name="connsiteY4" fmla="*/ 100188 h 5095933"/>
              <a:gd name="connsiteX5" fmla="*/ 836351 w 12192418"/>
              <a:gd name="connsiteY5" fmla="*/ 132066 h 5095933"/>
              <a:gd name="connsiteX6" fmla="*/ 1076528 w 12192418"/>
              <a:gd name="connsiteY6" fmla="*/ 165696 h 5095933"/>
              <a:gd name="connsiteX7" fmla="*/ 1347184 w 12192418"/>
              <a:gd name="connsiteY7" fmla="*/ 201077 h 5095933"/>
              <a:gd name="connsiteX8" fmla="*/ 1642223 w 12192418"/>
              <a:gd name="connsiteY8" fmla="*/ 238560 h 5095933"/>
              <a:gd name="connsiteX9" fmla="*/ 1962864 w 12192418"/>
              <a:gd name="connsiteY9" fmla="*/ 276043 h 5095933"/>
              <a:gd name="connsiteX10" fmla="*/ 2304232 w 12192418"/>
              <a:gd name="connsiteY10" fmla="*/ 314227 h 5095933"/>
              <a:gd name="connsiteX11" fmla="*/ 2672421 w 12192418"/>
              <a:gd name="connsiteY11" fmla="*/ 349608 h 5095933"/>
              <a:gd name="connsiteX12" fmla="*/ 3057678 w 12192418"/>
              <a:gd name="connsiteY12" fmla="*/ 383588 h 5095933"/>
              <a:gd name="connsiteX13" fmla="*/ 3464881 w 12192418"/>
              <a:gd name="connsiteY13" fmla="*/ 414415 h 5095933"/>
              <a:gd name="connsiteX14" fmla="*/ 3889152 w 12192418"/>
              <a:gd name="connsiteY14" fmla="*/ 443841 h 5095933"/>
              <a:gd name="connsiteX15" fmla="*/ 4331710 w 12192418"/>
              <a:gd name="connsiteY15" fmla="*/ 471515 h 5095933"/>
              <a:gd name="connsiteX16" fmla="*/ 4558476 w 12192418"/>
              <a:gd name="connsiteY16" fmla="*/ 481324 h 5095933"/>
              <a:gd name="connsiteX17" fmla="*/ 4790118 w 12192418"/>
              <a:gd name="connsiteY17" fmla="*/ 492183 h 5095933"/>
              <a:gd name="connsiteX18" fmla="*/ 5025418 w 12192418"/>
              <a:gd name="connsiteY18" fmla="*/ 502342 h 5095933"/>
              <a:gd name="connsiteX19" fmla="*/ 5261937 w 12192418"/>
              <a:gd name="connsiteY19" fmla="*/ 508998 h 5095933"/>
              <a:gd name="connsiteX20" fmla="*/ 5503332 w 12192418"/>
              <a:gd name="connsiteY20" fmla="*/ 514953 h 5095933"/>
              <a:gd name="connsiteX21" fmla="*/ 5747167 w 12192418"/>
              <a:gd name="connsiteY21" fmla="*/ 521259 h 5095933"/>
              <a:gd name="connsiteX22" fmla="*/ 5995877 w 12192418"/>
              <a:gd name="connsiteY22" fmla="*/ 525463 h 5095933"/>
              <a:gd name="connsiteX23" fmla="*/ 6247026 w 12192418"/>
              <a:gd name="connsiteY23" fmla="*/ 525463 h 5095933"/>
              <a:gd name="connsiteX24" fmla="*/ 6500613 w 12192418"/>
              <a:gd name="connsiteY24" fmla="*/ 527565 h 5095933"/>
              <a:gd name="connsiteX25" fmla="*/ 6756639 w 12192418"/>
              <a:gd name="connsiteY25" fmla="*/ 525463 h 5095933"/>
              <a:gd name="connsiteX26" fmla="*/ 7016322 w 12192418"/>
              <a:gd name="connsiteY26" fmla="*/ 521259 h 5095933"/>
              <a:gd name="connsiteX27" fmla="*/ 7276005 w 12192418"/>
              <a:gd name="connsiteY27" fmla="*/ 517406 h 5095933"/>
              <a:gd name="connsiteX28" fmla="*/ 7539345 w 12192418"/>
              <a:gd name="connsiteY28" fmla="*/ 508998 h 5095933"/>
              <a:gd name="connsiteX29" fmla="*/ 7805124 w 12192418"/>
              <a:gd name="connsiteY29" fmla="*/ 500241 h 5095933"/>
              <a:gd name="connsiteX30" fmla="*/ 8070903 w 12192418"/>
              <a:gd name="connsiteY30" fmla="*/ 490082 h 5095933"/>
              <a:gd name="connsiteX31" fmla="*/ 8339121 w 12192418"/>
              <a:gd name="connsiteY31" fmla="*/ 475719 h 5095933"/>
              <a:gd name="connsiteX32" fmla="*/ 8609776 w 12192418"/>
              <a:gd name="connsiteY32" fmla="*/ 458554 h 5095933"/>
              <a:gd name="connsiteX33" fmla="*/ 8881651 w 12192418"/>
              <a:gd name="connsiteY33" fmla="*/ 442089 h 5095933"/>
              <a:gd name="connsiteX34" fmla="*/ 9153526 w 12192418"/>
              <a:gd name="connsiteY34" fmla="*/ 421071 h 5095933"/>
              <a:gd name="connsiteX35" fmla="*/ 9429058 w 12192418"/>
              <a:gd name="connsiteY35" fmla="*/ 395849 h 5095933"/>
              <a:gd name="connsiteX36" fmla="*/ 9700933 w 12192418"/>
              <a:gd name="connsiteY36" fmla="*/ 370626 h 5095933"/>
              <a:gd name="connsiteX37" fmla="*/ 9977684 w 12192418"/>
              <a:gd name="connsiteY37" fmla="*/ 341551 h 5095933"/>
              <a:gd name="connsiteX38" fmla="*/ 10255655 w 12192418"/>
              <a:gd name="connsiteY38" fmla="*/ 309673 h 5095933"/>
              <a:gd name="connsiteX39" fmla="*/ 10529968 w 12192418"/>
              <a:gd name="connsiteY39" fmla="*/ 276043 h 5095933"/>
              <a:gd name="connsiteX40" fmla="*/ 10807939 w 12192418"/>
              <a:gd name="connsiteY40" fmla="*/ 236809 h 5095933"/>
              <a:gd name="connsiteX41" fmla="*/ 11084690 w 12192418"/>
              <a:gd name="connsiteY41" fmla="*/ 194772 h 5095933"/>
              <a:gd name="connsiteX42" fmla="*/ 11362661 w 12192418"/>
              <a:gd name="connsiteY42" fmla="*/ 153085 h 5095933"/>
              <a:gd name="connsiteX43" fmla="*/ 11639412 w 12192418"/>
              <a:gd name="connsiteY43" fmla="*/ 104392 h 5095933"/>
              <a:gd name="connsiteX44" fmla="*/ 11914945 w 12192418"/>
              <a:gd name="connsiteY44" fmla="*/ 54648 h 5095933"/>
              <a:gd name="connsiteX45" fmla="*/ 12191696 w 12192418"/>
              <a:gd name="connsiteY45" fmla="*/ 2452 h 5095933"/>
              <a:gd name="connsiteX46" fmla="*/ 12191696 w 12192418"/>
              <a:gd name="connsiteY46" fmla="*/ 2109542 h 5095933"/>
              <a:gd name="connsiteX47" fmla="*/ 12191999 w 12192418"/>
              <a:gd name="connsiteY47" fmla="*/ 2109542 h 5095933"/>
              <a:gd name="connsiteX48" fmla="*/ 12191999 w 12192418"/>
              <a:gd name="connsiteY48" fmla="*/ 2802467 h 5095933"/>
              <a:gd name="connsiteX49" fmla="*/ 12192418 w 12192418"/>
              <a:gd name="connsiteY49" fmla="*/ 2802467 h 5095933"/>
              <a:gd name="connsiteX50" fmla="*/ 12192418 w 12192418"/>
              <a:gd name="connsiteY50" fmla="*/ 5095933 h 5095933"/>
              <a:gd name="connsiteX51" fmla="*/ 1 w 12192418"/>
              <a:gd name="connsiteY51" fmla="*/ 5095933 h 5095933"/>
              <a:gd name="connsiteX52" fmla="*/ 1 w 12192418"/>
              <a:gd name="connsiteY52" fmla="*/ 4074529 h 5095933"/>
              <a:gd name="connsiteX53" fmla="*/ 0 w 12192418"/>
              <a:gd name="connsiteY53" fmla="*/ 4074529 h 5095933"/>
              <a:gd name="connsiteX54" fmla="*/ 0 w 12192418"/>
              <a:gd name="connsiteY54" fmla="*/ 2109542 h 5095933"/>
              <a:gd name="connsiteX55" fmla="*/ 1 w 12192418"/>
              <a:gd name="connsiteY55" fmla="*/ 2109542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418" h="5095933">
                <a:moveTo>
                  <a:pt x="1" y="0"/>
                </a:moveTo>
                <a:lnTo>
                  <a:pt x="71932" y="12261"/>
                </a:lnTo>
                <a:lnTo>
                  <a:pt x="282849" y="48343"/>
                </a:lnTo>
                <a:lnTo>
                  <a:pt x="436464" y="73565"/>
                </a:lnTo>
                <a:lnTo>
                  <a:pt x="619339" y="100188"/>
                </a:lnTo>
                <a:lnTo>
                  <a:pt x="836351" y="132066"/>
                </a:lnTo>
                <a:lnTo>
                  <a:pt x="1076528" y="165696"/>
                </a:lnTo>
                <a:lnTo>
                  <a:pt x="1347184" y="201077"/>
                </a:lnTo>
                <a:lnTo>
                  <a:pt x="1642223" y="238560"/>
                </a:lnTo>
                <a:lnTo>
                  <a:pt x="1962864" y="276043"/>
                </a:lnTo>
                <a:lnTo>
                  <a:pt x="2304232" y="314227"/>
                </a:lnTo>
                <a:lnTo>
                  <a:pt x="2672421" y="349608"/>
                </a:lnTo>
                <a:lnTo>
                  <a:pt x="3057678" y="383588"/>
                </a:lnTo>
                <a:lnTo>
                  <a:pt x="3464881" y="414415"/>
                </a:lnTo>
                <a:lnTo>
                  <a:pt x="3889152" y="443841"/>
                </a:lnTo>
                <a:lnTo>
                  <a:pt x="4331710" y="471515"/>
                </a:lnTo>
                <a:lnTo>
                  <a:pt x="4558476" y="481324"/>
                </a:lnTo>
                <a:lnTo>
                  <a:pt x="4790118" y="492183"/>
                </a:lnTo>
                <a:lnTo>
                  <a:pt x="5025418" y="502342"/>
                </a:lnTo>
                <a:lnTo>
                  <a:pt x="5261937" y="508998"/>
                </a:lnTo>
                <a:lnTo>
                  <a:pt x="5503332" y="514953"/>
                </a:lnTo>
                <a:lnTo>
                  <a:pt x="5747167" y="521259"/>
                </a:lnTo>
                <a:lnTo>
                  <a:pt x="5995877" y="525463"/>
                </a:lnTo>
                <a:lnTo>
                  <a:pt x="6247026" y="525463"/>
                </a:lnTo>
                <a:lnTo>
                  <a:pt x="6500613" y="527565"/>
                </a:lnTo>
                <a:lnTo>
                  <a:pt x="6756639" y="525463"/>
                </a:lnTo>
                <a:lnTo>
                  <a:pt x="7016322" y="521259"/>
                </a:lnTo>
                <a:lnTo>
                  <a:pt x="7276005" y="517406"/>
                </a:lnTo>
                <a:lnTo>
                  <a:pt x="7539345" y="508998"/>
                </a:lnTo>
                <a:lnTo>
                  <a:pt x="7805124" y="500241"/>
                </a:lnTo>
                <a:lnTo>
                  <a:pt x="8070903" y="490082"/>
                </a:lnTo>
                <a:lnTo>
                  <a:pt x="8339121" y="475719"/>
                </a:lnTo>
                <a:lnTo>
                  <a:pt x="8609776" y="458554"/>
                </a:lnTo>
                <a:lnTo>
                  <a:pt x="8881651" y="442089"/>
                </a:lnTo>
                <a:lnTo>
                  <a:pt x="9153526" y="421071"/>
                </a:lnTo>
                <a:lnTo>
                  <a:pt x="9429058" y="395849"/>
                </a:lnTo>
                <a:lnTo>
                  <a:pt x="9700933" y="370626"/>
                </a:lnTo>
                <a:lnTo>
                  <a:pt x="9977684" y="341551"/>
                </a:lnTo>
                <a:lnTo>
                  <a:pt x="10255655" y="309673"/>
                </a:lnTo>
                <a:lnTo>
                  <a:pt x="10529968" y="276043"/>
                </a:lnTo>
                <a:lnTo>
                  <a:pt x="10807939" y="236809"/>
                </a:lnTo>
                <a:lnTo>
                  <a:pt x="11084690" y="194772"/>
                </a:lnTo>
                <a:lnTo>
                  <a:pt x="11362661" y="153085"/>
                </a:lnTo>
                <a:lnTo>
                  <a:pt x="11639412" y="104392"/>
                </a:lnTo>
                <a:lnTo>
                  <a:pt x="11914945" y="54648"/>
                </a:lnTo>
                <a:lnTo>
                  <a:pt x="12191696" y="2452"/>
                </a:lnTo>
                <a:lnTo>
                  <a:pt x="12191696" y="2109542"/>
                </a:lnTo>
                <a:lnTo>
                  <a:pt x="12191999" y="2109542"/>
                </a:lnTo>
                <a:lnTo>
                  <a:pt x="12191999" y="2802467"/>
                </a:lnTo>
                <a:lnTo>
                  <a:pt x="12192418" y="2802467"/>
                </a:lnTo>
                <a:lnTo>
                  <a:pt x="12192418" y="5095933"/>
                </a:lnTo>
                <a:lnTo>
                  <a:pt x="1" y="5095933"/>
                </a:lnTo>
                <a:lnTo>
                  <a:pt x="1" y="4074529"/>
                </a:lnTo>
                <a:lnTo>
                  <a:pt x="0" y="4074529"/>
                </a:lnTo>
                <a:lnTo>
                  <a:pt x="0" y="2109542"/>
                </a:lnTo>
                <a:lnTo>
                  <a:pt x="1" y="2109542"/>
                </a:lnTo>
                <a:close/>
              </a:path>
            </a:pathLst>
          </a:custGeom>
          <a:solidFill>
            <a:schemeClr val="bg1"/>
          </a:solidFill>
          <a:ln>
            <a:noFill/>
          </a:ln>
        </p:spPr>
        <p:txBody>
          <a:bodyPr/>
          <a:lstStyle/>
          <a:p>
            <a:endParaRPr lang="en-US"/>
          </a:p>
        </p:txBody>
      </p:sp>
      <p:sp>
        <p:nvSpPr>
          <p:cNvPr id="6" name="Rectangle 1">
            <a:extLst>
              <a:ext uri="{FF2B5EF4-FFF2-40B4-BE49-F238E27FC236}">
                <a16:creationId xmlns:a16="http://schemas.microsoft.com/office/drawing/2014/main" id="{D9553F9F-F5CB-E1D4-AC8D-746C2169DA4F}"/>
              </a:ext>
            </a:extLst>
          </p:cNvPr>
          <p:cNvSpPr>
            <a:spLocks noChangeArrowheads="1"/>
          </p:cNvSpPr>
          <p:nvPr/>
        </p:nvSpPr>
        <p:spPr bwMode="auto">
          <a:xfrm>
            <a:off x="-2896220" y="-12649"/>
            <a:ext cx="15088220" cy="4698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graphicFrame>
        <p:nvGraphicFramePr>
          <p:cNvPr id="19" name="Content Placeholder 10">
            <a:extLst>
              <a:ext uri="{FF2B5EF4-FFF2-40B4-BE49-F238E27FC236}">
                <a16:creationId xmlns:a16="http://schemas.microsoft.com/office/drawing/2014/main" id="{5E0E4675-7FA9-97BB-43B6-1762ED3081B2}"/>
              </a:ext>
            </a:extLst>
          </p:cNvPr>
          <p:cNvGraphicFramePr>
            <a:graphicFrameLocks noGrp="1"/>
          </p:cNvGraphicFramePr>
          <p:nvPr>
            <p:ph idx="1"/>
            <p:extLst>
              <p:ext uri="{D42A27DB-BD31-4B8C-83A1-F6EECF244321}">
                <p14:modId xmlns:p14="http://schemas.microsoft.com/office/powerpoint/2010/main" val="812700253"/>
              </p:ext>
            </p:extLst>
          </p:nvPr>
        </p:nvGraphicFramePr>
        <p:xfrm>
          <a:off x="883478" y="2484782"/>
          <a:ext cx="10435819" cy="3735828"/>
        </p:xfrm>
        <a:graphic>
          <a:graphicData uri="http://schemas.openxmlformats.org/drawingml/2006/table">
            <a:tbl>
              <a:tblPr firstRow="1" firstCol="1" bandRow="1">
                <a:tableStyleId>{5C22544A-7EE6-4342-B048-85BDC9FD1C3A}</a:tableStyleId>
              </a:tblPr>
              <a:tblGrid>
                <a:gridCol w="1421847">
                  <a:extLst>
                    <a:ext uri="{9D8B030D-6E8A-4147-A177-3AD203B41FA5}">
                      <a16:colId xmlns:a16="http://schemas.microsoft.com/office/drawing/2014/main" val="2661177667"/>
                    </a:ext>
                  </a:extLst>
                </a:gridCol>
                <a:gridCol w="7067826">
                  <a:extLst>
                    <a:ext uri="{9D8B030D-6E8A-4147-A177-3AD203B41FA5}">
                      <a16:colId xmlns:a16="http://schemas.microsoft.com/office/drawing/2014/main" val="2089812423"/>
                    </a:ext>
                  </a:extLst>
                </a:gridCol>
                <a:gridCol w="1946146">
                  <a:extLst>
                    <a:ext uri="{9D8B030D-6E8A-4147-A177-3AD203B41FA5}">
                      <a16:colId xmlns:a16="http://schemas.microsoft.com/office/drawing/2014/main" val="3172474792"/>
                    </a:ext>
                  </a:extLst>
                </a:gridCol>
              </a:tblGrid>
              <a:tr h="328087">
                <a:tc>
                  <a:txBody>
                    <a:bodyPr/>
                    <a:lstStyle/>
                    <a:p>
                      <a:r>
                        <a:t>Date</a:t>
                      </a:r>
                    </a:p>
                  </a:txBody>
                  <a:tcPr marL="70217" marR="70217" marT="0" marB="0"/>
                </a:tc>
                <a:tc>
                  <a:txBody>
                    <a:bodyPr/>
                    <a:lstStyle/>
                    <a:p>
                      <a:r>
                        <a:t>Task</a:t>
                      </a:r>
                    </a:p>
                  </a:txBody>
                  <a:tcPr marL="70217" marR="70217" marT="0" marB="0"/>
                </a:tc>
                <a:tc>
                  <a:txBody>
                    <a:bodyPr/>
                    <a:lstStyle/>
                    <a:p>
                      <a:r>
                        <a:t>Duration</a:t>
                      </a:r>
                    </a:p>
                  </a:txBody>
                  <a:tcPr marL="70217" marR="70217" marT="0" marB="0"/>
                </a:tc>
                <a:extLst>
                  <a:ext uri="{0D108BD9-81ED-4DB2-BD59-A6C34878D82A}">
                    <a16:rowId xmlns:a16="http://schemas.microsoft.com/office/drawing/2014/main" val="1647664942"/>
                  </a:ext>
                </a:extLst>
              </a:tr>
              <a:tr h="304473">
                <a:tc>
                  <a:txBody>
                    <a:bodyPr/>
                    <a:lstStyle/>
                    <a:p>
                      <a:r>
                        <a:t>3/16/2026</a:t>
                      </a:r>
                    </a:p>
                  </a:txBody>
                  <a:tcPr marL="68580" marR="68580" marT="0" marB="0"/>
                </a:tc>
                <a:tc>
                  <a:txBody>
                    <a:bodyPr/>
                    <a:lstStyle/>
                    <a:p>
                      <a:r>
                        <a:t>Advisor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1582398609"/>
                  </a:ext>
                </a:extLst>
              </a:tr>
              <a:tr h="357052">
                <a:tc>
                  <a:txBody>
                    <a:bodyPr/>
                    <a:lstStyle/>
                    <a:p>
                      <a:r>
                        <a:t>3/24/2026</a:t>
                      </a:r>
                    </a:p>
                  </a:txBody>
                  <a:tcPr marL="68580" marR="68580" marT="0" marB="0"/>
                </a:tc>
                <a:tc>
                  <a:txBody>
                    <a:bodyPr/>
                    <a:lstStyle/>
                    <a:p>
                      <a:r>
                        <a:t>MES/ERP interop testing, whitespace bug</a:t>
                      </a:r>
                    </a:p>
                  </a:txBody>
                  <a:tcPr marL="68580" marR="68580" marT="0" marB="0"/>
                </a:tc>
                <a:tc>
                  <a:txBody>
                    <a:bodyPr/>
                    <a:lstStyle/>
                    <a:p>
                      <a:r>
                        <a:t>3 hours</a:t>
                      </a:r>
                    </a:p>
                  </a:txBody>
                  <a:tcPr marL="68580" marR="68580" marT="0" marB="0"/>
                </a:tc>
                <a:extLst>
                  <a:ext uri="{0D108BD9-81ED-4DB2-BD59-A6C34878D82A}">
                    <a16:rowId xmlns:a16="http://schemas.microsoft.com/office/drawing/2014/main" val="2869472046"/>
                  </a:ext>
                </a:extLst>
              </a:tr>
              <a:tr h="433459">
                <a:tc>
                  <a:txBody>
                    <a:bodyPr/>
                    <a:lstStyle/>
                    <a:p>
                      <a:r>
                        <a:t>4/2/2026</a:t>
                      </a:r>
                    </a:p>
                  </a:txBody>
                  <a:tcPr marL="68580" marR="68580" marT="0" marB="0"/>
                </a:tc>
                <a:tc>
                  <a:txBody>
                    <a:bodyPr/>
                    <a:lstStyle/>
                    <a:p>
                      <a:r>
                        <a:t>Fixed payload whitespace, re-ran 200 scans</a:t>
                      </a:r>
                    </a:p>
                  </a:txBody>
                  <a:tcPr marL="68580" marR="68580" marT="0" marB="0"/>
                </a:tc>
                <a:tc>
                  <a:txBody>
                    <a:bodyPr/>
                    <a:lstStyle/>
                    <a:p>
                      <a:r>
                        <a:t>4 hours</a:t>
                      </a:r>
                    </a:p>
                  </a:txBody>
                  <a:tcPr marL="68580" marR="68580" marT="0" marB="0"/>
                </a:tc>
                <a:extLst>
                  <a:ext uri="{0D108BD9-81ED-4DB2-BD59-A6C34878D82A}">
                    <a16:rowId xmlns:a16="http://schemas.microsoft.com/office/drawing/2014/main" val="3386778529"/>
                  </a:ext>
                </a:extLst>
              </a:tr>
              <a:tr h="227490">
                <a:tc>
                  <a:txBody>
                    <a:bodyPr/>
                    <a:lstStyle/>
                    <a:p>
                      <a:r>
                        <a:t>4/6/2026</a:t>
                      </a:r>
                    </a:p>
                  </a:txBody>
                  <a:tcPr marL="68580" marR="68580" marT="0" marB="0"/>
                </a:tc>
                <a:tc>
                  <a:txBody>
                    <a:bodyPr/>
                    <a:lstStyle/>
                    <a:p>
                      <a:r>
                        <a:t>Advisor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1002088506"/>
                  </a:ext>
                </a:extLst>
              </a:tr>
              <a:tr h="227490">
                <a:tc>
                  <a:txBody>
                    <a:bodyPr/>
                    <a:lstStyle/>
                    <a:p>
                      <a:r>
                        <a:t>4/8/2026</a:t>
                      </a:r>
                    </a:p>
                  </a:txBody>
                  <a:tcPr marL="68580" marR="68580" marT="0" marB="0"/>
                </a:tc>
                <a:tc>
                  <a:txBody>
                    <a:bodyPr/>
                    <a:lstStyle/>
                    <a:p>
                      <a:r>
                        <a:t>Mentor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2469949909"/>
                  </a:ext>
                </a:extLst>
              </a:tr>
              <a:tr h="317499">
                <a:tc>
                  <a:txBody>
                    <a:bodyPr/>
                    <a:lstStyle/>
                    <a:p>
                      <a:r>
                        <a:t>4/11/2026</a:t>
                      </a:r>
                    </a:p>
                  </a:txBody>
                  <a:tcPr marL="68580" marR="68580" marT="0" marB="0"/>
                </a:tc>
                <a:tc>
                  <a:txBody>
                    <a:bodyPr/>
                    <a:lstStyle/>
                    <a:p>
                      <a:r>
                        <a:t>Security acceptance test, traffic capture</a:t>
                      </a:r>
                    </a:p>
                  </a:txBody>
                  <a:tcPr marL="68580" marR="68580" marT="0" marB="0"/>
                </a:tc>
                <a:tc>
                  <a:txBody>
                    <a:bodyPr/>
                    <a:lstStyle/>
                    <a:p>
                      <a:r>
                        <a:t>3 hours</a:t>
                      </a:r>
                    </a:p>
                  </a:txBody>
                  <a:tcPr marL="68580" marR="68580" marT="0" marB="0"/>
                </a:tc>
                <a:extLst>
                  <a:ext uri="{0D108BD9-81ED-4DB2-BD59-A6C34878D82A}">
                    <a16:rowId xmlns:a16="http://schemas.microsoft.com/office/drawing/2014/main" val="1600486133"/>
                  </a:ext>
                </a:extLst>
              </a:tr>
              <a:tr h="303695">
                <a:tc>
                  <a:txBody>
                    <a:bodyPr/>
                    <a:lstStyle/>
                    <a:p>
                      <a:r>
                        <a:t>4/13/2026</a:t>
                      </a:r>
                    </a:p>
                  </a:txBody>
                  <a:tcPr marL="68580" marR="68580" marT="0" marB="0"/>
                </a:tc>
                <a:tc>
                  <a:txBody>
                    <a:bodyPr/>
                    <a:lstStyle/>
                    <a:p>
                      <a:r>
                        <a:t>Advisor meeting, group work/discussion</a:t>
                      </a:r>
                    </a:p>
                  </a:txBody>
                  <a:tcPr marL="68580" marR="68580" marT="0" marB="0"/>
                </a:tc>
                <a:tc>
                  <a:txBody>
                    <a:bodyPr/>
                    <a:lstStyle/>
                    <a:p>
                      <a:r>
                        <a:t>2 hours</a:t>
                      </a:r>
                    </a:p>
                  </a:txBody>
                  <a:tcPr marL="68580" marR="68580" marT="0" marB="0"/>
                </a:tc>
                <a:extLst>
                  <a:ext uri="{0D108BD9-81ED-4DB2-BD59-A6C34878D82A}">
                    <a16:rowId xmlns:a16="http://schemas.microsoft.com/office/drawing/2014/main" val="1940546393"/>
                  </a:ext>
                </a:extLst>
              </a:tr>
              <a:tr h="227490">
                <a:tc>
                  <a:txBody>
                    <a:bodyPr/>
                    <a:lstStyle/>
                    <a:p>
                      <a:r>
                        <a:t>4/15/2026</a:t>
                      </a:r>
                    </a:p>
                  </a:txBody>
                  <a:tcPr marL="68580" marR="68580" marT="0" marB="0"/>
                </a:tc>
                <a:tc>
                  <a:txBody>
                    <a:bodyPr/>
                    <a:lstStyle/>
                    <a:p>
                      <a:r>
                        <a:t>Fasenmeyer poster — architecture diagram</a:t>
                      </a:r>
                    </a:p>
                  </a:txBody>
                  <a:tcPr marL="68580" marR="68580" marT="0" marB="0"/>
                </a:tc>
                <a:tc>
                  <a:txBody>
                    <a:bodyPr/>
                    <a:lstStyle/>
                    <a:p>
                      <a:r>
                        <a:t>3 hours</a:t>
                      </a:r>
                    </a:p>
                  </a:txBody>
                  <a:tcPr marL="68580" marR="68580" marT="0" marB="0"/>
                </a:tc>
                <a:extLst>
                  <a:ext uri="{0D108BD9-81ED-4DB2-BD59-A6C34878D82A}">
                    <a16:rowId xmlns:a16="http://schemas.microsoft.com/office/drawing/2014/main" val="2986812498"/>
                  </a:ext>
                </a:extLst>
              </a:tr>
              <a:tr h="227490">
                <a:tc>
                  <a:txBody>
                    <a:bodyPr/>
                    <a:lstStyle/>
                    <a:p>
                      <a:r>
                        <a:t>4/17/2026</a:t>
                      </a:r>
                    </a:p>
                  </a:txBody>
                  <a:tcPr marL="68580" marR="68580" marT="0" marB="0"/>
                </a:tc>
                <a:tc>
                  <a:txBody>
                    <a:bodyPr/>
                    <a:lstStyle/>
                    <a:p>
                      <a:r>
                        <a:t>Poster finishing touches, group discussion</a:t>
                      </a:r>
                    </a:p>
                  </a:txBody>
                  <a:tcPr marL="68580" marR="68580" marT="0" marB="0"/>
                </a:tc>
                <a:tc>
                  <a:txBody>
                    <a:bodyPr/>
                    <a:lstStyle/>
                    <a:p>
                      <a:r>
                        <a:t>4 hours</a:t>
                      </a:r>
                    </a:p>
                  </a:txBody>
                  <a:tcPr marL="68580" marR="68580" marT="0" marB="0"/>
                </a:tc>
                <a:extLst>
                  <a:ext uri="{0D108BD9-81ED-4DB2-BD59-A6C34878D82A}">
                    <a16:rowId xmlns:a16="http://schemas.microsoft.com/office/drawing/2014/main" val="3968097353"/>
                  </a:ext>
                </a:extLst>
              </a:tr>
              <a:tr h="281607">
                <a:tc>
                  <a:txBody>
                    <a:bodyPr/>
                    <a:lstStyle/>
                    <a:p>
                      <a:r>
                        <a:t>4/19/2026</a:t>
                      </a:r>
                    </a:p>
                  </a:txBody>
                  <a:tcPr marL="68580" marR="68580" marT="0" marB="0"/>
                </a:tc>
                <a:tc>
                  <a:txBody>
                    <a:bodyPr/>
                    <a:lstStyle/>
                    <a:p>
                      <a:r>
                        <a:t>Report 9.3, deployment validation review</a:t>
                      </a:r>
                    </a:p>
                  </a:txBody>
                  <a:tcPr marL="68580" marR="68580" marT="0" marB="0"/>
                </a:tc>
                <a:tc>
                  <a:txBody>
                    <a:bodyPr/>
                    <a:lstStyle/>
                    <a:p>
                      <a:r>
                        <a:t>4 hours</a:t>
                      </a:r>
                    </a:p>
                  </a:txBody>
                  <a:tcPr marL="68580" marR="68580" marT="0" marB="0"/>
                </a:tc>
                <a:extLst>
                  <a:ext uri="{0D108BD9-81ED-4DB2-BD59-A6C34878D82A}">
                    <a16:rowId xmlns:a16="http://schemas.microsoft.com/office/drawing/2014/main" val="444071784"/>
                  </a:ext>
                </a:extLst>
              </a:tr>
            </a:tbl>
          </a:graphicData>
        </a:graphic>
      </p:graphicFrame>
    </p:spTree>
    <p:extLst>
      <p:ext uri="{BB962C8B-B14F-4D97-AF65-F5344CB8AC3E}">
        <p14:creationId xmlns:p14="http://schemas.microsoft.com/office/powerpoint/2010/main" val="1600737212"/>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E42C8728-084B-6071-7A9E-1ABBABF66BD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3643EC7-4C5D-4EDB-8114-809B631CD44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6" name="Picture 5">
            <a:extLst>
              <a:ext uri="{FF2B5EF4-FFF2-40B4-BE49-F238E27FC236}">
                <a16:creationId xmlns:a16="http://schemas.microsoft.com/office/drawing/2014/main" id="{635343F2-738D-5114-1585-DB18356BC6E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7" name="Oval 6">
            <a:extLst>
              <a:ext uri="{FF2B5EF4-FFF2-40B4-BE49-F238E27FC236}">
                <a16:creationId xmlns:a16="http://schemas.microsoft.com/office/drawing/2014/main" id="{D9070500-0027-DCAA-8BD3-D66C271338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a:extLst>
              <a:ext uri="{FF2B5EF4-FFF2-40B4-BE49-F238E27FC236}">
                <a16:creationId xmlns:a16="http://schemas.microsoft.com/office/drawing/2014/main" id="{D1E36D12-35D9-8B65-1F98-BBB86B766D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1" name="Picture 10">
            <a:extLst>
              <a:ext uri="{FF2B5EF4-FFF2-40B4-BE49-F238E27FC236}">
                <a16:creationId xmlns:a16="http://schemas.microsoft.com/office/drawing/2014/main" id="{CD3808E2-40E2-18E1-0420-82FB5A25DD0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3" name="Rectangle 12">
            <a:extLst>
              <a:ext uri="{FF2B5EF4-FFF2-40B4-BE49-F238E27FC236}">
                <a16:creationId xmlns:a16="http://schemas.microsoft.com/office/drawing/2014/main" id="{338D0590-E8E3-9D3E-363E-6643B72412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15" name="Rectangle 14">
            <a:extLst>
              <a:ext uri="{FF2B5EF4-FFF2-40B4-BE49-F238E27FC236}">
                <a16:creationId xmlns:a16="http://schemas.microsoft.com/office/drawing/2014/main" id="{3D0FF3C3-E008-BA56-80BD-688051459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C6F61DE6-2E54-A72F-77B9-4273AB4963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lide Number Placeholder 2">
            <a:extLst>
              <a:ext uri="{FF2B5EF4-FFF2-40B4-BE49-F238E27FC236}">
                <a16:creationId xmlns:a16="http://schemas.microsoft.com/office/drawing/2014/main" id="{A8F46464-11ED-F070-6C1C-45E93D383702}"/>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defTabSz="457200">
              <a:spcAft>
                <a:spcPts val="600"/>
              </a:spcAft>
            </a:pPr>
            <a:fld id="{D57F1E4F-1CFF-5643-939E-02111984F565}" type="slidenum">
              <a:rPr lang="en-US" b="0" i="0" kern="1200">
                <a:solidFill>
                  <a:srgbClr val="FFFFFF"/>
                </a:solidFill>
                <a:latin typeface="+mn-lt"/>
                <a:ea typeface="+mn-ea"/>
                <a:cs typeface="+mn-cs"/>
              </a:rPr>
              <a:pPr defTabSz="457200">
                <a:spcAft>
                  <a:spcPts val="600"/>
                </a:spcAft>
              </a:pPr>
              <a:t>36</a:t>
            </a:fld>
            <a:endParaRPr lang="en-US" b="0" i="0" kern="1200">
              <a:solidFill>
                <a:srgbClr val="FFFFFF"/>
              </a:solidFill>
              <a:latin typeface="+mn-lt"/>
              <a:ea typeface="+mn-ea"/>
              <a:cs typeface="+mn-cs"/>
            </a:endParaRPr>
          </a:p>
        </p:txBody>
      </p:sp>
      <p:cxnSp>
        <p:nvCxnSpPr>
          <p:cNvPr id="19" name="Straight Connector 18">
            <a:extLst>
              <a:ext uri="{FF2B5EF4-FFF2-40B4-BE49-F238E27FC236}">
                <a16:creationId xmlns:a16="http://schemas.microsoft.com/office/drawing/2014/main" id="{5E2DDED1-E9E2-E5AD-0016-5F0292A8F24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56687" y="1930986"/>
            <a:ext cx="0" cy="3200400"/>
          </a:xfrm>
          <a:prstGeom prst="line">
            <a:avLst/>
          </a:prstGeom>
          <a:ln w="15875" cap="sq">
            <a:solidFill>
              <a:schemeClr val="tx2">
                <a:alpha val="7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EE648A6-A5F1-8C59-773E-D3410FA46643}"/>
              </a:ext>
            </a:extLst>
          </p:cNvPr>
          <p:cNvSpPr>
            <a:spLocks noGrp="1"/>
          </p:cNvSpPr>
          <p:nvPr>
            <p:ph type="title"/>
          </p:nvPr>
        </p:nvSpPr>
        <p:spPr>
          <a:xfrm>
            <a:off x="4654295" y="1266958"/>
            <a:ext cx="6808362" cy="4528457"/>
          </a:xfrm>
        </p:spPr>
        <p:txBody>
          <a:bodyPr vert="horz" lIns="91440" tIns="45720" rIns="91440" bIns="45720" rtlCol="0" anchor="ctr">
            <a:normAutofit/>
          </a:bodyPr>
          <a:lstStyle/>
          <a:p>
            <a:r>
              <a:rPr lang="en-US" sz="7200"/>
              <a:t>Demo</a:t>
            </a:r>
            <a:endParaRPr lang="en-US">
              <a:ea typeface="+mj-ea"/>
              <a:cs typeface="+mj-cs"/>
            </a:endParaRPr>
          </a:p>
        </p:txBody>
      </p:sp>
    </p:spTree>
    <p:extLst>
      <p:ext uri="{BB962C8B-B14F-4D97-AF65-F5344CB8AC3E}">
        <p14:creationId xmlns:p14="http://schemas.microsoft.com/office/powerpoint/2010/main" val="33258264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5888DA6E-1920-9CC3-92DC-3037E0FB4F3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1B28F63-CF00-448F-B141-FE33C33B189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6" name="Picture 5">
            <a:extLst>
              <a:ext uri="{FF2B5EF4-FFF2-40B4-BE49-F238E27FC236}">
                <a16:creationId xmlns:a16="http://schemas.microsoft.com/office/drawing/2014/main" id="{2AE609E2-8522-44E4-9077-980E5BCF3E1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7" name="Oval 6">
            <a:extLst>
              <a:ext uri="{FF2B5EF4-FFF2-40B4-BE49-F238E27FC236}">
                <a16:creationId xmlns:a16="http://schemas.microsoft.com/office/drawing/2014/main" id="{4FA533C5-33E3-4611-AF9F-72811D8B26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a:extLst>
              <a:ext uri="{FF2B5EF4-FFF2-40B4-BE49-F238E27FC236}">
                <a16:creationId xmlns:a16="http://schemas.microsoft.com/office/drawing/2014/main" id="{8949AD42-25FD-4C3D-9EEE-B7FEC580998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1" name="Picture 10">
            <a:extLst>
              <a:ext uri="{FF2B5EF4-FFF2-40B4-BE49-F238E27FC236}">
                <a16:creationId xmlns:a16="http://schemas.microsoft.com/office/drawing/2014/main" id="{6AC7D913-60B7-4603-881B-831DA5D3A94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3" name="Rectangle 12">
            <a:extLst>
              <a:ext uri="{FF2B5EF4-FFF2-40B4-BE49-F238E27FC236}">
                <a16:creationId xmlns:a16="http://schemas.microsoft.com/office/drawing/2014/main" id="{87F0FDC4-AD8C-47D9-9131-623C98ADB0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15" name="Rectangle 14">
            <a:extLst>
              <a:ext uri="{FF2B5EF4-FFF2-40B4-BE49-F238E27FC236}">
                <a16:creationId xmlns:a16="http://schemas.microsoft.com/office/drawing/2014/main" id="{E6A222EB-A81E-4238-B08D-AAB1828C8E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014676C-074B-475A-8346-9C901C86C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lide Number Placeholder 2">
            <a:extLst>
              <a:ext uri="{FF2B5EF4-FFF2-40B4-BE49-F238E27FC236}">
                <a16:creationId xmlns:a16="http://schemas.microsoft.com/office/drawing/2014/main" id="{070ECCE0-768F-E3DD-833B-0CB6894110D8}"/>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defTabSz="457200">
              <a:spcAft>
                <a:spcPts val="600"/>
              </a:spcAft>
            </a:pPr>
            <a:fld id="{D57F1E4F-1CFF-5643-939E-02111984F565}" type="slidenum">
              <a:rPr lang="en-US" b="0" i="0" kern="1200">
                <a:solidFill>
                  <a:srgbClr val="FFFFFF"/>
                </a:solidFill>
                <a:latin typeface="+mn-lt"/>
                <a:ea typeface="+mn-ea"/>
                <a:cs typeface="+mn-cs"/>
              </a:rPr>
              <a:pPr defTabSz="457200">
                <a:spcAft>
                  <a:spcPts val="600"/>
                </a:spcAft>
              </a:pPr>
              <a:t>37</a:t>
            </a:fld>
            <a:endParaRPr lang="en-US" b="0" i="0" kern="1200">
              <a:solidFill>
                <a:srgbClr val="FFFFFF"/>
              </a:solidFill>
              <a:latin typeface="+mn-lt"/>
              <a:ea typeface="+mn-ea"/>
              <a:cs typeface="+mn-cs"/>
            </a:endParaRPr>
          </a:p>
        </p:txBody>
      </p:sp>
      <p:cxnSp>
        <p:nvCxnSpPr>
          <p:cNvPr id="19" name="Straight Connector 18">
            <a:extLst>
              <a:ext uri="{FF2B5EF4-FFF2-40B4-BE49-F238E27FC236}">
                <a16:creationId xmlns:a16="http://schemas.microsoft.com/office/drawing/2014/main" id="{179C4C8E-197B-4679-AE96-B5147F971C9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56687" y="1930986"/>
            <a:ext cx="0" cy="3200400"/>
          </a:xfrm>
          <a:prstGeom prst="line">
            <a:avLst/>
          </a:prstGeom>
          <a:ln w="15875" cap="sq">
            <a:solidFill>
              <a:schemeClr val="tx2">
                <a:alpha val="7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87DAD8E-AF06-05E0-4B66-A22E09D2ED56}"/>
              </a:ext>
            </a:extLst>
          </p:cNvPr>
          <p:cNvSpPr>
            <a:spLocks noGrp="1"/>
          </p:cNvSpPr>
          <p:nvPr>
            <p:ph type="title"/>
          </p:nvPr>
        </p:nvSpPr>
        <p:spPr>
          <a:xfrm>
            <a:off x="4654295" y="1266958"/>
            <a:ext cx="6808362" cy="4528457"/>
          </a:xfrm>
        </p:spPr>
        <p:txBody>
          <a:bodyPr vert="horz" lIns="91440" tIns="45720" rIns="91440" bIns="45720" rtlCol="0" anchor="ctr">
            <a:normAutofit/>
          </a:bodyPr>
          <a:lstStyle/>
          <a:p>
            <a:r>
              <a:rPr lang="en-US" sz="7200" b="0" i="0" kern="1200">
                <a:solidFill>
                  <a:schemeClr val="tx2"/>
                </a:solidFill>
                <a:latin typeface="+mj-lt"/>
                <a:ea typeface="+mj-ea"/>
                <a:cs typeface="+mj-cs"/>
              </a:rPr>
              <a:t>Questions?</a:t>
            </a:r>
          </a:p>
        </p:txBody>
      </p:sp>
    </p:spTree>
    <p:extLst>
      <p:ext uri="{BB962C8B-B14F-4D97-AF65-F5344CB8AC3E}">
        <p14:creationId xmlns:p14="http://schemas.microsoft.com/office/powerpoint/2010/main" val="18851359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8CAF2ED3-7A63-CC50-C5A5-F4CFB94FCCC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BA24482-B125-09CF-B3C4-E9F311320AA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6" name="Picture 5">
            <a:extLst>
              <a:ext uri="{FF2B5EF4-FFF2-40B4-BE49-F238E27FC236}">
                <a16:creationId xmlns:a16="http://schemas.microsoft.com/office/drawing/2014/main" id="{232EE01E-B9FD-AA59-1BFA-050AA1B731E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7" name="Oval 6">
            <a:extLst>
              <a:ext uri="{FF2B5EF4-FFF2-40B4-BE49-F238E27FC236}">
                <a16:creationId xmlns:a16="http://schemas.microsoft.com/office/drawing/2014/main" id="{123FDB21-06A3-3F42-1993-8B6CDF2E2C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a:extLst>
              <a:ext uri="{FF2B5EF4-FFF2-40B4-BE49-F238E27FC236}">
                <a16:creationId xmlns:a16="http://schemas.microsoft.com/office/drawing/2014/main" id="{367724E6-85D4-8847-DF12-D86CE935EB8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1" name="Picture 10">
            <a:extLst>
              <a:ext uri="{FF2B5EF4-FFF2-40B4-BE49-F238E27FC236}">
                <a16:creationId xmlns:a16="http://schemas.microsoft.com/office/drawing/2014/main" id="{74AE0654-D559-E0A3-E7C7-5BD8446E597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6">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3" name="Rectangle 12">
            <a:extLst>
              <a:ext uri="{FF2B5EF4-FFF2-40B4-BE49-F238E27FC236}">
                <a16:creationId xmlns:a16="http://schemas.microsoft.com/office/drawing/2014/main" id="{3533B1C3-FA39-893A-7FB1-8C910572DC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15" name="Rectangle 14">
            <a:extLst>
              <a:ext uri="{FF2B5EF4-FFF2-40B4-BE49-F238E27FC236}">
                <a16:creationId xmlns:a16="http://schemas.microsoft.com/office/drawing/2014/main" id="{88EC19F0-54A5-9031-F9BB-020E9E94DF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96BDC97-DD3E-A4EB-DE25-46E9B2C2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lide Number Placeholder 2">
            <a:extLst>
              <a:ext uri="{FF2B5EF4-FFF2-40B4-BE49-F238E27FC236}">
                <a16:creationId xmlns:a16="http://schemas.microsoft.com/office/drawing/2014/main" id="{E280F33B-003A-98C6-E3BF-C59E67125B4E}"/>
              </a:ext>
            </a:extLst>
          </p:cNvPr>
          <p:cNvSpPr>
            <a:spLocks noGrp="1"/>
          </p:cNvSpPr>
          <p:nvPr>
            <p:ph type="sldNum" sz="quarter" idx="12"/>
          </p:nvPr>
        </p:nvSpPr>
        <p:spPr>
          <a:xfrm>
            <a:off x="10352540" y="295729"/>
            <a:ext cx="838199" cy="767687"/>
          </a:xfrm>
        </p:spPr>
        <p:txBody>
          <a:bodyPr vert="horz" lIns="91440" tIns="45720" rIns="91440" bIns="45720" rtlCol="0" anchor="b">
            <a:normAutofit/>
          </a:bodyPr>
          <a:lstStyle/>
          <a:p>
            <a:pPr defTabSz="457200">
              <a:spcAft>
                <a:spcPts val="600"/>
              </a:spcAft>
            </a:pPr>
            <a:fld id="{D57F1E4F-1CFF-5643-939E-02111984F565}" type="slidenum">
              <a:rPr lang="en-US" b="0" i="0" kern="1200">
                <a:solidFill>
                  <a:srgbClr val="FFFFFF"/>
                </a:solidFill>
                <a:latin typeface="+mn-lt"/>
                <a:ea typeface="+mn-ea"/>
                <a:cs typeface="+mn-cs"/>
              </a:rPr>
              <a:pPr defTabSz="457200">
                <a:spcAft>
                  <a:spcPts val="600"/>
                </a:spcAft>
              </a:pPr>
              <a:t>38</a:t>
            </a:fld>
            <a:endParaRPr lang="en-US" b="0" i="0" kern="1200">
              <a:solidFill>
                <a:srgbClr val="FFFFFF"/>
              </a:solidFill>
              <a:latin typeface="+mn-lt"/>
              <a:ea typeface="+mn-ea"/>
              <a:cs typeface="+mn-cs"/>
            </a:endParaRPr>
          </a:p>
        </p:txBody>
      </p:sp>
      <p:cxnSp>
        <p:nvCxnSpPr>
          <p:cNvPr id="19" name="Straight Connector 18">
            <a:extLst>
              <a:ext uri="{FF2B5EF4-FFF2-40B4-BE49-F238E27FC236}">
                <a16:creationId xmlns:a16="http://schemas.microsoft.com/office/drawing/2014/main" id="{D70540A8-7908-7A8A-CC42-72B7F263CED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56687" y="1930986"/>
            <a:ext cx="0" cy="3200400"/>
          </a:xfrm>
          <a:prstGeom prst="line">
            <a:avLst/>
          </a:prstGeom>
          <a:ln w="15875" cap="sq">
            <a:solidFill>
              <a:schemeClr val="tx2">
                <a:alpha val="7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3067094-70A6-AC7B-B138-4BBF817C6A37}"/>
              </a:ext>
            </a:extLst>
          </p:cNvPr>
          <p:cNvSpPr>
            <a:spLocks noGrp="1"/>
          </p:cNvSpPr>
          <p:nvPr>
            <p:ph type="title"/>
          </p:nvPr>
        </p:nvSpPr>
        <p:spPr>
          <a:xfrm>
            <a:off x="4654295" y="1266958"/>
            <a:ext cx="6808362" cy="4528457"/>
          </a:xfrm>
        </p:spPr>
        <p:txBody>
          <a:bodyPr vert="horz" lIns="91440" tIns="45720" rIns="91440" bIns="45720" rtlCol="0" anchor="ctr">
            <a:normAutofit/>
          </a:bodyPr>
          <a:lstStyle/>
          <a:p>
            <a:r>
              <a:rPr lang="en-US" sz="7200"/>
              <a:t>Thank you</a:t>
            </a:r>
            <a:endParaRPr lang="en-US">
              <a:ea typeface="+mj-ea"/>
              <a:cs typeface="+mj-cs"/>
            </a:endParaRPr>
          </a:p>
        </p:txBody>
      </p:sp>
    </p:spTree>
    <p:extLst>
      <p:ext uri="{BB962C8B-B14F-4D97-AF65-F5344CB8AC3E}">
        <p14:creationId xmlns:p14="http://schemas.microsoft.com/office/powerpoint/2010/main" val="137431299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cf48d45-3ddb-4389-a9c1-c115526eb52e}" enabled="0" method="" siteId="{7cf48d45-3ddb-4389-a9c1-c115526eb52e}" removed="1"/>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38</Slides>
  <Notes>29</Notes>
  <HiddenSlides>0</HiddenSlides>
  <ScaleCrop>false</ScaleCrop>
  <HeadingPairs>
    <vt:vector size="4" baseType="variant">
      <vt:variant>
        <vt:lpstr>Theme</vt:lpstr>
      </vt:variant>
      <vt:variant>
        <vt:i4>1</vt:i4>
      </vt:variant>
      <vt:variant>
        <vt:lpstr>Slide Titles</vt:lpstr>
      </vt:variant>
      <vt:variant>
        <vt:i4>38</vt:i4>
      </vt:variant>
    </vt:vector>
  </HeadingPairs>
  <TitlesOfParts>
    <vt:vector size="39" baseType="lpstr">
      <vt:lpstr>Ion</vt:lpstr>
      <vt:lpstr>AIBI Computer Vision for Manufacturing</vt:lpstr>
      <vt:lpstr>Outline</vt:lpstr>
      <vt:lpstr>Overview</vt:lpstr>
      <vt:lpstr>Sponsor</vt:lpstr>
      <vt:lpstr>Needs</vt:lpstr>
      <vt:lpstr>Objectives</vt:lpstr>
      <vt:lpstr>Broader Impact</vt:lpstr>
      <vt:lpstr>Where Are We?</vt:lpstr>
      <vt:lpstr>Changes</vt:lpstr>
      <vt:lpstr>What’s New?</vt:lpstr>
      <vt:lpstr>Use case diagram</vt:lpstr>
      <vt:lpstr>System Requirements</vt:lpstr>
      <vt:lpstr>Preliminary System Design</vt:lpstr>
      <vt:lpstr>Architectural Design</vt:lpstr>
      <vt:lpstr>Structural Design</vt:lpstr>
      <vt:lpstr>Activity Diagram</vt:lpstr>
      <vt:lpstr>Design Alternatives</vt:lpstr>
      <vt:lpstr>Test Cases</vt:lpstr>
      <vt:lpstr>Test Cases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Challenges</vt:lpstr>
      <vt:lpstr>Challenges</vt:lpstr>
      <vt:lpstr>Team Member Logs</vt:lpstr>
      <vt:lpstr>Nathan DiGilio</vt:lpstr>
      <vt:lpstr>Jacob Dzikowski</vt:lpstr>
      <vt:lpstr>Collin Miller</vt:lpstr>
      <vt:lpstr>Dan Pora</vt:lpstr>
      <vt:lpstr>Demo</vt:lpstr>
      <vt:lpstr>Questions?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1</cp:revision>
  <cp:lastPrinted>2025-12-04T16:39:01Z</cp:lastPrinted>
  <dcterms:created xsi:type="dcterms:W3CDTF">2025-10-14T19:14:03Z</dcterms:created>
  <dcterms:modified xsi:type="dcterms:W3CDTF">2026-02-23T01:45:14Z</dcterms:modified>
</cp:coreProperties>
</file>