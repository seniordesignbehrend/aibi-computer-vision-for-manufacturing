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272" r:id="rId1"/>
  </p:sldMasterIdLst>
  <p:notesMasterIdLst>
    <p:notesMasterId r:id="rId40"/>
  </p:notesMasterIdLst>
  <p:sldIdLst>
    <p:sldId id="259" r:id="rId2"/>
    <p:sldId id="273" r:id="rId3"/>
    <p:sldId id="301" r:id="rId4"/>
    <p:sldId id="331" r:id="rId5"/>
    <p:sldId id="332" r:id="rId6"/>
    <p:sldId id="333" r:id="rId7"/>
    <p:sldId id="329" r:id="rId8"/>
    <p:sldId id="328" r:id="rId9"/>
    <p:sldId id="319" r:id="rId10"/>
    <p:sldId id="307" r:id="rId11"/>
    <p:sldId id="320" r:id="rId12"/>
    <p:sldId id="321" r:id="rId13"/>
    <p:sldId id="268" r:id="rId14"/>
    <p:sldId id="305" r:id="rId15"/>
    <p:sldId id="304" r:id="rId16"/>
    <p:sldId id="306" r:id="rId17"/>
    <p:sldId id="330" r:id="rId18"/>
    <p:sldId id="327" r:id="rId19"/>
    <p:sldId id="311" r:id="rId20"/>
    <p:sldId id="313" r:id="rId21"/>
    <p:sldId id="314" r:id="rId22"/>
    <p:sldId id="315" r:id="rId23"/>
    <p:sldId id="316" r:id="rId24"/>
    <p:sldId id="317" r:id="rId25"/>
    <p:sldId id="322" r:id="rId26"/>
    <p:sldId id="323" r:id="rId27"/>
    <p:sldId id="324" r:id="rId28"/>
    <p:sldId id="326" r:id="rId29"/>
    <p:sldId id="270" r:id="rId30"/>
    <p:sldId id="289" r:id="rId31"/>
    <p:sldId id="271" r:id="rId32"/>
    <p:sldId id="275" r:id="rId33"/>
    <p:sldId id="277" r:id="rId34"/>
    <p:sldId id="278" r:id="rId35"/>
    <p:sldId id="302" r:id="rId36"/>
    <p:sldId id="308" r:id="rId37"/>
    <p:sldId id="272" r:id="rId38"/>
    <p:sldId id="309" r:id="rId39"/>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04E5A927-2E4D-2362-15DC-5DFE07CD6FB3}" name="Dzikowski, Jacob John" initials="DJ" userId="S::jjd6349@psu.edu::4895814a-dc03-4c39-8378-dc19ab9f5be6" providerId="AD"/>
  <p188:author id="{1CA73F28-E147-6B8C-100B-0A7FBD428FF7}" name="Miller, Collin" initials="CM" userId="S::ckm5913@psu.edu::ff908cb6-7d6f-4875-b4f5-278d20c7e956" providerId="AD"/>
  <p188:author id="{90A73376-2957-628E-A3BA-9A35FC3F89D5}" name="DiGilio, Nathan Michael" initials="ND" userId="S::nmd5752@psu.edu::6de92994-7294-401c-8d7d-1533f7e9bf00" providerId="AD"/>
  <p188:author id="{5970E0C0-434A-75B7-D3C8-51FF4DE5CB15}" name="Pora, Daniel Joseph" initials="PD" userId="S::djp6208@psu.edu::1357b16c-6670-4578-8a58-65b560130820" providerId="AD"/>
  <p188:author id="{73E7C8C7-1286-7D18-8433-CFACF2081A2E}" name="DiGilio, Nathan Michael" initials="" userId="S::nmd5752@PSU.EDU::6de92994-7294-401c-8d7d-1533f7e9bf00" providerId="AD"/>
  <p188:author id="{79B83EE5-10CA-116C-49E1-8AF6F3E4095F}" name="Pora, Daniel Joseph" initials="" userId="S::djp6208@PSU.EDU::1357b16c-6670-4578-8a58-65b560130820"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B9CB53-BF8D-4F8A-88A4-8834F1C3A7C9}" v="207" dt="2026-02-23T01:44:41.471"/>
    <p1510:client id="{6787373B-2D4F-BB10-5639-2B5A74F49FA8}" v="355" dt="2026-02-23T01:36:40.439"/>
    <p1510:client id="{8F73BDC5-3F98-F0B1-F059-A3AEA9B5D7AD}" v="19" dt="2026-02-23T01:32:37.22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47" Type="http://schemas.microsoft.com/office/2018/10/relationships/authors" Targe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zikowski, Jacob John" userId="S::jjd6349@psu.edu::4895814a-dc03-4c39-8378-dc19ab9f5be6" providerId="AD" clId="Web-{6787373B-2D4F-BB10-5639-2B5A74F49FA8}"/>
    <pc:docChg chg="modSld">
      <pc:chgData name="Dzikowski, Jacob John" userId="S::jjd6349@psu.edu::4895814a-dc03-4c39-8378-dc19ab9f5be6" providerId="AD" clId="Web-{6787373B-2D4F-BB10-5639-2B5A74F49FA8}" dt="2026-02-23T01:36:40.251" v="261" actId="20577"/>
      <pc:docMkLst>
        <pc:docMk/>
      </pc:docMkLst>
      <pc:sldChg chg="addSp delSp modSp">
        <pc:chgData name="Dzikowski, Jacob John" userId="S::jjd6349@psu.edu::4895814a-dc03-4c39-8378-dc19ab9f5be6" providerId="AD" clId="Web-{6787373B-2D4F-BB10-5639-2B5A74F49FA8}" dt="2026-02-23T01:25:51.341" v="251"/>
        <pc:sldMkLst>
          <pc:docMk/>
          <pc:sldMk cId="1304618324" sldId="277"/>
        </pc:sldMkLst>
        <pc:spChg chg="add del mod">
          <ac:chgData name="Dzikowski, Jacob John" userId="S::jjd6349@psu.edu::4895814a-dc03-4c39-8378-dc19ab9f5be6" providerId="AD" clId="Web-{6787373B-2D4F-BB10-5639-2B5A74F49FA8}" dt="2026-02-23T01:17:37.231" v="28"/>
          <ac:spMkLst>
            <pc:docMk/>
            <pc:sldMk cId="1304618324" sldId="277"/>
            <ac:spMk id="8" creationId="{EC2ED11E-8A6E-F012-F76D-7464A474DCD5}"/>
          </ac:spMkLst>
        </pc:spChg>
        <pc:spChg chg="add del mod">
          <ac:chgData name="Dzikowski, Jacob John" userId="S::jjd6349@psu.edu::4895814a-dc03-4c39-8378-dc19ab9f5be6" providerId="AD" clId="Web-{6787373B-2D4F-BB10-5639-2B5A74F49FA8}" dt="2026-02-23T01:18:10.686" v="58"/>
          <ac:spMkLst>
            <pc:docMk/>
            <pc:sldMk cId="1304618324" sldId="277"/>
            <ac:spMk id="14" creationId="{20E314E4-ABAD-213C-D391-855ED348F6AD}"/>
          </ac:spMkLst>
        </pc:spChg>
        <pc:spChg chg="add del mod">
          <ac:chgData name="Dzikowski, Jacob John" userId="S::jjd6349@psu.edu::4895814a-dc03-4c39-8378-dc19ab9f5be6" providerId="AD" clId="Web-{6787373B-2D4F-BB10-5639-2B5A74F49FA8}" dt="2026-02-23T01:22:50.680" v="192"/>
          <ac:spMkLst>
            <pc:docMk/>
            <pc:sldMk cId="1304618324" sldId="277"/>
            <ac:spMk id="16" creationId="{37261D47-B0C6-3844-5414-F7F272D28E66}"/>
          </ac:spMkLst>
        </pc:spChg>
        <pc:graphicFrameChg chg="add del mod">
          <ac:chgData name="Dzikowski, Jacob John" userId="S::jjd6349@psu.edu::4895814a-dc03-4c39-8378-dc19ab9f5be6" providerId="AD" clId="Web-{6787373B-2D4F-BB10-5639-2B5A74F49FA8}" dt="2026-02-23T01:17:33.981" v="24"/>
          <ac:graphicFrameMkLst>
            <pc:docMk/>
            <pc:sldMk cId="1304618324" sldId="277"/>
            <ac:graphicFrameMk id="5" creationId="{4C58C95E-EBDF-7133-139B-8E2281E86A89}"/>
          </ac:graphicFrameMkLst>
        </pc:graphicFrameChg>
        <pc:graphicFrameChg chg="add del mod modGraphic">
          <ac:chgData name="Dzikowski, Jacob John" userId="S::jjd6349@psu.edu::4895814a-dc03-4c39-8378-dc19ab9f5be6" providerId="AD" clId="Web-{6787373B-2D4F-BB10-5639-2B5A74F49FA8}" dt="2026-02-23T01:19:00.907" v="69"/>
          <ac:graphicFrameMkLst>
            <pc:docMk/>
            <pc:sldMk cId="1304618324" sldId="277"/>
            <ac:graphicFrameMk id="7" creationId="{35A5F8B1-1595-821B-5E3A-29A5578C353A}"/>
          </ac:graphicFrameMkLst>
        </pc:graphicFrameChg>
        <pc:graphicFrameChg chg="add del mod modGraphic">
          <ac:chgData name="Dzikowski, Jacob John" userId="S::jjd6349@psu.edu::4895814a-dc03-4c39-8378-dc19ab9f5be6" providerId="AD" clId="Web-{6787373B-2D4F-BB10-5639-2B5A74F49FA8}" dt="2026-02-23T01:17:47.059" v="32"/>
          <ac:graphicFrameMkLst>
            <pc:docMk/>
            <pc:sldMk cId="1304618324" sldId="277"/>
            <ac:graphicFrameMk id="10" creationId="{F9B06EE6-E2D9-3183-EDD4-F802DBF9FABF}"/>
          </ac:graphicFrameMkLst>
        </pc:graphicFrameChg>
        <pc:graphicFrameChg chg="add mod modGraphic">
          <ac:chgData name="Dzikowski, Jacob John" userId="S::jjd6349@psu.edu::4895814a-dc03-4c39-8378-dc19ab9f5be6" providerId="AD" clId="Web-{6787373B-2D4F-BB10-5639-2B5A74F49FA8}" dt="2026-02-23T01:25:51.341" v="251"/>
          <ac:graphicFrameMkLst>
            <pc:docMk/>
            <pc:sldMk cId="1304618324" sldId="277"/>
            <ac:graphicFrameMk id="12" creationId="{1D33345E-6BCA-1743-2E0D-B2B81DBED7F8}"/>
          </ac:graphicFrameMkLst>
        </pc:graphicFrameChg>
      </pc:sldChg>
      <pc:sldChg chg="modSp">
        <pc:chgData name="Dzikowski, Jacob John" userId="S::jjd6349@psu.edu::4895814a-dc03-4c39-8378-dc19ab9f5be6" providerId="AD" clId="Web-{6787373B-2D4F-BB10-5639-2B5A74F49FA8}" dt="2026-02-23T01:36:40.251" v="261" actId="20577"/>
        <pc:sldMkLst>
          <pc:docMk/>
          <pc:sldMk cId="3216472259" sldId="331"/>
        </pc:sldMkLst>
        <pc:spChg chg="mod">
          <ac:chgData name="Dzikowski, Jacob John" userId="S::jjd6349@psu.edu::4895814a-dc03-4c39-8378-dc19ab9f5be6" providerId="AD" clId="Web-{6787373B-2D4F-BB10-5639-2B5A74F49FA8}" dt="2026-02-23T01:36:40.251" v="261" actId="20577"/>
          <ac:spMkLst>
            <pc:docMk/>
            <pc:sldMk cId="3216472259" sldId="331"/>
            <ac:spMk id="3" creationId="{27C2114E-B9B5-E2EF-F5F9-B76C16C240D3}"/>
          </ac:spMkLst>
        </pc:spChg>
      </pc:sldChg>
    </pc:docChg>
  </pc:docChgLst>
  <pc:docChgLst>
    <pc:chgData name="Pora, Daniel Joseph" userId="1357b16c-6670-4578-8a58-65b560130820" providerId="ADAL" clId="{93E7EBD3-B055-4AF5-BF9D-15140254E714}"/>
    <pc:docChg chg="undo custSel modSld">
      <pc:chgData name="Pora, Daniel Joseph" userId="1357b16c-6670-4578-8a58-65b560130820" providerId="ADAL" clId="{93E7EBD3-B055-4AF5-BF9D-15140254E714}" dt="2026-02-23T01:44:41.471" v="206" actId="20577"/>
      <pc:docMkLst>
        <pc:docMk/>
      </pc:docMkLst>
      <pc:sldChg chg="addSp delSp modSp mod setBg setClrOvrMap">
        <pc:chgData name="Pora, Daniel Joseph" userId="1357b16c-6670-4578-8a58-65b560130820" providerId="ADAL" clId="{93E7EBD3-B055-4AF5-BF9D-15140254E714}" dt="2026-02-23T01:44:41.471" v="206" actId="20577"/>
        <pc:sldMkLst>
          <pc:docMk/>
          <pc:sldMk cId="2754428458" sldId="304"/>
        </pc:sldMkLst>
        <pc:spChg chg="mod">
          <ac:chgData name="Pora, Daniel Joseph" userId="1357b16c-6670-4578-8a58-65b560130820" providerId="ADAL" clId="{93E7EBD3-B055-4AF5-BF9D-15140254E714}" dt="2026-02-23T01:43:27.184" v="195" actId="255"/>
          <ac:spMkLst>
            <pc:docMk/>
            <pc:sldMk cId="2754428458" sldId="304"/>
            <ac:spMk id="2" creationId="{598E4621-979C-F553-4266-415F3E1C7894}"/>
          </ac:spMkLst>
        </pc:spChg>
        <pc:spChg chg="mod">
          <ac:chgData name="Pora, Daniel Joseph" userId="1357b16c-6670-4578-8a58-65b560130820" providerId="ADAL" clId="{93E7EBD3-B055-4AF5-BF9D-15140254E714}" dt="2026-02-23T01:41:52.950" v="187" actId="26606"/>
          <ac:spMkLst>
            <pc:docMk/>
            <pc:sldMk cId="2754428458" sldId="304"/>
            <ac:spMk id="4" creationId="{97772CB6-4208-D25E-B7DE-2F0AB93CC03B}"/>
          </ac:spMkLst>
        </pc:spChg>
        <pc:spChg chg="add mod">
          <ac:chgData name="Pora, Daniel Joseph" userId="1357b16c-6670-4578-8a58-65b560130820" providerId="ADAL" clId="{93E7EBD3-B055-4AF5-BF9D-15140254E714}" dt="2026-02-23T01:44:41.471" v="206" actId="20577"/>
          <ac:spMkLst>
            <pc:docMk/>
            <pc:sldMk cId="2754428458" sldId="304"/>
            <ac:spMk id="5" creationId="{F77914A2-D7AF-99B9-8BFF-38CB2155D13B}"/>
          </ac:spMkLst>
        </pc:spChg>
        <pc:spChg chg="add del">
          <ac:chgData name="Pora, Daniel Joseph" userId="1357b16c-6670-4578-8a58-65b560130820" providerId="ADAL" clId="{93E7EBD3-B055-4AF5-BF9D-15140254E714}" dt="2026-02-23T01:41:52.950" v="187" actId="26606"/>
          <ac:spMkLst>
            <pc:docMk/>
            <pc:sldMk cId="2754428458" sldId="304"/>
            <ac:spMk id="12" creationId="{B4AAD3FD-83A5-4B89-9F8F-01B8870865BE}"/>
          </ac:spMkLst>
        </pc:spChg>
        <pc:spChg chg="add del">
          <ac:chgData name="Pora, Daniel Joseph" userId="1357b16c-6670-4578-8a58-65b560130820" providerId="ADAL" clId="{93E7EBD3-B055-4AF5-BF9D-15140254E714}" dt="2026-02-23T01:41:52.950" v="187" actId="26606"/>
          <ac:spMkLst>
            <pc:docMk/>
            <pc:sldMk cId="2754428458" sldId="304"/>
            <ac:spMk id="14" creationId="{61752F1D-FC0F-4103-9584-630E643CCDA6}"/>
          </ac:spMkLst>
        </pc:spChg>
        <pc:spChg chg="add del">
          <ac:chgData name="Pora, Daniel Joseph" userId="1357b16c-6670-4578-8a58-65b560130820" providerId="ADAL" clId="{93E7EBD3-B055-4AF5-BF9D-15140254E714}" dt="2026-02-23T01:41:52.950" v="187" actId="26606"/>
          <ac:spMkLst>
            <pc:docMk/>
            <pc:sldMk cId="2754428458" sldId="304"/>
            <ac:spMk id="16" creationId="{70151CB7-E7DE-4917-B831-01DF9CE01306}"/>
          </ac:spMkLst>
        </pc:spChg>
        <pc:spChg chg="add del">
          <ac:chgData name="Pora, Daniel Joseph" userId="1357b16c-6670-4578-8a58-65b560130820" providerId="ADAL" clId="{93E7EBD3-B055-4AF5-BF9D-15140254E714}" dt="2026-02-23T01:41:52.950" v="187" actId="26606"/>
          <ac:spMkLst>
            <pc:docMk/>
            <pc:sldMk cId="2754428458" sldId="304"/>
            <ac:spMk id="18" creationId="{A92A1116-1C84-41DF-B803-1F7B0883EC82}"/>
          </ac:spMkLst>
        </pc:spChg>
        <pc:spChg chg="add del">
          <ac:chgData name="Pora, Daniel Joseph" userId="1357b16c-6670-4578-8a58-65b560130820" providerId="ADAL" clId="{93E7EBD3-B055-4AF5-BF9D-15140254E714}" dt="2026-02-23T01:41:52.922" v="186" actId="26606"/>
          <ac:spMkLst>
            <pc:docMk/>
            <pc:sldMk cId="2754428458" sldId="304"/>
            <ac:spMk id="23" creationId="{A93A089E-0A16-452C-B341-0F769780D262}"/>
          </ac:spMkLst>
        </pc:spChg>
        <pc:picChg chg="del mod">
          <ac:chgData name="Pora, Daniel Joseph" userId="1357b16c-6670-4578-8a58-65b560130820" providerId="ADAL" clId="{93E7EBD3-B055-4AF5-BF9D-15140254E714}" dt="2026-02-23T01:40:32.776" v="104" actId="478"/>
          <ac:picMkLst>
            <pc:docMk/>
            <pc:sldMk cId="2754428458" sldId="304"/>
            <ac:picMk id="6" creationId="{3B7C2E33-0423-7B05-C6C2-2C54DB7268B7}"/>
          </ac:picMkLst>
        </pc:picChg>
        <pc:picChg chg="add mod ord">
          <ac:chgData name="Pora, Daniel Joseph" userId="1357b16c-6670-4578-8a58-65b560130820" providerId="ADAL" clId="{93E7EBD3-B055-4AF5-BF9D-15140254E714}" dt="2026-02-23T01:43:08.980" v="194" actId="1076"/>
          <ac:picMkLst>
            <pc:docMk/>
            <pc:sldMk cId="2754428458" sldId="304"/>
            <ac:picMk id="7" creationId="{88FC28F5-39D6-6571-8863-3296D09BB27A}"/>
          </ac:picMkLst>
        </pc:picChg>
      </pc:sldChg>
      <pc:sldChg chg="addSp delSp modSp mod setBg setClrOvrMap">
        <pc:chgData name="Pora, Daniel Joseph" userId="1357b16c-6670-4578-8a58-65b560130820" providerId="ADAL" clId="{93E7EBD3-B055-4AF5-BF9D-15140254E714}" dt="2026-02-23T01:39:24.566" v="102" actId="1076"/>
        <pc:sldMkLst>
          <pc:docMk/>
          <pc:sldMk cId="3647372978" sldId="305"/>
        </pc:sldMkLst>
        <pc:spChg chg="mod">
          <ac:chgData name="Pora, Daniel Joseph" userId="1357b16c-6670-4578-8a58-65b560130820" providerId="ADAL" clId="{93E7EBD3-B055-4AF5-BF9D-15140254E714}" dt="2026-02-23T01:39:19.167" v="101" actId="1076"/>
          <ac:spMkLst>
            <pc:docMk/>
            <pc:sldMk cId="3647372978" sldId="305"/>
            <ac:spMk id="2" creationId="{5C94AE06-9F3B-82BF-C3CF-0B00DF291EEE}"/>
          </ac:spMkLst>
        </pc:spChg>
        <pc:spChg chg="add mod">
          <ac:chgData name="Pora, Daniel Joseph" userId="1357b16c-6670-4578-8a58-65b560130820" providerId="ADAL" clId="{93E7EBD3-B055-4AF5-BF9D-15140254E714}" dt="2026-02-23T01:39:24.566" v="102" actId="1076"/>
          <ac:spMkLst>
            <pc:docMk/>
            <pc:sldMk cId="3647372978" sldId="305"/>
            <ac:spMk id="6" creationId="{1F94CAB5-61F2-A343-6667-6C9211C93EAD}"/>
          </ac:spMkLst>
        </pc:spChg>
        <pc:spChg chg="del">
          <ac:chgData name="Pora, Daniel Joseph" userId="1357b16c-6670-4578-8a58-65b560130820" providerId="ADAL" clId="{93E7EBD3-B055-4AF5-BF9D-15140254E714}" dt="2026-02-23T01:38:40.477" v="93" actId="26606"/>
          <ac:spMkLst>
            <pc:docMk/>
            <pc:sldMk cId="3647372978" sldId="305"/>
            <ac:spMk id="55" creationId="{4AC0CD9D-7610-4620-93B4-798CCD9AB581}"/>
          </ac:spMkLst>
        </pc:spChg>
        <pc:spChg chg="del">
          <ac:chgData name="Pora, Daniel Joseph" userId="1357b16c-6670-4578-8a58-65b560130820" providerId="ADAL" clId="{93E7EBD3-B055-4AF5-BF9D-15140254E714}" dt="2026-02-23T01:38:40.477" v="93" actId="26606"/>
          <ac:spMkLst>
            <pc:docMk/>
            <pc:sldMk cId="3647372978" sldId="305"/>
            <ac:spMk id="61" creationId="{DE4D62F9-188E-4530-84C2-24BDEE4BEB82}"/>
          </ac:spMkLst>
        </pc:spChg>
        <pc:spChg chg="add">
          <ac:chgData name="Pora, Daniel Joseph" userId="1357b16c-6670-4578-8a58-65b560130820" providerId="ADAL" clId="{93E7EBD3-B055-4AF5-BF9D-15140254E714}" dt="2026-02-23T01:38:40.477" v="93" actId="26606"/>
          <ac:spMkLst>
            <pc:docMk/>
            <pc:sldMk cId="3647372978" sldId="305"/>
            <ac:spMk id="66" creationId="{5F3FC718-FDE3-4EF7-921E-A5F374EAF824}"/>
          </ac:spMkLst>
        </pc:spChg>
        <pc:spChg chg="add">
          <ac:chgData name="Pora, Daniel Joseph" userId="1357b16c-6670-4578-8a58-65b560130820" providerId="ADAL" clId="{93E7EBD3-B055-4AF5-BF9D-15140254E714}" dt="2026-02-23T01:38:40.477" v="93" actId="26606"/>
          <ac:spMkLst>
            <pc:docMk/>
            <pc:sldMk cId="3647372978" sldId="305"/>
            <ac:spMk id="68" creationId="{FAA0F719-3DC8-4F08-AD8F-5A845658CB9D}"/>
          </ac:spMkLst>
        </pc:spChg>
        <pc:spChg chg="add">
          <ac:chgData name="Pora, Daniel Joseph" userId="1357b16c-6670-4578-8a58-65b560130820" providerId="ADAL" clId="{93E7EBD3-B055-4AF5-BF9D-15140254E714}" dt="2026-02-23T01:38:40.477" v="93" actId="26606"/>
          <ac:spMkLst>
            <pc:docMk/>
            <pc:sldMk cId="3647372978" sldId="305"/>
            <ac:spMk id="70" creationId="{7DCB61BE-FA0F-4EFB-BE0E-268BAD8E30D6}"/>
          </ac:spMkLst>
        </pc:spChg>
        <pc:spChg chg="add">
          <ac:chgData name="Pora, Daniel Joseph" userId="1357b16c-6670-4578-8a58-65b560130820" providerId="ADAL" clId="{93E7EBD3-B055-4AF5-BF9D-15140254E714}" dt="2026-02-23T01:38:40.477" v="93" actId="26606"/>
          <ac:spMkLst>
            <pc:docMk/>
            <pc:sldMk cId="3647372978" sldId="305"/>
            <ac:spMk id="72" creationId="{A4B31EAA-7423-46F7-9B90-4AB2B09C35C4}"/>
          </ac:spMkLst>
        </pc:spChg>
        <pc:picChg chg="add mod">
          <ac:chgData name="Pora, Daniel Joseph" userId="1357b16c-6670-4578-8a58-65b560130820" providerId="ADAL" clId="{93E7EBD3-B055-4AF5-BF9D-15140254E714}" dt="2026-02-23T01:38:49.821" v="96" actId="1076"/>
          <ac:picMkLst>
            <pc:docMk/>
            <pc:sldMk cId="3647372978" sldId="305"/>
            <ac:picMk id="3" creationId="{12196ECD-EF56-80A6-CED0-D8EF4859046B}"/>
          </ac:picMkLst>
        </pc:picChg>
        <pc:picChg chg="add mod">
          <ac:chgData name="Pora, Daniel Joseph" userId="1357b16c-6670-4578-8a58-65b560130820" providerId="ADAL" clId="{93E7EBD3-B055-4AF5-BF9D-15140254E714}" dt="2026-02-23T01:35:17.004" v="6"/>
          <ac:picMkLst>
            <pc:docMk/>
            <pc:sldMk cId="3647372978" sldId="305"/>
            <ac:picMk id="5" creationId="{8802D591-0688-5FB1-EBE0-EA9FFB2598D6}"/>
          </ac:picMkLst>
        </pc:picChg>
        <pc:picChg chg="del">
          <ac:chgData name="Pora, Daniel Joseph" userId="1357b16c-6670-4578-8a58-65b560130820" providerId="ADAL" clId="{93E7EBD3-B055-4AF5-BF9D-15140254E714}" dt="2026-02-23T01:34:46.865" v="1" actId="478"/>
          <ac:picMkLst>
            <pc:docMk/>
            <pc:sldMk cId="3647372978" sldId="305"/>
            <ac:picMk id="8" creationId="{7C24BF1C-606D-C8F2-1EF8-2847769D77FD}"/>
          </ac:picMkLst>
        </pc:picChg>
        <pc:picChg chg="del">
          <ac:chgData name="Pora, Daniel Joseph" userId="1357b16c-6670-4578-8a58-65b560130820" providerId="ADAL" clId="{93E7EBD3-B055-4AF5-BF9D-15140254E714}" dt="2026-02-23T01:38:40.477" v="93" actId="26606"/>
          <ac:picMkLst>
            <pc:docMk/>
            <pc:sldMk cId="3647372978" sldId="305"/>
            <ac:picMk id="51" creationId="{41B68C77-138E-4BF7-A276-BD0C78A4219F}"/>
          </ac:picMkLst>
        </pc:picChg>
        <pc:picChg chg="del">
          <ac:chgData name="Pora, Daniel Joseph" userId="1357b16c-6670-4578-8a58-65b560130820" providerId="ADAL" clId="{93E7EBD3-B055-4AF5-BF9D-15140254E714}" dt="2026-02-23T01:38:40.477" v="93" actId="26606"/>
          <ac:picMkLst>
            <pc:docMk/>
            <pc:sldMk cId="3647372978" sldId="305"/>
            <ac:picMk id="57" creationId="{B9238B3E-24AA-439A-B527-6C5DF6D72145}"/>
          </ac:picMkLst>
        </pc:picChg>
      </pc:sldChg>
    </pc:docChg>
  </pc:docChgLst>
  <pc:docChgLst>
    <pc:chgData name="Pora, Daniel Joseph" userId="S::djp6208@psu.edu::1357b16c-6670-4578-8a58-65b560130820" providerId="AD" clId="Web-{8F73BDC5-3F98-F0B1-F059-A3AEA9B5D7AD}"/>
    <pc:docChg chg="modSld">
      <pc:chgData name="Pora, Daniel Joseph" userId="S::djp6208@psu.edu::1357b16c-6670-4578-8a58-65b560130820" providerId="AD" clId="Web-{8F73BDC5-3F98-F0B1-F059-A3AEA9B5D7AD}" dt="2026-02-23T01:32:36.788" v="18" actId="20577"/>
      <pc:docMkLst>
        <pc:docMk/>
      </pc:docMkLst>
      <pc:sldChg chg="modSp">
        <pc:chgData name="Pora, Daniel Joseph" userId="S::djp6208@psu.edu::1357b16c-6670-4578-8a58-65b560130820" providerId="AD" clId="Web-{8F73BDC5-3F98-F0B1-F059-A3AEA9B5D7AD}" dt="2026-02-23T01:32:36.788" v="18" actId="20577"/>
        <pc:sldMkLst>
          <pc:docMk/>
          <pc:sldMk cId="3647372978" sldId="305"/>
        </pc:sldMkLst>
        <pc:spChg chg="mod">
          <ac:chgData name="Pora, Daniel Joseph" userId="S::djp6208@psu.edu::1357b16c-6670-4578-8a58-65b560130820" providerId="AD" clId="Web-{8F73BDC5-3F98-F0B1-F059-A3AEA9B5D7AD}" dt="2026-02-23T01:32:36.788" v="18" actId="20577"/>
          <ac:spMkLst>
            <pc:docMk/>
            <pc:sldMk cId="3647372978" sldId="305"/>
            <ac:spMk id="2" creationId="{5C94AE06-9F3B-82BF-C3CF-0B00DF291EE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AEAB6421-F735-4573-AE20-370E40D15E5A}" type="datetimeFigureOut">
              <a:t>2/22/2026</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7CBE16C9-E44E-4755-862A-693F531BB02F}" type="slidenum">
              <a:t>‹#›</a:t>
            </a:fld>
            <a:endParaRPr lang="en-US"/>
          </a:p>
        </p:txBody>
      </p:sp>
    </p:spTree>
    <p:extLst>
      <p:ext uri="{BB962C8B-B14F-4D97-AF65-F5344CB8AC3E}">
        <p14:creationId xmlns:p14="http://schemas.microsoft.com/office/powerpoint/2010/main" val="9589736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Welcome everyone. </a:t>
            </a:r>
            <a:br>
              <a:rPr lang="en-US"/>
            </a:br>
            <a:br>
              <a:rPr lang="en-US"/>
            </a:br>
            <a:r>
              <a:rPr lang="en-US"/>
              <a:t>This is the senior design presentation 2 for the AIBI Computer Vision for Manufacturing.  </a:t>
            </a:r>
            <a:br>
              <a:rPr lang="en-US"/>
            </a:br>
            <a:br>
              <a:rPr lang="en-US"/>
            </a:br>
            <a:r>
              <a:rPr lang="en-US"/>
              <a:t>I am Collin, etc.</a:t>
            </a:r>
          </a:p>
        </p:txBody>
      </p:sp>
      <p:sp>
        <p:nvSpPr>
          <p:cNvPr id="4" name="Slide Number Placeholder 3"/>
          <p:cNvSpPr>
            <a:spLocks noGrp="1"/>
          </p:cNvSpPr>
          <p:nvPr>
            <p:ph type="sldNum" sz="quarter" idx="5"/>
          </p:nvPr>
        </p:nvSpPr>
        <p:spPr/>
        <p:txBody>
          <a:bodyPr/>
          <a:lstStyle/>
          <a:p>
            <a:fld id="{7CBE16C9-E44E-4755-862A-693F531BB02F}" type="slidenum">
              <a:rPr lang="en-US" smtClean="0"/>
              <a:t>1</a:t>
            </a:fld>
            <a:endParaRPr lang="en-US"/>
          </a:p>
        </p:txBody>
      </p:sp>
    </p:spTree>
    <p:extLst>
      <p:ext uri="{BB962C8B-B14F-4D97-AF65-F5344CB8AC3E}">
        <p14:creationId xmlns:p14="http://schemas.microsoft.com/office/powerpoint/2010/main" val="7871621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 is an outline of where this presentation is heading. </a:t>
            </a:r>
            <a:br>
              <a:rPr lang="en-US"/>
            </a:br>
            <a:br>
              <a:rPr lang="en-US"/>
            </a:br>
            <a:r>
              <a:rPr lang="en-US"/>
              <a:t>We plan on having time at the end for any questions or clarifications, so please hold questions until the end if possible.</a:t>
            </a:r>
          </a:p>
        </p:txBody>
      </p:sp>
      <p:sp>
        <p:nvSpPr>
          <p:cNvPr id="4" name="Slide Number Placeholder 3"/>
          <p:cNvSpPr>
            <a:spLocks noGrp="1"/>
          </p:cNvSpPr>
          <p:nvPr>
            <p:ph type="sldNum" sz="quarter" idx="5"/>
          </p:nvPr>
        </p:nvSpPr>
        <p:spPr/>
        <p:txBody>
          <a:bodyPr/>
          <a:lstStyle/>
          <a:p>
            <a:fld id="{7CBE16C9-E44E-4755-862A-693F531BB02F}" type="slidenum">
              <a:rPr lang="en-US" smtClean="0"/>
              <a:t>2</a:t>
            </a:fld>
            <a:endParaRPr lang="en-US"/>
          </a:p>
        </p:txBody>
      </p:sp>
    </p:spTree>
    <p:extLst>
      <p:ext uri="{BB962C8B-B14F-4D97-AF65-F5344CB8AC3E}">
        <p14:creationId xmlns:p14="http://schemas.microsoft.com/office/powerpoint/2010/main" val="6097627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are going to start with a little recap of what we talked about last time starting with the background of the </a:t>
            </a:r>
            <a:r>
              <a:rPr lang="en-US" err="1"/>
              <a:t>sponsor</a:t>
            </a:r>
            <a:r>
              <a:rPr lang="en-US"/>
              <a:t>.</a:t>
            </a:r>
          </a:p>
        </p:txBody>
      </p:sp>
      <p:sp>
        <p:nvSpPr>
          <p:cNvPr id="4" name="Slide Number Placeholder 3"/>
          <p:cNvSpPr>
            <a:spLocks noGrp="1"/>
          </p:cNvSpPr>
          <p:nvPr>
            <p:ph type="sldNum" sz="quarter" idx="5"/>
          </p:nvPr>
        </p:nvSpPr>
        <p:spPr/>
        <p:txBody>
          <a:bodyPr/>
          <a:lstStyle/>
          <a:p>
            <a:fld id="{7CBE16C9-E44E-4755-862A-693F531BB02F}" type="slidenum">
              <a:rPr lang="en-US" smtClean="0"/>
              <a:t>3</a:t>
            </a:fld>
            <a:endParaRPr lang="en-US"/>
          </a:p>
        </p:txBody>
      </p:sp>
    </p:spTree>
    <p:extLst>
      <p:ext uri="{BB962C8B-B14F-4D97-AF65-F5344CB8AC3E}">
        <p14:creationId xmlns:p14="http://schemas.microsoft.com/office/powerpoint/2010/main" val="20858391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AIBI Solutions is a spin-off of KMD Technology Solutions that specialized is AI solutions that do not need the cloud. This way, the AI runs on the infrastructure and avoids security risks</a:t>
            </a:r>
          </a:p>
          <a:p>
            <a:endParaRPr lang="en-US">
              <a:ea typeface="Calibri"/>
              <a:cs typeface="Calibri"/>
            </a:endParaRPr>
          </a:p>
          <a:p>
            <a:r>
              <a:rPr lang="en-US">
                <a:ea typeface="Calibri"/>
                <a:cs typeface="Calibri"/>
              </a:rPr>
              <a:t>KMD Technology Solutions has been developing since 2003, but noticed problems that AI could supplement if not solve.</a:t>
            </a:r>
          </a:p>
          <a:p>
            <a:endParaRPr lang="en-US">
              <a:ea typeface="Calibri"/>
              <a:cs typeface="Calibri"/>
            </a:endParaRPr>
          </a:p>
          <a:p>
            <a:r>
              <a:rPr lang="en-US">
                <a:ea typeface="Calibri"/>
                <a:cs typeface="Calibri"/>
              </a:rPr>
              <a:t>AIBI was then created to offer those unique AI solutions to manufacturers who cannot use cloud-based solutions</a:t>
            </a:r>
          </a:p>
        </p:txBody>
      </p:sp>
      <p:sp>
        <p:nvSpPr>
          <p:cNvPr id="4" name="Slide Number Placeholder 3"/>
          <p:cNvSpPr>
            <a:spLocks noGrp="1"/>
          </p:cNvSpPr>
          <p:nvPr>
            <p:ph type="sldNum" sz="quarter" idx="5"/>
          </p:nvPr>
        </p:nvSpPr>
        <p:spPr/>
        <p:txBody>
          <a:bodyPr/>
          <a:lstStyle/>
          <a:p>
            <a:fld id="{7CBE16C9-E44E-4755-862A-693F531BB02F}" type="slidenum">
              <a:rPr lang="en-US"/>
              <a:t>4</a:t>
            </a:fld>
            <a:endParaRPr lang="en-US"/>
          </a:p>
        </p:txBody>
      </p:sp>
    </p:spTree>
    <p:extLst>
      <p:ext uri="{BB962C8B-B14F-4D97-AF65-F5344CB8AC3E}">
        <p14:creationId xmlns:p14="http://schemas.microsoft.com/office/powerpoint/2010/main" val="28848440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Our solution needs to be accurate, traceable, and fully accountable</a:t>
            </a:r>
          </a:p>
          <a:p>
            <a:endParaRPr lang="en-US">
              <a:ea typeface="Calibri"/>
              <a:cs typeface="Calibri"/>
            </a:endParaRPr>
          </a:p>
          <a:p>
            <a:r>
              <a:rPr lang="en-US">
                <a:ea typeface="Calibri"/>
                <a:cs typeface="Calibri"/>
              </a:rPr>
              <a:t>Since our system will be scanning the QR codes, this will remove the human error that comes with manual scanning</a:t>
            </a:r>
          </a:p>
          <a:p>
            <a:r>
              <a:rPr lang="en-US">
                <a:ea typeface="Calibri"/>
                <a:cs typeface="Calibri"/>
              </a:rPr>
              <a:t>This process also takes time to complete by hand.</a:t>
            </a:r>
          </a:p>
          <a:p>
            <a:endParaRPr lang="en-US">
              <a:ea typeface="Calibri"/>
              <a:cs typeface="Calibri"/>
            </a:endParaRPr>
          </a:p>
          <a:p>
            <a:r>
              <a:rPr lang="en-US">
                <a:ea typeface="Calibri"/>
                <a:cs typeface="Calibri"/>
              </a:rPr>
              <a:t>This solution must be more accurate than hand tracking and completely on premises</a:t>
            </a:r>
          </a:p>
        </p:txBody>
      </p:sp>
      <p:sp>
        <p:nvSpPr>
          <p:cNvPr id="4" name="Slide Number Placeholder 3"/>
          <p:cNvSpPr>
            <a:spLocks noGrp="1"/>
          </p:cNvSpPr>
          <p:nvPr>
            <p:ph type="sldNum" sz="quarter" idx="5"/>
          </p:nvPr>
        </p:nvSpPr>
        <p:spPr/>
        <p:txBody>
          <a:bodyPr/>
          <a:lstStyle/>
          <a:p>
            <a:fld id="{7CBE16C9-E44E-4755-862A-693F531BB02F}" type="slidenum">
              <a:rPr lang="en-US"/>
              <a:t>5</a:t>
            </a:fld>
            <a:endParaRPr lang="en-US"/>
          </a:p>
        </p:txBody>
      </p:sp>
    </p:spTree>
    <p:extLst>
      <p:ext uri="{BB962C8B-B14F-4D97-AF65-F5344CB8AC3E}">
        <p14:creationId xmlns:p14="http://schemas.microsoft.com/office/powerpoint/2010/main" val="14305382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Our system will have 2 main components: QR detection and process verification</a:t>
            </a:r>
          </a:p>
          <a:p>
            <a:endParaRPr lang="en-US">
              <a:ea typeface="Calibri"/>
              <a:cs typeface="Calibri"/>
            </a:endParaRPr>
          </a:p>
          <a:p>
            <a:r>
              <a:rPr lang="en-US">
                <a:ea typeface="Calibri"/>
                <a:cs typeface="Calibri"/>
              </a:rPr>
              <a:t>The QR detection will automatically identify and extract data from QR codes without requiring a worker to manually scan them. This will help improve efficiency and accuracy by reducing the chance of human error</a:t>
            </a:r>
          </a:p>
          <a:p>
            <a:endParaRPr lang="en-US">
              <a:ea typeface="Calibri"/>
              <a:cs typeface="Calibri"/>
            </a:endParaRPr>
          </a:p>
          <a:p>
            <a:r>
              <a:rPr lang="en-US">
                <a:ea typeface="Calibri"/>
                <a:cs typeface="Calibri"/>
              </a:rPr>
              <a:t>Our design will handle multiple QR codes at once, for example, a sheet with QR codes and run entirely on local systems</a:t>
            </a:r>
          </a:p>
          <a:p>
            <a:endParaRPr lang="en-US">
              <a:ea typeface="Calibri"/>
              <a:cs typeface="Calibri"/>
            </a:endParaRPr>
          </a:p>
          <a:p>
            <a:r>
              <a:rPr lang="en-US">
                <a:ea typeface="Calibri"/>
                <a:cs typeface="Calibri"/>
              </a:rPr>
              <a:t>The process verification ensures that each step for a process is completed in the correct order. If one is missed or performed out of sequence, the system will immediately alert a supervisor</a:t>
            </a:r>
          </a:p>
          <a:p>
            <a:endParaRPr lang="en-US">
              <a:ea typeface="Calibri"/>
              <a:cs typeface="Calibri"/>
            </a:endParaRPr>
          </a:p>
          <a:p>
            <a:r>
              <a:rPr lang="en-US">
                <a:ea typeface="Calibri"/>
                <a:cs typeface="Calibri"/>
              </a:rPr>
              <a:t>This feature helps maintain workflow integrity and ensures consistent, high-quality production without adding unnecessary complexity to the process</a:t>
            </a:r>
          </a:p>
          <a:p>
            <a:endParaRPr lang="en-US">
              <a:ea typeface="Calibri"/>
              <a:cs typeface="Calibri"/>
            </a:endParaRPr>
          </a:p>
          <a:p>
            <a:r>
              <a:rPr lang="en-US">
                <a:ea typeface="Calibri"/>
                <a:cs typeface="Calibri"/>
              </a:rPr>
              <a:t>Together, these two components enhance manufacturing efficiency, reliability, and security while keeping the system lightweight and easy to use on-site</a:t>
            </a:r>
          </a:p>
        </p:txBody>
      </p:sp>
      <p:sp>
        <p:nvSpPr>
          <p:cNvPr id="4" name="Slide Number Placeholder 3"/>
          <p:cNvSpPr>
            <a:spLocks noGrp="1"/>
          </p:cNvSpPr>
          <p:nvPr>
            <p:ph type="sldNum" sz="quarter" idx="5"/>
          </p:nvPr>
        </p:nvSpPr>
        <p:spPr/>
        <p:txBody>
          <a:bodyPr/>
          <a:lstStyle/>
          <a:p>
            <a:fld id="{7CBE16C9-E44E-4755-862A-693F531BB02F}" type="slidenum">
              <a:rPr lang="en-US"/>
              <a:t>6</a:t>
            </a:fld>
            <a:endParaRPr lang="en-US"/>
          </a:p>
        </p:txBody>
      </p:sp>
    </p:spTree>
    <p:extLst>
      <p:ext uri="{BB962C8B-B14F-4D97-AF65-F5344CB8AC3E}">
        <p14:creationId xmlns:p14="http://schemas.microsoft.com/office/powerpoint/2010/main" val="40546217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Recap of broader impact</a:t>
            </a:r>
          </a:p>
          <a:p>
            <a:endParaRPr lang="en-US">
              <a:ea typeface="Calibri"/>
              <a:cs typeface="Calibri"/>
            </a:endParaRPr>
          </a:p>
          <a:p>
            <a:r>
              <a:rPr lang="en-US">
                <a:ea typeface="Calibri"/>
                <a:cs typeface="Calibri"/>
              </a:rPr>
              <a:t>Enables on-premises semantic AI which means that there will be no cloud usage or manual labeling.</a:t>
            </a:r>
          </a:p>
          <a:p>
            <a:endParaRPr lang="en-US">
              <a:ea typeface="Calibri"/>
              <a:cs typeface="Calibri"/>
            </a:endParaRPr>
          </a:p>
          <a:p>
            <a:r>
              <a:rPr lang="en-US">
                <a:ea typeface="Calibri"/>
                <a:cs typeface="Calibri"/>
              </a:rPr>
              <a:t>Could be expanded to include real time safety monitoring, training feedback, and automated auditing</a:t>
            </a:r>
          </a:p>
          <a:p>
            <a:endParaRPr lang="en-US">
              <a:ea typeface="Calibri"/>
              <a:cs typeface="Calibri"/>
            </a:endParaRPr>
          </a:p>
          <a:p>
            <a:r>
              <a:rPr lang="en-US">
                <a:ea typeface="Calibri"/>
                <a:cs typeface="Calibri"/>
              </a:rPr>
              <a:t>This also promotes data privacy, compliance, and ownership while modernizing workflows</a:t>
            </a:r>
          </a:p>
        </p:txBody>
      </p:sp>
      <p:sp>
        <p:nvSpPr>
          <p:cNvPr id="4" name="Slide Number Placeholder 3"/>
          <p:cNvSpPr>
            <a:spLocks noGrp="1"/>
          </p:cNvSpPr>
          <p:nvPr>
            <p:ph type="sldNum" sz="quarter" idx="5"/>
          </p:nvPr>
        </p:nvSpPr>
        <p:spPr/>
        <p:txBody>
          <a:bodyPr/>
          <a:lstStyle/>
          <a:p>
            <a:fld id="{7CBE16C9-E44E-4755-862A-693F531BB02F}" type="slidenum">
              <a:rPr lang="en-US"/>
              <a:t>7</a:t>
            </a:fld>
            <a:endParaRPr lang="en-US"/>
          </a:p>
        </p:txBody>
      </p:sp>
    </p:spTree>
    <p:extLst>
      <p:ext uri="{BB962C8B-B14F-4D97-AF65-F5344CB8AC3E}">
        <p14:creationId xmlns:p14="http://schemas.microsoft.com/office/powerpoint/2010/main" val="23485000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We still have been trying to have our weekly meetings with both our faculty advisor, prof. Liaw and our industry mentor, Mr. </a:t>
            </a:r>
            <a:r>
              <a:rPr lang="en-US" err="1">
                <a:ea typeface="Calibri"/>
                <a:cs typeface="Calibri"/>
              </a:rPr>
              <a:t>DiGilio</a:t>
            </a:r>
            <a:r>
              <a:rPr lang="en-US">
                <a:ea typeface="Calibri"/>
                <a:cs typeface="Calibri"/>
              </a:rPr>
              <a:t>. For the QR scanning portion, we are at about 82% implementation. Although this seems high, we are currently only 56% done with entire project </a:t>
            </a:r>
            <a:r>
              <a:rPr lang="en-US" err="1">
                <a:ea typeface="Calibri"/>
                <a:cs typeface="Calibri"/>
              </a:rPr>
              <a:t>andwe</a:t>
            </a:r>
            <a:r>
              <a:rPr lang="en-US">
                <a:ea typeface="Calibri"/>
                <a:cs typeface="Calibri"/>
              </a:rPr>
              <a:t> are still gathering requirements for the second part. The QR scanning is a simpler task that we were able to figure out really quick so we can have something to show you today. We are still missing some big requirements that have to deal with KMD integration like External Interoperability Requirement 1 which is to integrate with KMD. We will be outputting the data from our scans into a form that Mr. </a:t>
            </a:r>
            <a:r>
              <a:rPr lang="en-US" err="1">
                <a:ea typeface="Calibri"/>
                <a:cs typeface="Calibri"/>
              </a:rPr>
              <a:t>DiGilio</a:t>
            </a:r>
            <a:r>
              <a:rPr lang="en-US">
                <a:ea typeface="Calibri"/>
                <a:cs typeface="Calibri"/>
              </a:rPr>
              <a:t> is currently making</a:t>
            </a:r>
          </a:p>
        </p:txBody>
      </p:sp>
      <p:sp>
        <p:nvSpPr>
          <p:cNvPr id="4" name="Slide Number Placeholder 3"/>
          <p:cNvSpPr>
            <a:spLocks noGrp="1"/>
          </p:cNvSpPr>
          <p:nvPr>
            <p:ph type="sldNum" sz="quarter" idx="5"/>
          </p:nvPr>
        </p:nvSpPr>
        <p:spPr/>
        <p:txBody>
          <a:bodyPr/>
          <a:lstStyle/>
          <a:p>
            <a:fld id="{7CBE16C9-E44E-4755-862A-693F531BB02F}" type="slidenum">
              <a:rPr lang="en-US"/>
              <a:t>8</a:t>
            </a:fld>
            <a:endParaRPr lang="en-US"/>
          </a:p>
        </p:txBody>
      </p:sp>
    </p:spTree>
    <p:extLst>
      <p:ext uri="{BB962C8B-B14F-4D97-AF65-F5344CB8AC3E}">
        <p14:creationId xmlns:p14="http://schemas.microsoft.com/office/powerpoint/2010/main" val="16480021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One of the biggest changes we made is that we will not be scanning barcodes. We will only be dealing with QR codes.</a:t>
            </a:r>
          </a:p>
          <a:p>
            <a:endParaRPr lang="en-US"/>
          </a:p>
          <a:p>
            <a:r>
              <a:rPr lang="en-US"/>
              <a:t>I also went in and fixed the issues with our use case diagram</a:t>
            </a:r>
          </a:p>
          <a:p>
            <a:endParaRPr lang="en-US"/>
          </a:p>
          <a:p>
            <a:r>
              <a:rPr lang="en-US"/>
              <a:t>Finally, I went in and split the system requirements up to make them more specific and more importantly, testable.</a:t>
            </a:r>
          </a:p>
        </p:txBody>
      </p:sp>
      <p:sp>
        <p:nvSpPr>
          <p:cNvPr id="4" name="Slide Number Placeholder 3"/>
          <p:cNvSpPr>
            <a:spLocks noGrp="1"/>
          </p:cNvSpPr>
          <p:nvPr>
            <p:ph type="sldNum" sz="quarter" idx="5"/>
          </p:nvPr>
        </p:nvSpPr>
        <p:spPr/>
        <p:txBody>
          <a:bodyPr/>
          <a:lstStyle/>
          <a:p>
            <a:fld id="{7CBE16C9-E44E-4755-862A-693F531BB02F}" type="slidenum">
              <a:rPr lang="en-US" smtClean="0"/>
              <a:t>9</a:t>
            </a:fld>
            <a:endParaRPr lang="en-US"/>
          </a:p>
        </p:txBody>
      </p:sp>
    </p:spTree>
    <p:extLst>
      <p:ext uri="{BB962C8B-B14F-4D97-AF65-F5344CB8AC3E}">
        <p14:creationId xmlns:p14="http://schemas.microsoft.com/office/powerpoint/2010/main" val="36016507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 what is happening now? </a:t>
            </a:r>
          </a:p>
          <a:p>
            <a:pPr marL="171450" indent="-171450">
              <a:buFontTx/>
              <a:buChar char="-"/>
            </a:pPr>
            <a:r>
              <a:rPr lang="en-US"/>
              <a:t>We decided to focus on the first part of our project which is the QR code scanning, this is much more doable than part two and will not take up as much time to complete</a:t>
            </a:r>
          </a:p>
          <a:p>
            <a:pPr marL="171450" indent="-171450">
              <a:buFontTx/>
              <a:buChar char="-"/>
            </a:pPr>
            <a:r>
              <a:rPr lang="en-US"/>
              <a:t>We plan on tackling the Process Verification when the QR scanning portion is complete</a:t>
            </a:r>
          </a:p>
          <a:p>
            <a:pPr marL="171450" indent="-171450">
              <a:buFontTx/>
              <a:buChar char="-"/>
            </a:pPr>
            <a:endParaRPr lang="en-US"/>
          </a:p>
          <a:p>
            <a:pPr marL="0" indent="0">
              <a:buFontTx/>
              <a:buNone/>
            </a:pPr>
            <a:r>
              <a:rPr lang="en-US"/>
              <a:t>We took a tour of the facility,</a:t>
            </a:r>
          </a:p>
          <a:p>
            <a:pPr marL="171450" indent="-171450">
              <a:buFontTx/>
              <a:buChar char="-"/>
            </a:pPr>
            <a:r>
              <a:rPr lang="en-US"/>
              <a:t>The tour broadened our scope with what we actually have to do.</a:t>
            </a:r>
          </a:p>
          <a:p>
            <a:pPr marL="171450" indent="-171450">
              <a:buFontTx/>
              <a:buChar char="-"/>
            </a:pPr>
            <a:r>
              <a:rPr lang="en-US"/>
              <a:t>This did give us a good understanding on everything. The lighting in the facility is great for the scanning. Camera position will definitely be a challenge</a:t>
            </a:r>
          </a:p>
        </p:txBody>
      </p:sp>
      <p:sp>
        <p:nvSpPr>
          <p:cNvPr id="4" name="Slide Number Placeholder 3"/>
          <p:cNvSpPr>
            <a:spLocks noGrp="1"/>
          </p:cNvSpPr>
          <p:nvPr>
            <p:ph type="sldNum" sz="quarter" idx="5"/>
          </p:nvPr>
        </p:nvSpPr>
        <p:spPr/>
        <p:txBody>
          <a:bodyPr/>
          <a:lstStyle/>
          <a:p>
            <a:fld id="{7CBE16C9-E44E-4755-862A-693F531BB02F}" type="slidenum">
              <a:rPr lang="en-US" smtClean="0"/>
              <a:t>10</a:t>
            </a:fld>
            <a:endParaRPr lang="en-US"/>
          </a:p>
        </p:txBody>
      </p:sp>
    </p:spTree>
    <p:extLst>
      <p:ext uri="{BB962C8B-B14F-4D97-AF65-F5344CB8AC3E}">
        <p14:creationId xmlns:p14="http://schemas.microsoft.com/office/powerpoint/2010/main" val="3816020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 get into our use case diagram, it has been mainly unchanged. We did remove Senior Design students as a main actor and also added a border to the system.</a:t>
            </a:r>
          </a:p>
        </p:txBody>
      </p:sp>
      <p:sp>
        <p:nvSpPr>
          <p:cNvPr id="4" name="Slide Number Placeholder 3"/>
          <p:cNvSpPr>
            <a:spLocks noGrp="1"/>
          </p:cNvSpPr>
          <p:nvPr>
            <p:ph type="sldNum" sz="quarter" idx="5"/>
          </p:nvPr>
        </p:nvSpPr>
        <p:spPr/>
        <p:txBody>
          <a:bodyPr/>
          <a:lstStyle/>
          <a:p>
            <a:fld id="{7CBE16C9-E44E-4755-862A-693F531BB02F}" type="slidenum">
              <a:rPr lang="en-US" smtClean="0"/>
              <a:t>11</a:t>
            </a:fld>
            <a:endParaRPr lang="en-US"/>
          </a:p>
        </p:txBody>
      </p:sp>
    </p:spTree>
    <p:extLst>
      <p:ext uri="{BB962C8B-B14F-4D97-AF65-F5344CB8AC3E}">
        <p14:creationId xmlns:p14="http://schemas.microsoft.com/office/powerpoint/2010/main" val="2836817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three main system requirements I want to go over are System functional 13, 17, and 18. These were originally all one requirement under System Functional 13. We made SFR 17 and 18 highest priority mainly for testing and to potentially show our client our system.</a:t>
            </a:r>
          </a:p>
        </p:txBody>
      </p:sp>
      <p:sp>
        <p:nvSpPr>
          <p:cNvPr id="4" name="Slide Number Placeholder 3"/>
          <p:cNvSpPr>
            <a:spLocks noGrp="1"/>
          </p:cNvSpPr>
          <p:nvPr>
            <p:ph type="sldNum" sz="quarter" idx="5"/>
          </p:nvPr>
        </p:nvSpPr>
        <p:spPr/>
        <p:txBody>
          <a:bodyPr/>
          <a:lstStyle/>
          <a:p>
            <a:fld id="{7CBE16C9-E44E-4755-862A-693F531BB02F}" type="slidenum">
              <a:rPr lang="en-US" smtClean="0"/>
              <a:t>12</a:t>
            </a:fld>
            <a:endParaRPr lang="en-US"/>
          </a:p>
        </p:txBody>
      </p:sp>
    </p:spTree>
    <p:extLst>
      <p:ext uri="{BB962C8B-B14F-4D97-AF65-F5344CB8AC3E}">
        <p14:creationId xmlns:p14="http://schemas.microsoft.com/office/powerpoint/2010/main" val="3753507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this section I will be talking about the </a:t>
            </a:r>
            <a:r>
              <a:rPr lang="en-US" err="1"/>
              <a:t>whats</a:t>
            </a:r>
            <a:r>
              <a:rPr lang="en-US"/>
              <a:t> and </a:t>
            </a:r>
            <a:r>
              <a:rPr lang="en-US" err="1"/>
              <a:t>hows</a:t>
            </a:r>
            <a:r>
              <a:rPr lang="en-US"/>
              <a:t> of our system. I’ll start by talking about the general WHAT our system is going to look like through our package diagram, this should give us a nice overview of some of the high-level details of our system. Following this, I will then go a little bit lower in level and talk more in detail of the structure through the class design. Then, I’ll swap over to our activity diagram, which will focus on the HOW our system will behave.</a:t>
            </a:r>
          </a:p>
        </p:txBody>
      </p:sp>
      <p:sp>
        <p:nvSpPr>
          <p:cNvPr id="4" name="Slide Number Placeholder 3"/>
          <p:cNvSpPr>
            <a:spLocks noGrp="1"/>
          </p:cNvSpPr>
          <p:nvPr>
            <p:ph type="sldNum" sz="quarter" idx="5"/>
          </p:nvPr>
        </p:nvSpPr>
        <p:spPr/>
        <p:txBody>
          <a:bodyPr/>
          <a:lstStyle/>
          <a:p>
            <a:fld id="{7CBE16C9-E44E-4755-862A-693F531BB02F}" type="slidenum">
              <a:rPr lang="en-US" smtClean="0"/>
              <a:t>13</a:t>
            </a:fld>
            <a:endParaRPr lang="en-US"/>
          </a:p>
        </p:txBody>
      </p:sp>
    </p:spTree>
    <p:extLst>
      <p:ext uri="{BB962C8B-B14F-4D97-AF65-F5344CB8AC3E}">
        <p14:creationId xmlns:p14="http://schemas.microsoft.com/office/powerpoint/2010/main" val="35621793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AE2329-9043-FB36-EC57-FAE989CD06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A7D160-9C79-E6FA-44FE-23CB7F6B93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575779-5295-A491-6E10-13C3E73BC68B}"/>
              </a:ext>
            </a:extLst>
          </p:cNvPr>
          <p:cNvSpPr>
            <a:spLocks noGrp="1"/>
          </p:cNvSpPr>
          <p:nvPr>
            <p:ph type="body" idx="1"/>
          </p:nvPr>
        </p:nvSpPr>
        <p:spPr/>
        <p:txBody>
          <a:bodyPr/>
          <a:lstStyle/>
          <a:p>
            <a:r>
              <a:rPr lang="en-US"/>
              <a:t>So, first, starting with our package diagram. You can see our entire system is in the AIBI CV package, in here we have 5 internal packages [list out] and we have the 2 external [list out]. </a:t>
            </a:r>
          </a:p>
          <a:p>
            <a:r>
              <a:rPr lang="en-US"/>
              <a:t>So, I’ll start by talking about the Camera package. In this package we have our </a:t>
            </a:r>
            <a:r>
              <a:rPr lang="en-US" err="1"/>
              <a:t>CameraController</a:t>
            </a:r>
            <a:r>
              <a:rPr lang="en-US"/>
              <a:t> which initializes our </a:t>
            </a:r>
            <a:r>
              <a:rPr lang="en-US" err="1"/>
              <a:t>CameraScanner</a:t>
            </a:r>
            <a:r>
              <a:rPr lang="en-US"/>
              <a:t> here. Our </a:t>
            </a:r>
            <a:r>
              <a:rPr lang="en-US" err="1"/>
              <a:t>CameraScanner</a:t>
            </a:r>
            <a:r>
              <a:rPr lang="en-US"/>
              <a:t> is the main orchestrator of our system. It will first open our camera with the </a:t>
            </a:r>
            <a:r>
              <a:rPr lang="en-US" err="1"/>
              <a:t>VideoCapture</a:t>
            </a:r>
            <a:r>
              <a:rPr lang="en-US"/>
              <a:t> Package from cv2, then it will start scanning for QR codes. The scanner will then use the </a:t>
            </a:r>
            <a:r>
              <a:rPr lang="en-US" err="1"/>
              <a:t>QRDecode</a:t>
            </a:r>
            <a:r>
              <a:rPr lang="en-US"/>
              <a:t> package to detect and decode any visible QR codes. We have 3 different strategies to detecting and decoding QR codes but </a:t>
            </a:r>
            <a:r>
              <a:rPr lang="en-US" b="1"/>
              <a:t>I</a:t>
            </a:r>
            <a:r>
              <a:rPr lang="en-US" b="0"/>
              <a:t> will talk about this soon. We then take the QR code data and parse it into a JSON format using the Parse package. Once parsed, we will then output that data via the </a:t>
            </a:r>
            <a:r>
              <a:rPr lang="en-US" b="0" err="1"/>
              <a:t>DataOutput</a:t>
            </a:r>
            <a:r>
              <a:rPr lang="en-US" b="0"/>
              <a:t> package. </a:t>
            </a:r>
          </a:p>
          <a:p>
            <a:r>
              <a:rPr lang="en-US" b="0"/>
              <a:t>The QR codes will be displayed through the </a:t>
            </a:r>
            <a:r>
              <a:rPr lang="en-US" b="0" err="1"/>
              <a:t>ResultDisplay</a:t>
            </a:r>
            <a:r>
              <a:rPr lang="en-US" b="0"/>
              <a:t> module, and while going through this whole process we will be capturing system information, like exceptions and scanned codes through our logging system.</a:t>
            </a:r>
          </a:p>
        </p:txBody>
      </p:sp>
      <p:sp>
        <p:nvSpPr>
          <p:cNvPr id="4" name="Slide Number Placeholder 3">
            <a:extLst>
              <a:ext uri="{FF2B5EF4-FFF2-40B4-BE49-F238E27FC236}">
                <a16:creationId xmlns:a16="http://schemas.microsoft.com/office/drawing/2014/main" id="{AF37F727-C1B1-E1B3-618D-9B7623222B65}"/>
              </a:ext>
            </a:extLst>
          </p:cNvPr>
          <p:cNvSpPr>
            <a:spLocks noGrp="1"/>
          </p:cNvSpPr>
          <p:nvPr>
            <p:ph type="sldNum" sz="quarter" idx="5"/>
          </p:nvPr>
        </p:nvSpPr>
        <p:spPr/>
        <p:txBody>
          <a:bodyPr/>
          <a:lstStyle/>
          <a:p>
            <a:fld id="{7CBE16C9-E44E-4755-862A-693F531BB02F}" type="slidenum">
              <a:rPr lang="en-US" smtClean="0"/>
              <a:t>14</a:t>
            </a:fld>
            <a:endParaRPr lang="en-US"/>
          </a:p>
        </p:txBody>
      </p:sp>
    </p:spTree>
    <p:extLst>
      <p:ext uri="{BB962C8B-B14F-4D97-AF65-F5344CB8AC3E}">
        <p14:creationId xmlns:p14="http://schemas.microsoft.com/office/powerpoint/2010/main" val="30926201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our </a:t>
            </a:r>
            <a:r>
              <a:rPr lang="en-US" b="1"/>
              <a:t>structural design</a:t>
            </a:r>
            <a:r>
              <a:rPr lang="en-US"/>
              <a:t>, we went with a class diagram. We designed the system to be as </a:t>
            </a:r>
            <a:r>
              <a:rPr lang="en-US" b="1"/>
              <a:t>modular</a:t>
            </a:r>
            <a:r>
              <a:rPr lang="en-US"/>
              <a:t> as we can make it so that </a:t>
            </a:r>
            <a:r>
              <a:rPr lang="en-US" b="1"/>
              <a:t>new features can be added quick and easy if needed</a:t>
            </a:r>
            <a:r>
              <a:rPr lang="en-US"/>
              <a:t>. We also wanted to go for something that would be </a:t>
            </a:r>
            <a:r>
              <a:rPr lang="en-US" b="1"/>
              <a:t>easy to debug and maintain</a:t>
            </a:r>
            <a:r>
              <a:rPr lang="en-US"/>
              <a:t>. We accomplished this by </a:t>
            </a:r>
            <a:r>
              <a:rPr lang="en-US" b="1"/>
              <a:t>dependency injection </a:t>
            </a:r>
            <a:r>
              <a:rPr lang="en-US"/>
              <a:t>through the main </a:t>
            </a:r>
            <a:r>
              <a:rPr lang="en-US" b="1"/>
              <a:t>Camera</a:t>
            </a:r>
            <a:r>
              <a:rPr lang="en-US"/>
              <a:t> class, in here all of our dependencies are set through its constructor. With </a:t>
            </a:r>
            <a:r>
              <a:rPr lang="en-US" b="1"/>
              <a:t>dependency injection </a:t>
            </a:r>
            <a:r>
              <a:rPr lang="en-US" b="0"/>
              <a:t>brings loose coupling which is exactly what we want for system. </a:t>
            </a:r>
            <a:r>
              <a:rPr lang="en-US" b="1"/>
              <a:t>Loose coupling </a:t>
            </a:r>
            <a:r>
              <a:rPr lang="en-US" b="0"/>
              <a:t>lets that </a:t>
            </a:r>
            <a:r>
              <a:rPr lang="en-US" b="1"/>
              <a:t>easy swap </a:t>
            </a:r>
            <a:r>
              <a:rPr lang="en-US" b="0"/>
              <a:t>of </a:t>
            </a:r>
            <a:r>
              <a:rPr lang="en-US" b="1"/>
              <a:t>features or components </a:t>
            </a:r>
            <a:r>
              <a:rPr lang="en-US" b="0"/>
              <a:t>we were talking about.</a:t>
            </a:r>
            <a:endParaRPr lang="en-US"/>
          </a:p>
          <a:p>
            <a:endParaRPr lang="en-US"/>
          </a:p>
          <a:p>
            <a:r>
              <a:rPr lang="en-US"/>
              <a:t>In our </a:t>
            </a:r>
            <a:r>
              <a:rPr lang="en-US" err="1"/>
              <a:t>DecodeQR</a:t>
            </a:r>
            <a:r>
              <a:rPr lang="en-US"/>
              <a:t> class we have the 3 alternatives we were talking about. When trying to decode a QR code, we start by trying to detect multiple </a:t>
            </a:r>
            <a:r>
              <a:rPr lang="en-US" err="1"/>
              <a:t>qr</a:t>
            </a:r>
            <a:r>
              <a:rPr lang="en-US"/>
              <a:t> codes with PYZBAR. If this fails we try to get multiple with OPENCV, then if this fails we try to only detect one with OPENCV. Using this fallback method, we decrease our odds of a failed scan.</a:t>
            </a:r>
          </a:p>
          <a:p>
            <a:endParaRPr lang="en-US"/>
          </a:p>
          <a:p>
            <a:r>
              <a:rPr lang="en-US"/>
              <a:t>Dan: Your role is to go into more detail about the structure of the system. I went over the high level structure, now you will talk more about the details of it. In the previous slide I set you up to talk about our different strategies/</a:t>
            </a:r>
            <a:r>
              <a:rPr lang="en-US" err="1"/>
              <a:t>fall-backs</a:t>
            </a:r>
            <a:r>
              <a:rPr lang="en-US"/>
              <a:t> for </a:t>
            </a:r>
            <a:r>
              <a:rPr lang="en-US" err="1"/>
              <a:t>qr</a:t>
            </a:r>
            <a:r>
              <a:rPr lang="en-US"/>
              <a:t> decoding, so do that. You can also talk about the dependency injection, and how this promotes loose coupling which is good in our system because different things can be swapped out easily.</a:t>
            </a:r>
          </a:p>
        </p:txBody>
      </p:sp>
      <p:sp>
        <p:nvSpPr>
          <p:cNvPr id="4" name="Slide Number Placeholder 3"/>
          <p:cNvSpPr>
            <a:spLocks noGrp="1"/>
          </p:cNvSpPr>
          <p:nvPr>
            <p:ph type="sldNum" sz="quarter" idx="5"/>
          </p:nvPr>
        </p:nvSpPr>
        <p:spPr/>
        <p:txBody>
          <a:bodyPr/>
          <a:lstStyle/>
          <a:p>
            <a:fld id="{7CBE16C9-E44E-4755-862A-693F531BB02F}" type="slidenum">
              <a:rPr lang="en-US" smtClean="0"/>
              <a:t>15</a:t>
            </a:fld>
            <a:endParaRPr lang="en-US"/>
          </a:p>
        </p:txBody>
      </p:sp>
    </p:spTree>
    <p:extLst>
      <p:ext uri="{BB962C8B-B14F-4D97-AF65-F5344CB8AC3E}">
        <p14:creationId xmlns:p14="http://schemas.microsoft.com/office/powerpoint/2010/main" val="42532301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292AB-71E3-E91B-D465-D8508258C6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3C79BC-1F90-B751-ABFF-EDFFCCCDB8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58ECB2-7D4D-BCDE-CE45-5848815ACF68}"/>
              </a:ext>
            </a:extLst>
          </p:cNvPr>
          <p:cNvSpPr>
            <a:spLocks noGrp="1"/>
          </p:cNvSpPr>
          <p:nvPr>
            <p:ph type="body" idx="1"/>
          </p:nvPr>
        </p:nvSpPr>
        <p:spPr/>
        <p:txBody>
          <a:bodyPr/>
          <a:lstStyle/>
          <a:p>
            <a:r>
              <a:rPr lang="en-US"/>
              <a:t>Now I will be talking about the HOW of our system. Here we have our activity diagram, this basically defines the behavior of our system. </a:t>
            </a:r>
          </a:p>
          <a:p>
            <a:r>
              <a:rPr lang="en-US"/>
              <a:t>I’ll start by talking about some of the main portions of this diagram, then I’ll go into more detail.</a:t>
            </a:r>
          </a:p>
          <a:p>
            <a:r>
              <a:rPr lang="en-US"/>
              <a:t>So, at the start we initialize required variables, and then you can see here, we hit our first decision node. This node is the main processing loop in our system, basically in this loop we go through each frame and check for detected QR codes. So, from here, and all of this, to here we are processing the QR codes. </a:t>
            </a:r>
          </a:p>
          <a:p>
            <a:r>
              <a:rPr lang="en-US"/>
              <a:t>At this decision node, we are checking to see if any </a:t>
            </a:r>
            <a:r>
              <a:rPr lang="en-US" err="1"/>
              <a:t>qr</a:t>
            </a:r>
            <a:r>
              <a:rPr lang="en-US"/>
              <a:t> codes were found, if there were, then we will process them, if not we scan again. </a:t>
            </a:r>
          </a:p>
          <a:p>
            <a:r>
              <a:rPr lang="en-US"/>
              <a:t>So now we have the basics down, lets go into detail. </a:t>
            </a:r>
          </a:p>
          <a:p>
            <a:r>
              <a:rPr lang="en-US"/>
              <a:t>At the start we are loading all of our configurations, with the required fields, the fields are the expected QR codes for the station. Then we open the camera. Now we start the loop, so we capture the current frame and decode any </a:t>
            </a:r>
            <a:r>
              <a:rPr lang="en-US" err="1"/>
              <a:t>qr</a:t>
            </a:r>
            <a:r>
              <a:rPr lang="en-US"/>
              <a:t> codes detected. If none were found then we scan again, but if there were, we draw a box around it and parse it. </a:t>
            </a:r>
          </a:p>
          <a:p>
            <a:r>
              <a:rPr lang="en-US"/>
              <a:t>Then we check if it is one of the codes required for the station, we also check if it’s a new code and not just a duplicate. If these cases pass then we will add it to our list. </a:t>
            </a:r>
          </a:p>
          <a:p>
            <a:r>
              <a:rPr lang="en-US"/>
              <a:t>We will then check if all of the required codes the station have been scanned, if yes, we will output that data to Excel and store it in a JSON file. All the scanned codes will then be cleared, and the process will start over.</a:t>
            </a:r>
          </a:p>
          <a:p>
            <a:r>
              <a:rPr lang="en-US"/>
              <a:t>And the only way for the loop to break, is if the user quits the process. </a:t>
            </a:r>
          </a:p>
          <a:p>
            <a:r>
              <a:rPr lang="en-US"/>
              <a:t>Now that we know a little more of our system, lets talk about the challenges faced.</a:t>
            </a:r>
          </a:p>
        </p:txBody>
      </p:sp>
      <p:sp>
        <p:nvSpPr>
          <p:cNvPr id="4" name="Slide Number Placeholder 3">
            <a:extLst>
              <a:ext uri="{FF2B5EF4-FFF2-40B4-BE49-F238E27FC236}">
                <a16:creationId xmlns:a16="http://schemas.microsoft.com/office/drawing/2014/main" id="{37302CD5-EE88-8417-2D43-D45A78769FFC}"/>
              </a:ext>
            </a:extLst>
          </p:cNvPr>
          <p:cNvSpPr>
            <a:spLocks noGrp="1"/>
          </p:cNvSpPr>
          <p:nvPr>
            <p:ph type="sldNum" sz="quarter" idx="5"/>
          </p:nvPr>
        </p:nvSpPr>
        <p:spPr/>
        <p:txBody>
          <a:bodyPr/>
          <a:lstStyle/>
          <a:p>
            <a:fld id="{7CBE16C9-E44E-4755-862A-693F531BB02F}" type="slidenum">
              <a:rPr lang="en-US" smtClean="0"/>
              <a:t>16</a:t>
            </a:fld>
            <a:endParaRPr lang="en-US"/>
          </a:p>
        </p:txBody>
      </p:sp>
    </p:spTree>
    <p:extLst>
      <p:ext uri="{BB962C8B-B14F-4D97-AF65-F5344CB8AC3E}">
        <p14:creationId xmlns:p14="http://schemas.microsoft.com/office/powerpoint/2010/main" val="10442927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1A185B-8059-55B0-F834-4F497D4E83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A5C360-B4A7-B6E2-AD68-EFEAF916F9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CCB244-2F70-CEEC-9F5E-F6103BC932C2}"/>
              </a:ext>
            </a:extLst>
          </p:cNvPr>
          <p:cNvSpPr>
            <a:spLocks noGrp="1"/>
          </p:cNvSpPr>
          <p:nvPr>
            <p:ph type="body" idx="1"/>
          </p:nvPr>
        </p:nvSpPr>
        <p:spPr/>
        <p:txBody>
          <a:bodyPr/>
          <a:lstStyle/>
          <a:p>
            <a:r>
              <a:rPr lang="en-US"/>
              <a:t>For our behavioral diagram, we decided to do an Activity diagram because it best designs our system. Being a flowchart like diagram, the activity diagram is very easy to understand, which helps get our point across.</a:t>
            </a:r>
          </a:p>
          <a:p>
            <a:r>
              <a:rPr lang="en-US"/>
              <a:t>We could’ve done a sequence diagram, but our system does not really have the complexity required for it.</a:t>
            </a:r>
          </a:p>
          <a:p>
            <a:r>
              <a:rPr lang="en-US"/>
              <a:t>However, we didn’t do a State Diagram because our system does not have well defined states.</a:t>
            </a:r>
          </a:p>
        </p:txBody>
      </p:sp>
      <p:sp>
        <p:nvSpPr>
          <p:cNvPr id="4" name="Slide Number Placeholder 3">
            <a:extLst>
              <a:ext uri="{FF2B5EF4-FFF2-40B4-BE49-F238E27FC236}">
                <a16:creationId xmlns:a16="http://schemas.microsoft.com/office/drawing/2014/main" id="{31FAF4DB-6CB5-0BE7-F52C-D82C7FF42009}"/>
              </a:ext>
            </a:extLst>
          </p:cNvPr>
          <p:cNvSpPr>
            <a:spLocks noGrp="1"/>
          </p:cNvSpPr>
          <p:nvPr>
            <p:ph type="sldNum" sz="quarter" idx="5"/>
          </p:nvPr>
        </p:nvSpPr>
        <p:spPr/>
        <p:txBody>
          <a:bodyPr/>
          <a:lstStyle/>
          <a:p>
            <a:fld id="{7CBE16C9-E44E-4755-862A-693F531BB02F}" type="slidenum">
              <a:rPr lang="en-US" smtClean="0"/>
              <a:t>17</a:t>
            </a:fld>
            <a:endParaRPr lang="en-US"/>
          </a:p>
        </p:txBody>
      </p:sp>
    </p:spTree>
    <p:extLst>
      <p:ext uri="{BB962C8B-B14F-4D97-AF65-F5344CB8AC3E}">
        <p14:creationId xmlns:p14="http://schemas.microsoft.com/office/powerpoint/2010/main" val="39210536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287A68-CC7B-9CD3-41E2-6762D4F9C5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A13E88-97B8-A6B9-D3FA-DCC5E02A59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9DBD02-A5B3-93E9-06D7-E5CEA6079A5F}"/>
              </a:ext>
            </a:extLst>
          </p:cNvPr>
          <p:cNvSpPr>
            <a:spLocks noGrp="1"/>
          </p:cNvSpPr>
          <p:nvPr>
            <p:ph type="body" idx="1"/>
          </p:nvPr>
        </p:nvSpPr>
        <p:spPr/>
        <p:txBody>
          <a:bodyPr/>
          <a:lstStyle/>
          <a:p>
            <a:r>
              <a:rPr lang="en-US"/>
              <a:t>In this section Collin and I are going to be talking about the </a:t>
            </a:r>
            <a:r>
              <a:rPr lang="en-US" err="1"/>
              <a:t>whats</a:t>
            </a:r>
            <a:r>
              <a:rPr lang="en-US"/>
              <a:t> and </a:t>
            </a:r>
            <a:r>
              <a:rPr lang="en-US" err="1"/>
              <a:t>hows</a:t>
            </a:r>
            <a:r>
              <a:rPr lang="en-US"/>
              <a:t> of our system. I’ll start by talking about the general WHAT our system is going to look through our package diagram, this should give us a nice overview of some of the high-level details of our system. Collin will then go a little bit lower in level and talk more in detail of the structure through his class design. Then, I’ll swap over to our activity diagram, which will focus on the HOW our system will behave.</a:t>
            </a:r>
          </a:p>
        </p:txBody>
      </p:sp>
      <p:sp>
        <p:nvSpPr>
          <p:cNvPr id="4" name="Slide Number Placeholder 3">
            <a:extLst>
              <a:ext uri="{FF2B5EF4-FFF2-40B4-BE49-F238E27FC236}">
                <a16:creationId xmlns:a16="http://schemas.microsoft.com/office/drawing/2014/main" id="{D361BA54-1585-2E85-A836-32A533524802}"/>
              </a:ext>
            </a:extLst>
          </p:cNvPr>
          <p:cNvSpPr>
            <a:spLocks noGrp="1"/>
          </p:cNvSpPr>
          <p:nvPr>
            <p:ph type="sldNum" sz="quarter" idx="5"/>
          </p:nvPr>
        </p:nvSpPr>
        <p:spPr/>
        <p:txBody>
          <a:bodyPr/>
          <a:lstStyle/>
          <a:p>
            <a:fld id="{7CBE16C9-E44E-4755-862A-693F531BB02F}" type="slidenum">
              <a:rPr lang="en-US" smtClean="0"/>
              <a:t>18</a:t>
            </a:fld>
            <a:endParaRPr lang="en-US"/>
          </a:p>
        </p:txBody>
      </p:sp>
    </p:spTree>
    <p:extLst>
      <p:ext uri="{BB962C8B-B14F-4D97-AF65-F5344CB8AC3E}">
        <p14:creationId xmlns:p14="http://schemas.microsoft.com/office/powerpoint/2010/main" val="34068939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gives us an overview of the testing structure our project. We've organized the tests into </a:t>
            </a:r>
            <a:r>
              <a:rPr lang="en-US" b="1"/>
              <a:t>five main Test Suites</a:t>
            </a:r>
            <a:r>
              <a:rPr lang="en-US"/>
              <a:t> to ensure comprehensive coverage.“</a:t>
            </a:r>
          </a:p>
          <a:p>
            <a:endParaRPr lang="en-US"/>
          </a:p>
          <a:p>
            <a:r>
              <a:rPr lang="en-US"/>
              <a:t>break</a:t>
            </a:r>
          </a:p>
          <a:p>
            <a:endParaRPr lang="en-US"/>
          </a:p>
          <a:p>
            <a:r>
              <a:rPr lang="en-US"/>
              <a:t>"The first three are </a:t>
            </a:r>
            <a:r>
              <a:rPr lang="en-US" b="1"/>
              <a:t>System/Manual Functional</a:t>
            </a:r>
            <a:r>
              <a:rPr lang="en-US"/>
              <a:t>, </a:t>
            </a:r>
            <a:r>
              <a:rPr lang="en-US" b="1"/>
              <a:t>Usability and Operator Workflow</a:t>
            </a:r>
            <a:r>
              <a:rPr lang="en-US"/>
              <a:t>, and </a:t>
            </a:r>
            <a:r>
              <a:rPr lang="en-US" b="1"/>
              <a:t>System-Level Non-Functional</a:t>
            </a:r>
            <a:r>
              <a:rPr lang="en-US"/>
              <a:t>. These focus on testing the core features and how the user interacts with the system, as well as high-level performance and requirements.“</a:t>
            </a:r>
          </a:p>
          <a:p>
            <a:endParaRPr lang="en-US"/>
          </a:p>
          <a:p>
            <a:r>
              <a:rPr lang="en-US"/>
              <a:t>break</a:t>
            </a:r>
          </a:p>
          <a:p>
            <a:endParaRPr lang="en-US"/>
          </a:p>
          <a:p>
            <a:r>
              <a:rPr lang="en-US"/>
              <a:t>"The next two, </a:t>
            </a:r>
            <a:r>
              <a:rPr lang="en-US" b="1"/>
              <a:t>Automated Functional</a:t>
            </a:r>
            <a:r>
              <a:rPr lang="en-US"/>
              <a:t> and </a:t>
            </a:r>
            <a:r>
              <a:rPr lang="en-US" b="1"/>
              <a:t>Automated Non-Functional</a:t>
            </a:r>
            <a:r>
              <a:rPr lang="en-US"/>
              <a:t>, are designed to be run without human intervention, covering both feature correctness and areas like performance or security.“</a:t>
            </a:r>
          </a:p>
          <a:p>
            <a:endParaRPr lang="en-US"/>
          </a:p>
          <a:p>
            <a:r>
              <a:rPr lang="en-US"/>
              <a:t>break</a:t>
            </a:r>
          </a:p>
          <a:p>
            <a:endParaRPr lang="en-US"/>
          </a:p>
          <a:p>
            <a:r>
              <a:rPr lang="en-US"/>
              <a:t>"Overall, these suites utilize </a:t>
            </a:r>
            <a:r>
              <a:rPr lang="en-US" b="1"/>
              <a:t>two main types of test</a:t>
            </a:r>
            <a:r>
              <a:rPr lang="en-US"/>
              <a:t> execution: </a:t>
            </a:r>
            <a:r>
              <a:rPr lang="en-US" b="1"/>
              <a:t>Manual</a:t>
            </a:r>
            <a:r>
              <a:rPr lang="en-US"/>
              <a:t> tests, which an operator performs directly, and </a:t>
            </a:r>
            <a:r>
              <a:rPr lang="en-US" b="1"/>
              <a:t>Automated</a:t>
            </a:r>
            <a:r>
              <a:rPr lang="en-US"/>
              <a:t> tests, which are scripted."</a:t>
            </a:r>
          </a:p>
          <a:p>
            <a:endParaRPr lang="en-US"/>
          </a:p>
        </p:txBody>
      </p:sp>
      <p:sp>
        <p:nvSpPr>
          <p:cNvPr id="4" name="Slide Number Placeholder 3"/>
          <p:cNvSpPr>
            <a:spLocks noGrp="1"/>
          </p:cNvSpPr>
          <p:nvPr>
            <p:ph type="sldNum" sz="quarter" idx="5"/>
          </p:nvPr>
        </p:nvSpPr>
        <p:spPr/>
        <p:txBody>
          <a:bodyPr/>
          <a:lstStyle/>
          <a:p>
            <a:fld id="{7CBE16C9-E44E-4755-862A-693F531BB02F}" type="slidenum">
              <a:rPr lang="en-US" smtClean="0"/>
              <a:t>19</a:t>
            </a:fld>
            <a:endParaRPr lang="en-US"/>
          </a:p>
        </p:txBody>
      </p:sp>
    </p:spTree>
    <p:extLst>
      <p:ext uri="{BB962C8B-B14F-4D97-AF65-F5344CB8AC3E}">
        <p14:creationId xmlns:p14="http://schemas.microsoft.com/office/powerpoint/2010/main" val="34108244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our initial manual test, </a:t>
            </a:r>
            <a:r>
              <a:rPr lang="en-US" b="1"/>
              <a:t>TC-SFR1-MAN-01</a:t>
            </a:r>
            <a:r>
              <a:rPr lang="en-US"/>
              <a:t>, focusing on the most basic functional requirement: </a:t>
            </a:r>
            <a:r>
              <a:rPr lang="en-US" b="1"/>
              <a:t>Live Camera Detection</a:t>
            </a:r>
            <a:r>
              <a:rPr lang="en-US"/>
              <a:t>.“</a:t>
            </a:r>
          </a:p>
          <a:p>
            <a:endParaRPr lang="en-US"/>
          </a:p>
          <a:p>
            <a:r>
              <a:rPr lang="en-US"/>
              <a:t>-</a:t>
            </a:r>
          </a:p>
          <a:p>
            <a:endParaRPr lang="en-US"/>
          </a:p>
          <a:p>
            <a:r>
              <a:rPr lang="en-US"/>
              <a:t>"</a:t>
            </a:r>
            <a:r>
              <a:rPr lang="en-US" b="1"/>
              <a:t>What it tests:</a:t>
            </a:r>
            <a:r>
              <a:rPr lang="en-US"/>
              <a:t> Does the live camera view detect all visible QR codes? This validates the core computer vision capability.“</a:t>
            </a:r>
          </a:p>
          <a:p>
            <a:endParaRPr lang="en-US"/>
          </a:p>
          <a:p>
            <a:r>
              <a:rPr lang="en-US"/>
              <a:t>-</a:t>
            </a:r>
          </a:p>
          <a:p>
            <a:endParaRPr lang="en-US"/>
          </a:p>
          <a:p>
            <a:r>
              <a:rPr lang="en-US"/>
              <a:t>"</a:t>
            </a:r>
            <a:r>
              <a:rPr lang="en-US" b="1"/>
              <a:t>Test Data Input:</a:t>
            </a:r>
            <a:r>
              <a:rPr lang="en-US"/>
              <a:t> We use physical, </a:t>
            </a:r>
            <a:r>
              <a:rPr lang="en-US" b="1"/>
              <a:t>printed QR codes</a:t>
            </a:r>
            <a:r>
              <a:rPr lang="en-US"/>
              <a:t> placed within the camera's field of view.“</a:t>
            </a:r>
          </a:p>
          <a:p>
            <a:endParaRPr lang="en-US"/>
          </a:p>
          <a:p>
            <a:r>
              <a:rPr lang="en-US"/>
              <a:t>-</a:t>
            </a:r>
          </a:p>
          <a:p>
            <a:endParaRPr lang="en-US"/>
          </a:p>
          <a:p>
            <a:r>
              <a:rPr lang="en-US"/>
              <a:t>"</a:t>
            </a:r>
            <a:r>
              <a:rPr lang="en-US" b="1"/>
              <a:t>Expected Result:</a:t>
            </a:r>
            <a:r>
              <a:rPr lang="en-US"/>
              <a:t> The system's output or user interface must show </a:t>
            </a:r>
            <a:r>
              <a:rPr lang="en-US" b="1"/>
              <a:t>all visible codes</a:t>
            </a:r>
            <a:r>
              <a:rPr lang="en-US"/>
              <a:t>.“</a:t>
            </a:r>
          </a:p>
          <a:p>
            <a:endParaRPr lang="en-US"/>
          </a:p>
          <a:p>
            <a:r>
              <a:rPr lang="en-US"/>
              <a:t>-</a:t>
            </a:r>
          </a:p>
          <a:p>
            <a:endParaRPr lang="en-US"/>
          </a:p>
          <a:p>
            <a:r>
              <a:rPr lang="en-US"/>
              <a:t>"</a:t>
            </a:r>
            <a:r>
              <a:rPr lang="en-US" b="1"/>
              <a:t>Traceability:</a:t>
            </a:r>
            <a:r>
              <a:rPr lang="en-US"/>
              <a:t> This case ties back to a foundational user requirement, </a:t>
            </a:r>
            <a:r>
              <a:rPr lang="en-US" b="1"/>
              <a:t>UFR1</a:t>
            </a:r>
            <a:r>
              <a:rPr lang="en-US"/>
              <a:t>, and multiple system functional requirements, </a:t>
            </a:r>
            <a:r>
              <a:rPr lang="en-US" b="1"/>
              <a:t>SFR1, SFR15, and SFR16</a:t>
            </a:r>
            <a:r>
              <a:rPr lang="en-US"/>
              <a:t>, all related to the visibility and detection of codes."</a:t>
            </a:r>
          </a:p>
          <a:p>
            <a:endParaRPr lang="en-US"/>
          </a:p>
        </p:txBody>
      </p:sp>
      <p:sp>
        <p:nvSpPr>
          <p:cNvPr id="4" name="Slide Number Placeholder 3"/>
          <p:cNvSpPr>
            <a:spLocks noGrp="1"/>
          </p:cNvSpPr>
          <p:nvPr>
            <p:ph type="sldNum" sz="quarter" idx="5"/>
          </p:nvPr>
        </p:nvSpPr>
        <p:spPr/>
        <p:txBody>
          <a:bodyPr/>
          <a:lstStyle/>
          <a:p>
            <a:fld id="{7CBE16C9-E44E-4755-862A-693F531BB02F}" type="slidenum">
              <a:rPr lang="en-US" smtClean="0"/>
              <a:t>20</a:t>
            </a:fld>
            <a:endParaRPr lang="en-US"/>
          </a:p>
        </p:txBody>
      </p:sp>
    </p:spTree>
    <p:extLst>
      <p:ext uri="{BB962C8B-B14F-4D97-AF65-F5344CB8AC3E}">
        <p14:creationId xmlns:p14="http://schemas.microsoft.com/office/powerpoint/2010/main" val="26805001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"Moving to data output, </a:t>
            </a:r>
            <a:r>
              <a:rPr lang="en-US" b="1"/>
              <a:t>TC-SFR4-MAN-01</a:t>
            </a:r>
            <a:r>
              <a:rPr lang="en-US"/>
              <a:t> verifies the system's ability to format data correctly.“</a:t>
            </a:r>
          </a:p>
          <a:p>
            <a:endParaRPr lang="en-US"/>
          </a:p>
          <a:p>
            <a:r>
              <a:rPr lang="en-US"/>
              <a:t>-</a:t>
            </a:r>
          </a:p>
          <a:p>
            <a:endParaRPr lang="en-US"/>
          </a:p>
          <a:p>
            <a:r>
              <a:rPr lang="en-US"/>
              <a:t>"</a:t>
            </a:r>
            <a:r>
              <a:rPr lang="en-US" b="1"/>
              <a:t>What it tests:</a:t>
            </a:r>
            <a:r>
              <a:rPr lang="en-US"/>
              <a:t> Does a real scanning event produce a </a:t>
            </a:r>
            <a:r>
              <a:rPr lang="en-US" b="1"/>
              <a:t>correct JSON record</a:t>
            </a:r>
            <a:r>
              <a:rPr lang="en-US"/>
              <a:t>? This is critical for downstream systems.“</a:t>
            </a:r>
          </a:p>
          <a:p>
            <a:endParaRPr lang="en-US"/>
          </a:p>
          <a:p>
            <a:r>
              <a:rPr lang="en-US"/>
              <a:t>-</a:t>
            </a:r>
          </a:p>
          <a:p>
            <a:endParaRPr lang="en-US"/>
          </a:p>
          <a:p>
            <a:r>
              <a:rPr lang="en-US"/>
              <a:t>"</a:t>
            </a:r>
            <a:r>
              <a:rPr lang="en-US" b="1"/>
              <a:t>Test Data Input:</a:t>
            </a:r>
            <a:r>
              <a:rPr lang="en-US"/>
              <a:t> A </a:t>
            </a:r>
            <a:r>
              <a:rPr lang="en-US" b="1"/>
              <a:t>live scan event</a:t>
            </a:r>
            <a:r>
              <a:rPr lang="en-US"/>
              <a:t> using known, verifiable QR codes.“</a:t>
            </a:r>
          </a:p>
          <a:p>
            <a:endParaRPr lang="en-US"/>
          </a:p>
          <a:p>
            <a:r>
              <a:rPr lang="en-US"/>
              <a:t>-</a:t>
            </a:r>
          </a:p>
          <a:p>
            <a:endParaRPr lang="en-US"/>
          </a:p>
          <a:p>
            <a:r>
              <a:rPr lang="en-US"/>
              <a:t>"</a:t>
            </a:r>
            <a:r>
              <a:rPr lang="en-US" b="1"/>
              <a:t>Expected Result:</a:t>
            </a:r>
            <a:r>
              <a:rPr lang="en-US"/>
              <a:t> A </a:t>
            </a:r>
            <a:r>
              <a:rPr lang="en-US" b="1"/>
              <a:t>single JSON record</a:t>
            </a:r>
            <a:r>
              <a:rPr lang="en-US"/>
              <a:t> must be created that contains all necessary data and metadata associated with the scan event.“</a:t>
            </a:r>
          </a:p>
          <a:p>
            <a:endParaRPr lang="en-US"/>
          </a:p>
          <a:p>
            <a:r>
              <a:rPr lang="en-US"/>
              <a:t>-</a:t>
            </a:r>
          </a:p>
          <a:p>
            <a:endParaRPr lang="en-US"/>
          </a:p>
          <a:p>
            <a:r>
              <a:rPr lang="en-US"/>
              <a:t>"</a:t>
            </a:r>
            <a:r>
              <a:rPr lang="en-US" b="1"/>
              <a:t>Traceability:</a:t>
            </a:r>
            <a:r>
              <a:rPr lang="en-US"/>
              <a:t> This supports </a:t>
            </a:r>
            <a:r>
              <a:rPr lang="en-US" b="1"/>
              <a:t>UFR1 and UFR4</a:t>
            </a:r>
            <a:r>
              <a:rPr lang="en-US"/>
              <a:t>, confirming the correct data is output, and system requirements </a:t>
            </a:r>
            <a:r>
              <a:rPr lang="en-US" b="1"/>
              <a:t>SFR4 and SFR11</a:t>
            </a:r>
            <a:r>
              <a:rPr lang="en-US"/>
              <a:t> regarding data structure and output format."</a:t>
            </a:r>
          </a:p>
          <a:p>
            <a:endParaRPr lang="en-US"/>
          </a:p>
        </p:txBody>
      </p:sp>
      <p:sp>
        <p:nvSpPr>
          <p:cNvPr id="4" name="Slide Number Placeholder 3"/>
          <p:cNvSpPr>
            <a:spLocks noGrp="1"/>
          </p:cNvSpPr>
          <p:nvPr>
            <p:ph type="sldNum" sz="quarter" idx="5"/>
          </p:nvPr>
        </p:nvSpPr>
        <p:spPr/>
        <p:txBody>
          <a:bodyPr/>
          <a:lstStyle/>
          <a:p>
            <a:fld id="{7CBE16C9-E44E-4755-862A-693F531BB02F}" type="slidenum">
              <a:rPr lang="en-US" smtClean="0"/>
              <a:t>21</a:t>
            </a:fld>
            <a:endParaRPr lang="en-US"/>
          </a:p>
        </p:txBody>
      </p:sp>
    </p:spTree>
    <p:extLst>
      <p:ext uri="{BB962C8B-B14F-4D97-AF65-F5344CB8AC3E}">
        <p14:creationId xmlns:p14="http://schemas.microsoft.com/office/powerpoint/2010/main" val="182556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t>
            </a:r>
            <a:r>
              <a:rPr lang="en-US" b="1"/>
              <a:t>TC-SFR5-MAN-01</a:t>
            </a:r>
            <a:r>
              <a:rPr lang="en-US"/>
              <a:t> addresses a common integration method: </a:t>
            </a:r>
            <a:r>
              <a:rPr lang="en-US" b="1"/>
              <a:t>Keyboard Emulation</a:t>
            </a:r>
            <a:r>
              <a:rPr lang="en-US"/>
              <a:t>.“</a:t>
            </a:r>
          </a:p>
          <a:p>
            <a:endParaRPr lang="en-US"/>
          </a:p>
          <a:p>
            <a:r>
              <a:rPr lang="en-US"/>
              <a:t>"</a:t>
            </a:r>
            <a:r>
              <a:rPr lang="en-US" b="1"/>
              <a:t>What it tests:</a:t>
            </a:r>
            <a:r>
              <a:rPr lang="en-US"/>
              <a:t> Does the system's keyboard-emulation feature output the </a:t>
            </a:r>
            <a:r>
              <a:rPr lang="en-US" b="1"/>
              <a:t>correct decoded text</a:t>
            </a:r>
            <a:r>
              <a:rPr lang="en-US"/>
              <a:t> to a target application, simulating a traditional scanner?“</a:t>
            </a:r>
          </a:p>
          <a:p>
            <a:endParaRPr lang="en-US"/>
          </a:p>
          <a:p>
            <a:r>
              <a:rPr lang="en-US"/>
              <a:t>"</a:t>
            </a:r>
            <a:r>
              <a:rPr lang="en-US" b="1"/>
              <a:t>Test Data Input:</a:t>
            </a:r>
            <a:r>
              <a:rPr lang="en-US"/>
              <a:t> A </a:t>
            </a:r>
            <a:r>
              <a:rPr lang="en-US" b="1"/>
              <a:t>live scan</a:t>
            </a:r>
            <a:r>
              <a:rPr lang="en-US"/>
              <a:t> while a simple text field, like a Notepad field, is in focus.“</a:t>
            </a:r>
          </a:p>
          <a:p>
            <a:endParaRPr lang="en-US"/>
          </a:p>
          <a:p>
            <a:r>
              <a:rPr lang="en-US"/>
              <a:t>"</a:t>
            </a:r>
            <a:r>
              <a:rPr lang="en-US" b="1"/>
              <a:t>Expected Result:</a:t>
            </a:r>
            <a:r>
              <a:rPr lang="en-US"/>
              <a:t> </a:t>
            </a:r>
            <a:r>
              <a:rPr lang="en-US" b="1"/>
              <a:t>Exactly correct keystroke output</a:t>
            </a:r>
            <a:r>
              <a:rPr lang="en-US"/>
              <a:t> must appear, confirming the emulation is accurate and reliable.“</a:t>
            </a:r>
          </a:p>
          <a:p>
            <a:endParaRPr lang="en-US"/>
          </a:p>
          <a:p>
            <a:r>
              <a:rPr lang="en-US"/>
              <a:t>"</a:t>
            </a:r>
            <a:r>
              <a:rPr lang="en-US" b="1"/>
              <a:t>Traceability:</a:t>
            </a:r>
            <a:r>
              <a:rPr lang="en-US"/>
              <a:t> This is traced to user requirement </a:t>
            </a:r>
            <a:r>
              <a:rPr lang="en-US" b="1"/>
              <a:t>UFR9</a:t>
            </a:r>
            <a:r>
              <a:rPr lang="en-US"/>
              <a:t> (the need for easy data entry) and system requirements </a:t>
            </a:r>
            <a:r>
              <a:rPr lang="en-US" b="1"/>
              <a:t>SFR5 and SFR18</a:t>
            </a:r>
            <a:r>
              <a:rPr lang="en-US"/>
              <a:t>, verifying the correct output mechanism."</a:t>
            </a:r>
          </a:p>
          <a:p>
            <a:endParaRPr lang="en-US"/>
          </a:p>
        </p:txBody>
      </p:sp>
      <p:sp>
        <p:nvSpPr>
          <p:cNvPr id="4" name="Slide Number Placeholder 3"/>
          <p:cNvSpPr>
            <a:spLocks noGrp="1"/>
          </p:cNvSpPr>
          <p:nvPr>
            <p:ph type="sldNum" sz="quarter" idx="5"/>
          </p:nvPr>
        </p:nvSpPr>
        <p:spPr/>
        <p:txBody>
          <a:bodyPr/>
          <a:lstStyle/>
          <a:p>
            <a:fld id="{7CBE16C9-E44E-4755-862A-693F531BB02F}" type="slidenum">
              <a:rPr lang="en-US" smtClean="0"/>
              <a:t>22</a:t>
            </a:fld>
            <a:endParaRPr lang="en-US"/>
          </a:p>
        </p:txBody>
      </p:sp>
    </p:spTree>
    <p:extLst>
      <p:ext uri="{BB962C8B-B14F-4D97-AF65-F5344CB8AC3E}">
        <p14:creationId xmlns:p14="http://schemas.microsoft.com/office/powerpoint/2010/main" val="31845927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 with </a:t>
            </a:r>
            <a:r>
              <a:rPr lang="en-US" b="1"/>
              <a:t>TC-SFR15-MAN-01</a:t>
            </a:r>
            <a:r>
              <a:rPr lang="en-US"/>
              <a:t>, we test the system's robustness in real-world conditions.“</a:t>
            </a:r>
          </a:p>
          <a:p>
            <a:endParaRPr lang="en-US"/>
          </a:p>
          <a:p>
            <a:r>
              <a:rPr lang="en-US"/>
              <a:t>break</a:t>
            </a:r>
          </a:p>
          <a:p>
            <a:endParaRPr lang="en-US"/>
          </a:p>
          <a:p>
            <a:r>
              <a:rPr lang="en-US"/>
              <a:t>"</a:t>
            </a:r>
            <a:r>
              <a:rPr lang="en-US" b="1"/>
              <a:t>What it tests:</a:t>
            </a:r>
            <a:r>
              <a:rPr lang="en-US"/>
              <a:t> The ability to perform </a:t>
            </a:r>
            <a:r>
              <a:rPr lang="en-US" b="1"/>
              <a:t>live multi-code decoding</a:t>
            </a:r>
            <a:r>
              <a:rPr lang="en-US"/>
              <a:t> under </a:t>
            </a:r>
            <a:r>
              <a:rPr lang="en-US" b="1"/>
              <a:t>typical manufacturing floor lighting</a:t>
            </a:r>
            <a:r>
              <a:rPr lang="en-US"/>
              <a:t>. Lighting conditions are a major variable for CV systems.“</a:t>
            </a:r>
          </a:p>
          <a:p>
            <a:endParaRPr lang="en-US"/>
          </a:p>
          <a:p>
            <a:r>
              <a:rPr lang="en-US"/>
              <a:t>break</a:t>
            </a:r>
          </a:p>
          <a:p>
            <a:endParaRPr lang="en-US"/>
          </a:p>
          <a:p>
            <a:r>
              <a:rPr lang="en-US"/>
              <a:t>"</a:t>
            </a:r>
            <a:r>
              <a:rPr lang="en-US" b="1"/>
              <a:t>Test Data Input:</a:t>
            </a:r>
            <a:r>
              <a:rPr lang="en-US"/>
              <a:t> A </a:t>
            </a:r>
            <a:r>
              <a:rPr lang="en-US" b="1"/>
              <a:t>printed QR sheet</a:t>
            </a:r>
            <a:r>
              <a:rPr lang="en-US"/>
              <a:t> containing multiple codes with known values.“</a:t>
            </a:r>
          </a:p>
          <a:p>
            <a:endParaRPr lang="en-US"/>
          </a:p>
          <a:p>
            <a:r>
              <a:rPr lang="en-US"/>
              <a:t>break</a:t>
            </a:r>
          </a:p>
          <a:p>
            <a:endParaRPr lang="en-US"/>
          </a:p>
          <a:p>
            <a:r>
              <a:rPr lang="en-US"/>
              <a:t>"</a:t>
            </a:r>
            <a:r>
              <a:rPr lang="en-US" b="1"/>
              <a:t>Expected Result:</a:t>
            </a:r>
            <a:r>
              <a:rPr lang="en-US"/>
              <a:t> </a:t>
            </a:r>
            <a:r>
              <a:rPr lang="en-US" b="1"/>
              <a:t>All codes must decode correctly</a:t>
            </a:r>
            <a:r>
              <a:rPr lang="en-US"/>
              <a:t>, validating the system's image processing and decoding algorithms under stress.“</a:t>
            </a:r>
          </a:p>
          <a:p>
            <a:endParaRPr lang="en-US"/>
          </a:p>
          <a:p>
            <a:r>
              <a:rPr lang="en-US"/>
              <a:t>break</a:t>
            </a:r>
          </a:p>
          <a:p>
            <a:endParaRPr lang="en-US"/>
          </a:p>
          <a:p>
            <a:r>
              <a:rPr lang="en-US"/>
              <a:t>"</a:t>
            </a:r>
            <a:r>
              <a:rPr lang="en-US" b="1"/>
              <a:t>Traceability:</a:t>
            </a:r>
            <a:r>
              <a:rPr lang="en-US"/>
              <a:t> This is a key validation for </a:t>
            </a:r>
            <a:r>
              <a:rPr lang="en-US" b="1"/>
              <a:t>UFR1</a:t>
            </a:r>
            <a:r>
              <a:rPr lang="en-US"/>
              <a:t> (basic function) and </a:t>
            </a:r>
            <a:r>
              <a:rPr lang="en-US" b="1"/>
              <a:t>SFR15</a:t>
            </a:r>
            <a:r>
              <a:rPr lang="en-US"/>
              <a:t> (performance under environmental conditions)."</a:t>
            </a:r>
          </a:p>
          <a:p>
            <a:endParaRPr lang="en-US"/>
          </a:p>
        </p:txBody>
      </p:sp>
      <p:sp>
        <p:nvSpPr>
          <p:cNvPr id="4" name="Slide Number Placeholder 3"/>
          <p:cNvSpPr>
            <a:spLocks noGrp="1"/>
          </p:cNvSpPr>
          <p:nvPr>
            <p:ph type="sldNum" sz="quarter" idx="5"/>
          </p:nvPr>
        </p:nvSpPr>
        <p:spPr/>
        <p:txBody>
          <a:bodyPr/>
          <a:lstStyle/>
          <a:p>
            <a:fld id="{7CBE16C9-E44E-4755-862A-693F531BB02F}" type="slidenum">
              <a:rPr lang="en-US" smtClean="0"/>
              <a:t>23</a:t>
            </a:fld>
            <a:endParaRPr lang="en-US"/>
          </a:p>
        </p:txBody>
      </p:sp>
    </p:spTree>
    <p:extLst>
      <p:ext uri="{BB962C8B-B14F-4D97-AF65-F5344CB8AC3E}">
        <p14:creationId xmlns:p14="http://schemas.microsoft.com/office/powerpoint/2010/main" val="429389523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t>
            </a:r>
            <a:r>
              <a:rPr lang="en-US" b="1"/>
              <a:t>TC-SFR16-MAN-01</a:t>
            </a:r>
            <a:r>
              <a:rPr lang="en-US"/>
              <a:t> is a verification test focused on completeness of output.“</a:t>
            </a:r>
          </a:p>
          <a:p>
            <a:endParaRPr lang="en-US"/>
          </a:p>
          <a:p>
            <a:r>
              <a:rPr lang="en-US"/>
              <a:t>break</a:t>
            </a:r>
          </a:p>
          <a:p>
            <a:endParaRPr lang="en-US"/>
          </a:p>
          <a:p>
            <a:r>
              <a:rPr lang="en-US"/>
              <a:t>"</a:t>
            </a:r>
            <a:r>
              <a:rPr lang="en-US" b="1"/>
              <a:t>What it tests:</a:t>
            </a:r>
            <a:r>
              <a:rPr lang="en-US"/>
              <a:t> Does the system's output </a:t>
            </a:r>
            <a:r>
              <a:rPr lang="en-US" b="1"/>
              <a:t>include all visible QR codes</a:t>
            </a:r>
            <a:r>
              <a:rPr lang="en-US"/>
              <a:t> when multiple codes are present in the view?“</a:t>
            </a:r>
          </a:p>
          <a:p>
            <a:endParaRPr lang="en-US"/>
          </a:p>
          <a:p>
            <a:r>
              <a:rPr lang="en-US"/>
              <a:t>break</a:t>
            </a:r>
          </a:p>
          <a:p>
            <a:endParaRPr lang="en-US"/>
          </a:p>
          <a:p>
            <a:r>
              <a:rPr lang="en-US"/>
              <a:t>"</a:t>
            </a:r>
            <a:r>
              <a:rPr lang="en-US" b="1"/>
              <a:t>Test Data Input:</a:t>
            </a:r>
            <a:r>
              <a:rPr lang="en-US"/>
              <a:t> A </a:t>
            </a:r>
            <a:r>
              <a:rPr lang="en-US" b="1"/>
              <a:t>live multi-code scan</a:t>
            </a:r>
            <a:r>
              <a:rPr lang="en-US"/>
              <a:t> event.“</a:t>
            </a:r>
          </a:p>
          <a:p>
            <a:endParaRPr lang="en-US"/>
          </a:p>
          <a:p>
            <a:r>
              <a:rPr lang="en-US"/>
              <a:t>break</a:t>
            </a:r>
          </a:p>
          <a:p>
            <a:endParaRPr lang="en-US"/>
          </a:p>
          <a:p>
            <a:r>
              <a:rPr lang="en-US"/>
              <a:t>"</a:t>
            </a:r>
            <a:r>
              <a:rPr lang="en-US" b="1"/>
              <a:t>Expected Result:</a:t>
            </a:r>
            <a:r>
              <a:rPr lang="en-US"/>
              <a:t> The output must precisely </a:t>
            </a:r>
            <a:r>
              <a:rPr lang="en-US" b="1"/>
              <a:t>match the count and content</a:t>
            </a:r>
            <a:r>
              <a:rPr lang="en-US"/>
              <a:t> of the visible codes, ensuring no codes are dropped during processing.“</a:t>
            </a:r>
          </a:p>
          <a:p>
            <a:endParaRPr lang="en-US"/>
          </a:p>
          <a:p>
            <a:r>
              <a:rPr lang="en-US"/>
              <a:t>break</a:t>
            </a:r>
          </a:p>
          <a:p>
            <a:endParaRPr lang="en-US"/>
          </a:p>
          <a:p>
            <a:r>
              <a:rPr lang="en-US"/>
              <a:t>"</a:t>
            </a:r>
            <a:r>
              <a:rPr lang="en-US" b="1"/>
              <a:t>Traceability:</a:t>
            </a:r>
            <a:r>
              <a:rPr lang="en-US"/>
              <a:t> This reinforces </a:t>
            </a:r>
            <a:r>
              <a:rPr lang="en-US" b="1"/>
              <a:t>UFR1</a:t>
            </a:r>
            <a:r>
              <a:rPr lang="en-US"/>
              <a:t> and specifically system requirement </a:t>
            </a:r>
            <a:r>
              <a:rPr lang="en-US" b="1"/>
              <a:t>SFR16</a:t>
            </a:r>
            <a:r>
              <a:rPr lang="en-US"/>
              <a:t>, which governs multi-code handling."</a:t>
            </a:r>
          </a:p>
          <a:p>
            <a:endParaRPr lang="en-US"/>
          </a:p>
        </p:txBody>
      </p:sp>
      <p:sp>
        <p:nvSpPr>
          <p:cNvPr id="4" name="Slide Number Placeholder 3"/>
          <p:cNvSpPr>
            <a:spLocks noGrp="1"/>
          </p:cNvSpPr>
          <p:nvPr>
            <p:ph type="sldNum" sz="quarter" idx="5"/>
          </p:nvPr>
        </p:nvSpPr>
        <p:spPr/>
        <p:txBody>
          <a:bodyPr/>
          <a:lstStyle/>
          <a:p>
            <a:fld id="{7CBE16C9-E44E-4755-862A-693F531BB02F}" type="slidenum">
              <a:rPr lang="en-US" smtClean="0"/>
              <a:t>24</a:t>
            </a:fld>
            <a:endParaRPr lang="en-US"/>
          </a:p>
        </p:txBody>
      </p:sp>
    </p:spTree>
    <p:extLst>
      <p:ext uri="{BB962C8B-B14F-4D97-AF65-F5344CB8AC3E}">
        <p14:creationId xmlns:p14="http://schemas.microsoft.com/office/powerpoint/2010/main" val="48041227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"Switching to our automated suite, </a:t>
            </a:r>
            <a:r>
              <a:rPr lang="en-US" b="1"/>
              <a:t>TC-SFR1-AUTO-01</a:t>
            </a:r>
            <a:r>
              <a:rPr lang="en-US"/>
              <a:t> tests the core detection algorithm on a static input.“</a:t>
            </a:r>
          </a:p>
          <a:p>
            <a:endParaRPr lang="en-US"/>
          </a:p>
          <a:p>
            <a:r>
              <a:rPr lang="en-US"/>
              <a:t>break</a:t>
            </a:r>
          </a:p>
          <a:p>
            <a:endParaRPr lang="en-US"/>
          </a:p>
          <a:p>
            <a:r>
              <a:rPr lang="en-US"/>
              <a:t>"</a:t>
            </a:r>
            <a:r>
              <a:rPr lang="en-US" b="1"/>
              <a:t>What it tests:</a:t>
            </a:r>
            <a:r>
              <a:rPr lang="en-US"/>
              <a:t> Does the </a:t>
            </a:r>
            <a:r>
              <a:rPr lang="en-US" b="1"/>
              <a:t>QR detection function</a:t>
            </a:r>
            <a:r>
              <a:rPr lang="en-US"/>
              <a:t> return all codes in a </a:t>
            </a:r>
            <a:r>
              <a:rPr lang="en-US" b="1"/>
              <a:t>static image</a:t>
            </a:r>
            <a:r>
              <a:rPr lang="en-US"/>
              <a:t>? This isolates the algorithm from live camera feed variables.“</a:t>
            </a:r>
          </a:p>
          <a:p>
            <a:endParaRPr lang="en-US"/>
          </a:p>
          <a:p>
            <a:r>
              <a:rPr lang="en-US"/>
              <a:t>break</a:t>
            </a:r>
          </a:p>
          <a:p>
            <a:endParaRPr lang="en-US"/>
          </a:p>
          <a:p>
            <a:r>
              <a:rPr lang="en-US"/>
              <a:t>"</a:t>
            </a:r>
            <a:r>
              <a:rPr lang="en-US" b="1"/>
              <a:t>Test Data Input:</a:t>
            </a:r>
            <a:r>
              <a:rPr lang="en-US"/>
              <a:t> A </a:t>
            </a:r>
            <a:r>
              <a:rPr lang="en-US" b="1"/>
              <a:t>multi-QR test image</a:t>
            </a:r>
            <a:r>
              <a:rPr lang="en-US"/>
              <a:t> with a known number (N) of codes.“</a:t>
            </a:r>
          </a:p>
          <a:p>
            <a:endParaRPr lang="en-US"/>
          </a:p>
          <a:p>
            <a:r>
              <a:rPr lang="en-US"/>
              <a:t>break</a:t>
            </a:r>
          </a:p>
          <a:p>
            <a:endParaRPr lang="en-US"/>
          </a:p>
          <a:p>
            <a:r>
              <a:rPr lang="en-US"/>
              <a:t>"</a:t>
            </a:r>
            <a:r>
              <a:rPr lang="en-US" b="1"/>
              <a:t>Expected Result:</a:t>
            </a:r>
            <a:r>
              <a:rPr lang="en-US"/>
              <a:t> The automated </a:t>
            </a:r>
            <a:r>
              <a:rPr lang="en-US" sz="1200" kern="1200" err="1">
                <a:solidFill>
                  <a:schemeClr val="tx1"/>
                </a:solidFill>
                <a:latin typeface="+mn-lt"/>
                <a:ea typeface="+mn-ea"/>
                <a:cs typeface="+mn-cs"/>
              </a:rPr>
              <a:t>detect_qr_codes</a:t>
            </a:r>
            <a:r>
              <a:rPr lang="en-US" sz="1200" kern="1200">
                <a:solidFill>
                  <a:schemeClr val="tx1"/>
                </a:solidFill>
                <a:latin typeface="+mn-lt"/>
                <a:ea typeface="+mn-ea"/>
                <a:cs typeface="+mn-cs"/>
              </a:rPr>
              <a:t>()</a:t>
            </a:r>
            <a:r>
              <a:rPr lang="en-US"/>
              <a:t> function must return </a:t>
            </a:r>
            <a:r>
              <a:rPr lang="en-US" b="1"/>
              <a:t>N codes</a:t>
            </a:r>
            <a:r>
              <a:rPr lang="en-US"/>
              <a:t>, and their decoded </a:t>
            </a:r>
            <a:r>
              <a:rPr lang="en-US" b="1"/>
              <a:t>payloads must match the known ground truth</a:t>
            </a:r>
            <a:r>
              <a:rPr lang="en-US"/>
              <a:t>.“</a:t>
            </a:r>
          </a:p>
          <a:p>
            <a:endParaRPr lang="en-US"/>
          </a:p>
          <a:p>
            <a:r>
              <a:rPr lang="en-US"/>
              <a:t>break</a:t>
            </a:r>
          </a:p>
          <a:p>
            <a:endParaRPr lang="en-US"/>
          </a:p>
          <a:p>
            <a:r>
              <a:rPr lang="en-US"/>
              <a:t>"</a:t>
            </a:r>
            <a:r>
              <a:rPr lang="en-US" b="1"/>
              <a:t>Traceability:</a:t>
            </a:r>
            <a:r>
              <a:rPr lang="en-US"/>
              <a:t> This directly supports </a:t>
            </a:r>
            <a:r>
              <a:rPr lang="en-US" b="1"/>
              <a:t>UFR1</a:t>
            </a:r>
            <a:r>
              <a:rPr lang="en-US"/>
              <a:t> and system requirements </a:t>
            </a:r>
            <a:r>
              <a:rPr lang="en-US" b="1"/>
              <a:t>SFR1, SFR15, and SFR16</a:t>
            </a:r>
            <a:r>
              <a:rPr lang="en-US"/>
              <a:t>, all essential for accurate code reading."</a:t>
            </a:r>
          </a:p>
          <a:p>
            <a:endParaRPr lang="en-US"/>
          </a:p>
        </p:txBody>
      </p:sp>
      <p:sp>
        <p:nvSpPr>
          <p:cNvPr id="4" name="Slide Number Placeholder 3"/>
          <p:cNvSpPr>
            <a:spLocks noGrp="1"/>
          </p:cNvSpPr>
          <p:nvPr>
            <p:ph type="sldNum" sz="quarter" idx="5"/>
          </p:nvPr>
        </p:nvSpPr>
        <p:spPr/>
        <p:txBody>
          <a:bodyPr/>
          <a:lstStyle/>
          <a:p>
            <a:fld id="{7CBE16C9-E44E-4755-862A-693F531BB02F}" type="slidenum">
              <a:rPr lang="en-US" smtClean="0"/>
              <a:t>25</a:t>
            </a:fld>
            <a:endParaRPr lang="en-US"/>
          </a:p>
        </p:txBody>
      </p:sp>
    </p:spTree>
    <p:extLst>
      <p:ext uri="{BB962C8B-B14F-4D97-AF65-F5344CB8AC3E}">
        <p14:creationId xmlns:p14="http://schemas.microsoft.com/office/powerpoint/2010/main" val="110963062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t>
            </a:r>
            <a:r>
              <a:rPr lang="en-US" b="1"/>
              <a:t>TC-SFR2-AUTO-01</a:t>
            </a:r>
            <a:r>
              <a:rPr lang="en-US"/>
              <a:t> verifies the system's business logic for data handling.“</a:t>
            </a:r>
          </a:p>
          <a:p>
            <a:endParaRPr lang="en-US"/>
          </a:p>
          <a:p>
            <a:r>
              <a:rPr lang="en-US"/>
              <a:t>break</a:t>
            </a:r>
          </a:p>
          <a:p>
            <a:endParaRPr lang="en-US"/>
          </a:p>
          <a:p>
            <a:r>
              <a:rPr lang="en-US"/>
              <a:t>"</a:t>
            </a:r>
            <a:r>
              <a:rPr lang="en-US" b="1"/>
              <a:t>What it tests:</a:t>
            </a:r>
            <a:r>
              <a:rPr lang="en-US"/>
              <a:t> The crucial step of </a:t>
            </a:r>
            <a:r>
              <a:rPr lang="en-US" b="1"/>
              <a:t>field mapping</a:t>
            </a:r>
            <a:r>
              <a:rPr lang="en-US"/>
              <a:t>—does the system correctly assign the decoded values to their logical fields?“</a:t>
            </a:r>
          </a:p>
          <a:p>
            <a:endParaRPr lang="en-US"/>
          </a:p>
          <a:p>
            <a:r>
              <a:rPr lang="en-US"/>
              <a:t>break</a:t>
            </a:r>
          </a:p>
          <a:p>
            <a:endParaRPr lang="en-US"/>
          </a:p>
          <a:p>
            <a:r>
              <a:rPr lang="en-US"/>
              <a:t>"</a:t>
            </a:r>
            <a:r>
              <a:rPr lang="en-US" b="1"/>
              <a:t>Test Data Input:</a:t>
            </a:r>
            <a:r>
              <a:rPr lang="en-US"/>
              <a:t> A </a:t>
            </a:r>
            <a:r>
              <a:rPr lang="en-US" b="1"/>
              <a:t>decoded QR list</a:t>
            </a:r>
            <a:r>
              <a:rPr lang="en-US"/>
              <a:t> combined with the system's </a:t>
            </a:r>
            <a:r>
              <a:rPr lang="en-US" b="1"/>
              <a:t>workstation mapping configuration</a:t>
            </a:r>
            <a:r>
              <a:rPr lang="en-US"/>
              <a:t> file.“</a:t>
            </a:r>
          </a:p>
          <a:p>
            <a:endParaRPr lang="en-US"/>
          </a:p>
          <a:p>
            <a:r>
              <a:rPr lang="en-US"/>
              <a:t>break</a:t>
            </a:r>
          </a:p>
          <a:p>
            <a:endParaRPr lang="en-US"/>
          </a:p>
          <a:p>
            <a:r>
              <a:rPr lang="en-US"/>
              <a:t>"</a:t>
            </a:r>
            <a:r>
              <a:rPr lang="en-US" b="1"/>
              <a:t>Expected Result:</a:t>
            </a:r>
            <a:r>
              <a:rPr lang="en-US"/>
              <a:t> The resultant </a:t>
            </a:r>
            <a:r>
              <a:rPr lang="en-US" b="1"/>
              <a:t>mapped JSON</a:t>
            </a:r>
            <a:r>
              <a:rPr lang="en-US"/>
              <a:t> must contain the </a:t>
            </a:r>
            <a:r>
              <a:rPr lang="en-US" b="1"/>
              <a:t>correct field-value assignments</a:t>
            </a:r>
            <a:r>
              <a:rPr lang="en-US"/>
              <a:t>, validating the configuration logic.“</a:t>
            </a:r>
          </a:p>
          <a:p>
            <a:endParaRPr lang="en-US"/>
          </a:p>
          <a:p>
            <a:r>
              <a:rPr lang="en-US"/>
              <a:t>break</a:t>
            </a:r>
          </a:p>
          <a:p>
            <a:endParaRPr lang="en-US"/>
          </a:p>
          <a:p>
            <a:r>
              <a:rPr lang="en-US"/>
              <a:t>"</a:t>
            </a:r>
            <a:r>
              <a:rPr lang="en-US" b="1"/>
              <a:t>Traceability:</a:t>
            </a:r>
            <a:r>
              <a:rPr lang="en-US"/>
              <a:t> This is key for </a:t>
            </a:r>
            <a:r>
              <a:rPr lang="en-US" b="1"/>
              <a:t>UFR2</a:t>
            </a:r>
            <a:r>
              <a:rPr lang="en-US"/>
              <a:t> (using the data) and system requirements </a:t>
            </a:r>
            <a:r>
              <a:rPr lang="en-US" b="1"/>
              <a:t>SFR2 and SFR4</a:t>
            </a:r>
            <a:r>
              <a:rPr lang="en-US"/>
              <a:t> (data processing and output)."</a:t>
            </a:r>
          </a:p>
          <a:p>
            <a:endParaRPr lang="en-US"/>
          </a:p>
        </p:txBody>
      </p:sp>
      <p:sp>
        <p:nvSpPr>
          <p:cNvPr id="4" name="Slide Number Placeholder 3"/>
          <p:cNvSpPr>
            <a:spLocks noGrp="1"/>
          </p:cNvSpPr>
          <p:nvPr>
            <p:ph type="sldNum" sz="quarter" idx="5"/>
          </p:nvPr>
        </p:nvSpPr>
        <p:spPr/>
        <p:txBody>
          <a:bodyPr/>
          <a:lstStyle/>
          <a:p>
            <a:fld id="{7CBE16C9-E44E-4755-862A-693F531BB02F}" type="slidenum">
              <a:rPr lang="en-US" smtClean="0"/>
              <a:t>26</a:t>
            </a:fld>
            <a:endParaRPr lang="en-US"/>
          </a:p>
        </p:txBody>
      </p:sp>
    </p:spTree>
    <p:extLst>
      <p:ext uri="{BB962C8B-B14F-4D97-AF65-F5344CB8AC3E}">
        <p14:creationId xmlns:p14="http://schemas.microsoft.com/office/powerpoint/2010/main" val="29918131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"Finally for functional automation, </a:t>
            </a:r>
            <a:r>
              <a:rPr lang="en-US" b="1"/>
              <a:t>TC-SFR11-AUTO-01</a:t>
            </a:r>
            <a:r>
              <a:rPr lang="en-US"/>
              <a:t> ensures data compatibility.“</a:t>
            </a:r>
          </a:p>
          <a:p>
            <a:endParaRPr lang="en-US"/>
          </a:p>
          <a:p>
            <a:r>
              <a:rPr lang="en-US"/>
              <a:t>break</a:t>
            </a:r>
          </a:p>
          <a:p>
            <a:endParaRPr lang="en-US"/>
          </a:p>
          <a:p>
            <a:r>
              <a:rPr lang="en-US"/>
              <a:t>"</a:t>
            </a:r>
            <a:r>
              <a:rPr lang="en-US" b="1"/>
              <a:t>What it tests:</a:t>
            </a:r>
            <a:r>
              <a:rPr lang="en-US"/>
              <a:t> Does the final </a:t>
            </a:r>
            <a:r>
              <a:rPr lang="en-US" b="1"/>
              <a:t>JSON output match the published schema</a:t>
            </a:r>
            <a:r>
              <a:rPr lang="en-US"/>
              <a:t>? This is vital for integration with other enterprise systems.“</a:t>
            </a:r>
          </a:p>
          <a:p>
            <a:endParaRPr lang="en-US"/>
          </a:p>
          <a:p>
            <a:r>
              <a:rPr lang="en-US"/>
              <a:t>break</a:t>
            </a:r>
          </a:p>
          <a:p>
            <a:endParaRPr lang="en-US"/>
          </a:p>
          <a:p>
            <a:r>
              <a:rPr lang="en-US"/>
              <a:t>"</a:t>
            </a:r>
            <a:r>
              <a:rPr lang="en-US" b="1"/>
              <a:t>Test Data Input:</a:t>
            </a:r>
            <a:r>
              <a:rPr lang="en-US"/>
              <a:t> </a:t>
            </a:r>
            <a:r>
              <a:rPr lang="en-US" b="1"/>
              <a:t>JSON outputs from multiple workflows</a:t>
            </a:r>
            <a:r>
              <a:rPr lang="en-US"/>
              <a:t> within the system.“</a:t>
            </a:r>
          </a:p>
          <a:p>
            <a:endParaRPr lang="en-US"/>
          </a:p>
          <a:p>
            <a:r>
              <a:rPr lang="en-US"/>
              <a:t>break</a:t>
            </a:r>
          </a:p>
          <a:p>
            <a:endParaRPr lang="en-US"/>
          </a:p>
          <a:p>
            <a:r>
              <a:rPr lang="en-US"/>
              <a:t>"</a:t>
            </a:r>
            <a:r>
              <a:rPr lang="en-US" b="1"/>
              <a:t>Expected Result:</a:t>
            </a:r>
            <a:r>
              <a:rPr lang="en-US"/>
              <a:t> </a:t>
            </a:r>
            <a:r>
              <a:rPr lang="en-US" b="1"/>
              <a:t>All outputs must validate</a:t>
            </a:r>
            <a:r>
              <a:rPr lang="en-US"/>
              <a:t> successfully against the predefined schema.“</a:t>
            </a:r>
          </a:p>
          <a:p>
            <a:endParaRPr lang="en-US"/>
          </a:p>
          <a:p>
            <a:r>
              <a:rPr lang="en-US"/>
              <a:t>break</a:t>
            </a:r>
          </a:p>
          <a:p>
            <a:endParaRPr lang="en-US"/>
          </a:p>
          <a:p>
            <a:r>
              <a:rPr lang="en-US"/>
              <a:t>"</a:t>
            </a:r>
            <a:r>
              <a:rPr lang="en-US" b="1"/>
              <a:t>Traceability:</a:t>
            </a:r>
            <a:r>
              <a:rPr lang="en-US"/>
              <a:t> This validates user requirement </a:t>
            </a:r>
            <a:r>
              <a:rPr lang="en-US" b="1"/>
              <a:t>UFR7</a:t>
            </a:r>
            <a:r>
              <a:rPr lang="en-US"/>
              <a:t> (reliable data format) and system requirement </a:t>
            </a:r>
            <a:r>
              <a:rPr lang="en-US" b="1"/>
              <a:t>SFR11</a:t>
            </a:r>
            <a:r>
              <a:rPr lang="en-US"/>
              <a:t> (standardized data output)."</a:t>
            </a:r>
          </a:p>
          <a:p>
            <a:endParaRPr lang="en-US"/>
          </a:p>
        </p:txBody>
      </p:sp>
      <p:sp>
        <p:nvSpPr>
          <p:cNvPr id="4" name="Slide Number Placeholder 3"/>
          <p:cNvSpPr>
            <a:spLocks noGrp="1"/>
          </p:cNvSpPr>
          <p:nvPr>
            <p:ph type="sldNum" sz="quarter" idx="5"/>
          </p:nvPr>
        </p:nvSpPr>
        <p:spPr/>
        <p:txBody>
          <a:bodyPr/>
          <a:lstStyle/>
          <a:p>
            <a:fld id="{7CBE16C9-E44E-4755-862A-693F531BB02F}" type="slidenum">
              <a:rPr lang="en-US" smtClean="0"/>
              <a:t>27</a:t>
            </a:fld>
            <a:endParaRPr lang="en-US"/>
          </a:p>
        </p:txBody>
      </p:sp>
    </p:spTree>
    <p:extLst>
      <p:ext uri="{BB962C8B-B14F-4D97-AF65-F5344CB8AC3E}">
        <p14:creationId xmlns:p14="http://schemas.microsoft.com/office/powerpoint/2010/main" val="60898593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"Our only automated non-functional test presented here, </a:t>
            </a:r>
            <a:r>
              <a:rPr lang="en-US" b="1"/>
              <a:t>TC-PDSR1-AUTO-01</a:t>
            </a:r>
            <a:r>
              <a:rPr lang="en-US"/>
              <a:t>, addresses a key </a:t>
            </a:r>
            <a:r>
              <a:rPr lang="en-US" b="1"/>
              <a:t>security and deployment requirement</a:t>
            </a:r>
            <a:r>
              <a:rPr lang="en-US"/>
              <a:t>.“</a:t>
            </a:r>
          </a:p>
          <a:p>
            <a:endParaRPr lang="en-US"/>
          </a:p>
          <a:p>
            <a:r>
              <a:rPr lang="en-US"/>
              <a:t>break</a:t>
            </a:r>
          </a:p>
          <a:p>
            <a:endParaRPr lang="en-US"/>
          </a:p>
          <a:p>
            <a:r>
              <a:rPr lang="en-US"/>
              <a:t>"</a:t>
            </a:r>
            <a:r>
              <a:rPr lang="en-US" b="1"/>
              <a:t>What it tests:</a:t>
            </a:r>
            <a:r>
              <a:rPr lang="en-US"/>
              <a:t> Does the system store data </a:t>
            </a:r>
            <a:r>
              <a:rPr lang="en-US" b="1"/>
              <a:t>locally</a:t>
            </a:r>
            <a:r>
              <a:rPr lang="en-US"/>
              <a:t>? This means </a:t>
            </a:r>
            <a:r>
              <a:rPr lang="en-US" b="1"/>
              <a:t>no external endpoints</a:t>
            </a:r>
            <a:r>
              <a:rPr lang="en-US"/>
              <a:t> should be contacted.“</a:t>
            </a:r>
          </a:p>
          <a:p>
            <a:endParaRPr lang="en-US"/>
          </a:p>
          <a:p>
            <a:r>
              <a:rPr lang="en-US"/>
              <a:t>break</a:t>
            </a:r>
          </a:p>
          <a:p>
            <a:endParaRPr lang="en-US"/>
          </a:p>
          <a:p>
            <a:r>
              <a:rPr lang="en-US"/>
              <a:t>"</a:t>
            </a:r>
            <a:r>
              <a:rPr lang="en-US" b="1"/>
              <a:t>Test Data Input:</a:t>
            </a:r>
            <a:r>
              <a:rPr lang="en-US"/>
              <a:t> A </a:t>
            </a:r>
            <a:r>
              <a:rPr lang="en-US" b="1"/>
              <a:t>configuration inspection script</a:t>
            </a:r>
            <a:r>
              <a:rPr lang="en-US"/>
              <a:t> to examine system files and network settings.“</a:t>
            </a:r>
          </a:p>
          <a:p>
            <a:endParaRPr lang="en-US"/>
          </a:p>
          <a:p>
            <a:r>
              <a:rPr lang="en-US"/>
              <a:t>break</a:t>
            </a:r>
          </a:p>
          <a:p>
            <a:endParaRPr lang="en-US"/>
          </a:p>
          <a:p>
            <a:r>
              <a:rPr lang="en-US"/>
              <a:t>"</a:t>
            </a:r>
            <a:r>
              <a:rPr lang="en-US" b="1"/>
              <a:t>Expected Result:</a:t>
            </a:r>
            <a:r>
              <a:rPr lang="en-US"/>
              <a:t> The inspection must confirm that </a:t>
            </a:r>
            <a:r>
              <a:rPr lang="en-US" b="1"/>
              <a:t>all endpoints are local</a:t>
            </a:r>
            <a:r>
              <a:rPr lang="en-US"/>
              <a:t>; there should be </a:t>
            </a:r>
            <a:r>
              <a:rPr lang="en-US" b="1"/>
              <a:t>no external URLs</a:t>
            </a:r>
            <a:r>
              <a:rPr lang="en-US"/>
              <a:t> configured for data storage or transfer.“</a:t>
            </a:r>
          </a:p>
          <a:p>
            <a:endParaRPr lang="en-US"/>
          </a:p>
          <a:p>
            <a:r>
              <a:rPr lang="en-US"/>
              <a:t>break</a:t>
            </a:r>
          </a:p>
          <a:p>
            <a:endParaRPr lang="en-US"/>
          </a:p>
          <a:p>
            <a:r>
              <a:rPr lang="en-US"/>
              <a:t>"</a:t>
            </a:r>
            <a:r>
              <a:rPr lang="en-US" b="1"/>
              <a:t>Traceability:</a:t>
            </a:r>
            <a:r>
              <a:rPr lang="en-US"/>
              <a:t> This directly supports user requirements </a:t>
            </a:r>
            <a:r>
              <a:rPr lang="en-US" b="1"/>
              <a:t>UFR10 and UFR7</a:t>
            </a:r>
            <a:r>
              <a:rPr lang="en-US"/>
              <a:t> (security and data control) and the specific design requirement </a:t>
            </a:r>
            <a:r>
              <a:rPr lang="en-US" b="1"/>
              <a:t>PDSR1</a:t>
            </a:r>
            <a:r>
              <a:rPr lang="en-US"/>
              <a:t> (Protected Data Storage Requirement 1)."</a:t>
            </a:r>
          </a:p>
          <a:p>
            <a:endParaRPr lang="en-US"/>
          </a:p>
        </p:txBody>
      </p:sp>
      <p:sp>
        <p:nvSpPr>
          <p:cNvPr id="4" name="Slide Number Placeholder 3"/>
          <p:cNvSpPr>
            <a:spLocks noGrp="1"/>
          </p:cNvSpPr>
          <p:nvPr>
            <p:ph type="sldNum" sz="quarter" idx="5"/>
          </p:nvPr>
        </p:nvSpPr>
        <p:spPr/>
        <p:txBody>
          <a:bodyPr/>
          <a:lstStyle/>
          <a:p>
            <a:fld id="{7CBE16C9-E44E-4755-862A-693F531BB02F}" type="slidenum">
              <a:rPr lang="en-US" smtClean="0"/>
              <a:t>28</a:t>
            </a:fld>
            <a:endParaRPr lang="en-US"/>
          </a:p>
        </p:txBody>
      </p:sp>
    </p:spTree>
    <p:extLst>
      <p:ext uri="{BB962C8B-B14F-4D97-AF65-F5344CB8AC3E}">
        <p14:creationId xmlns:p14="http://schemas.microsoft.com/office/powerpoint/2010/main" val="422714024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32410" indent="-232410">
              <a:buAutoNum type="arabicPeriod"/>
            </a:pPr>
            <a:endParaRPr lang="en-US">
              <a:ea typeface="Calibri"/>
              <a:cs typeface="Calibri"/>
            </a:endParaRPr>
          </a:p>
        </p:txBody>
      </p:sp>
      <p:sp>
        <p:nvSpPr>
          <p:cNvPr id="4" name="Slide Number Placeholder 3"/>
          <p:cNvSpPr>
            <a:spLocks noGrp="1"/>
          </p:cNvSpPr>
          <p:nvPr>
            <p:ph type="sldNum" sz="quarter" idx="5"/>
          </p:nvPr>
        </p:nvSpPr>
        <p:spPr/>
        <p:txBody>
          <a:bodyPr/>
          <a:lstStyle/>
          <a:p>
            <a:fld id="{7CBE16C9-E44E-4755-862A-693F531BB02F}" type="slidenum">
              <a:rPr lang="en-US"/>
              <a:t>30</a:t>
            </a:fld>
            <a:endParaRPr lang="en-US"/>
          </a:p>
        </p:txBody>
      </p:sp>
    </p:spTree>
    <p:extLst>
      <p:ext uri="{BB962C8B-B14F-4D97-AF65-F5344CB8AC3E}">
        <p14:creationId xmlns:p14="http://schemas.microsoft.com/office/powerpoint/2010/main" val="42657463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4AAD347D-5ACD-4C99-B74B-A9C85AD731AF}" type="datetimeFigureOut">
              <a:rPr lang="en-US" dirty="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4166224404"/>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p>
            <a:fld id="{4509A250-FF31-4206-8172-F9D3106AACB1}" type="datetimeFigureOut">
              <a:rPr lang="en-US" dirty="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122687220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dirty="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3083258914"/>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796027F-7875-4030-9381-8BD8C4F21935}" type="datetimeFigureOut">
              <a:rPr lang="en-US" dirty="0"/>
              <a:t>2/22/2026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3520087732"/>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796027F-7875-4030-9381-8BD8C4F21935}" type="datetimeFigureOut">
              <a:rPr lang="en-US" dirty="0"/>
              <a:t>2/22/2026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3236688784"/>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7" name="Date Placeholder 2"/>
          <p:cNvSpPr>
            <a:spLocks noGrp="1"/>
          </p:cNvSpPr>
          <p:nvPr>
            <p:ph type="dt" sz="half" idx="10"/>
          </p:nvPr>
        </p:nvSpPr>
        <p:spPr/>
        <p:txBody>
          <a:bodyPr/>
          <a:lstStyle/>
          <a:p>
            <a:fld id="{4509A250-FF31-4206-8172-F9D3106AACB1}" type="datetimeFigureOut">
              <a:rPr lang="en-US" dirty="0"/>
              <a:t>2/22/2026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3973465004"/>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dirty="0"/>
              <a:t>2/22/2026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96090786"/>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4509A250-FF31-4206-8172-F9D3106AACB1}" type="datetimeFigureOut">
              <a:rPr lang="en-US" dirty="0"/>
              <a:t>2/22/2026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3173625915"/>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2/22/2026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2617445746"/>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2/22/2026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4022137963"/>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136556337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a:t>”</a:t>
            </a:r>
          </a:p>
        </p:txBody>
      </p:sp>
    </p:spTree>
    <p:extLst>
      <p:ext uri="{BB962C8B-B14F-4D97-AF65-F5344CB8AC3E}">
        <p14:creationId xmlns:p14="http://schemas.microsoft.com/office/powerpoint/2010/main" val="1767969081"/>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216475969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2/22/2026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1746473599"/>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2/22/2026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2931546227"/>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509A250-FF31-4206-8172-F9D3106AACB1}" type="datetimeFigureOut">
              <a:rPr lang="en-US" dirty="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2318471421"/>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509A250-FF31-4206-8172-F9D3106AACB1}" type="datetimeFigureOut">
              <a:rPr lang="en-US" dirty="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2225538652"/>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AAD347D-5ACD-4C99-B74B-A9C85AD731AF}" type="datetimeFigureOut">
              <a:rPr lang="en-US" dirty="0"/>
              <a:t>2/22/2026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dirty="0"/>
              <a:t>‹#›</a:t>
            </a:fld>
            <a:endParaRPr lang="en-US"/>
          </a:p>
        </p:txBody>
      </p:sp>
    </p:spTree>
    <p:extLst>
      <p:ext uri="{BB962C8B-B14F-4D97-AF65-F5344CB8AC3E}">
        <p14:creationId xmlns:p14="http://schemas.microsoft.com/office/powerpoint/2010/main" val="1296969525"/>
      </p:ext>
    </p:extLst>
  </p:cSld>
  <p:clrMap bg1="dk1" tx1="lt1" bg2="dk2" tx2="lt2" accent1="accent1" accent2="accent2" accent3="accent3" accent4="accent4" accent5="accent5" accent6="accent6" hlink="hlink" folHlink="folHlink"/>
  <p:sldLayoutIdLst>
    <p:sldLayoutId id="2147484273" r:id="rId1"/>
    <p:sldLayoutId id="2147484274" r:id="rId2"/>
    <p:sldLayoutId id="2147484275" r:id="rId3"/>
    <p:sldLayoutId id="2147484276" r:id="rId4"/>
    <p:sldLayoutId id="2147484277" r:id="rId5"/>
    <p:sldLayoutId id="2147484278" r:id="rId6"/>
    <p:sldLayoutId id="2147484279" r:id="rId7"/>
    <p:sldLayoutId id="2147484280" r:id="rId8"/>
    <p:sldLayoutId id="2147484281" r:id="rId9"/>
    <p:sldLayoutId id="2147484282" r:id="rId10"/>
    <p:sldLayoutId id="2147484283" r:id="rId11"/>
    <p:sldLayoutId id="2147484284" r:id="rId12"/>
    <p:sldLayoutId id="2147484285" r:id="rId13"/>
    <p:sldLayoutId id="2147484286" r:id="rId14"/>
    <p:sldLayoutId id="2147484287" r:id="rId15"/>
    <p:sldLayoutId id="2147484288" r:id="rId16"/>
    <p:sldLayoutId id="2147484289" r:id="rId17"/>
  </p:sldLayoutIdLst>
  <p:hf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4A6AA-5087-E976-6B57-900E4B370C58}"/>
              </a:ext>
            </a:extLst>
          </p:cNvPr>
          <p:cNvSpPr>
            <a:spLocks noGrp="1"/>
          </p:cNvSpPr>
          <p:nvPr>
            <p:ph type="ctrTitle"/>
          </p:nvPr>
        </p:nvSpPr>
        <p:spPr/>
        <p:txBody>
          <a:bodyPr/>
          <a:lstStyle/>
          <a:p>
            <a:r>
              <a:rPr lang="en-US"/>
              <a:t>AIBI Computer Vision for Manufacturing</a:t>
            </a:r>
          </a:p>
        </p:txBody>
      </p:sp>
      <p:sp>
        <p:nvSpPr>
          <p:cNvPr id="3" name="Subtitle 2">
            <a:extLst>
              <a:ext uri="{FF2B5EF4-FFF2-40B4-BE49-F238E27FC236}">
                <a16:creationId xmlns:a16="http://schemas.microsoft.com/office/drawing/2014/main" id="{8F557CA7-1464-9775-DAA3-B8F6773D8F0B}"/>
              </a:ext>
            </a:extLst>
          </p:cNvPr>
          <p:cNvSpPr>
            <a:spLocks noGrp="1"/>
          </p:cNvSpPr>
          <p:nvPr>
            <p:ph type="subTitle" idx="1"/>
          </p:nvPr>
        </p:nvSpPr>
        <p:spPr>
          <a:xfrm>
            <a:off x="1154956" y="4878233"/>
            <a:ext cx="11044422" cy="861420"/>
          </a:xfrm>
        </p:spPr>
        <p:txBody>
          <a:bodyPr vert="horz" lIns="91440" tIns="45720" rIns="91440" bIns="45720" rtlCol="0" anchor="t">
            <a:normAutofit fontScale="92500" lnSpcReduction="10000"/>
          </a:bodyPr>
          <a:lstStyle/>
          <a:p>
            <a:pPr>
              <a:buClr>
                <a:srgbClr val="1E5155">
                  <a:lumMod val="40000"/>
                  <a:lumOff val="60000"/>
                </a:srgbClr>
              </a:buClr>
            </a:pPr>
            <a:r>
              <a:rPr lang="en-US" sz="2400" spc="50">
                <a:gradFill flip="none">
                  <a:gsLst>
                    <a:gs pos="0">
                      <a:srgbClr val="FFFFFF"/>
                    </a:gs>
                    <a:gs pos="100000">
                      <a:srgbClr val="FFFFFF"/>
                    </a:gs>
                  </a:gsLst>
                  <a:lin ang="5400000" scaled="0"/>
                  <a:tileRect/>
                </a:gradFill>
                <a:effectLst>
                  <a:glow rad="38100">
                    <a:prstClr val="black">
                      <a:lumMod val="50000"/>
                      <a:lumOff val="50000"/>
                      <a:alpha val="20000"/>
                    </a:prstClr>
                  </a:glow>
                  <a:outerShdw blurRad="44450" dist="12700" dir="13860000" algn="tl" rotWithShape="0">
                    <a:srgbClr val="000000">
                      <a:alpha val="20000"/>
                    </a:srgbClr>
                  </a:outerShdw>
                </a:effectLst>
                <a:latin typeface="Neue Haas Grotesk Text Pro"/>
              </a:rPr>
              <a:t>Group 9</a:t>
            </a:r>
          </a:p>
          <a:p>
            <a:r>
              <a:rPr lang="en-US" sz="2400" spc="50">
                <a:gradFill flip="none">
                  <a:gsLst>
                    <a:gs pos="0">
                      <a:srgbClr val="FFFFFF"/>
                    </a:gs>
                    <a:gs pos="100000">
                      <a:srgbClr val="FFFFFF"/>
                    </a:gs>
                  </a:gsLst>
                  <a:lin ang="5400000" scaled="0"/>
                  <a:tileRect/>
                </a:gradFill>
                <a:effectLst>
                  <a:glow rad="38100">
                    <a:prstClr val="black">
                      <a:lumMod val="50000"/>
                      <a:lumOff val="50000"/>
                      <a:alpha val="20000"/>
                    </a:prstClr>
                  </a:glow>
                  <a:outerShdw blurRad="44450" dist="12700" dir="13860000" algn="tl" rotWithShape="0">
                    <a:srgbClr val="000000">
                      <a:alpha val="20000"/>
                    </a:srgbClr>
                  </a:outerShdw>
                </a:effectLst>
                <a:latin typeface="Neue Haas Grotesk Text Pro"/>
              </a:rPr>
              <a:t>Nathan Digilio, Jacob Dzikowski, Collin Miller, Daniel Pora</a:t>
            </a:r>
            <a:endParaRPr lang="en-US" sz="2400" spc="50">
              <a:solidFill>
                <a:srgbClr val="8AD0D6"/>
              </a:solidFill>
              <a:effectLst>
                <a:glow rad="38100">
                  <a:prstClr val="black">
                    <a:lumMod val="50000"/>
                    <a:lumOff val="50000"/>
                    <a:alpha val="20000"/>
                  </a:prstClr>
                </a:glow>
                <a:outerShdw blurRad="44450" dist="12700" dir="13860000" algn="tl" rotWithShape="0">
                  <a:srgbClr val="000000">
                    <a:alpha val="20000"/>
                  </a:srgbClr>
                </a:outerShdw>
              </a:effectLst>
              <a:latin typeface="Neue Haas Grotesk Text Pro"/>
            </a:endParaRPr>
          </a:p>
        </p:txBody>
      </p:sp>
      <p:sp>
        <p:nvSpPr>
          <p:cNvPr id="4" name="Date Placeholder 3">
            <a:extLst>
              <a:ext uri="{FF2B5EF4-FFF2-40B4-BE49-F238E27FC236}">
                <a16:creationId xmlns:a16="http://schemas.microsoft.com/office/drawing/2014/main" id="{D5BA8C2C-5291-4FD2-8B7F-53210C541026}"/>
              </a:ext>
            </a:extLst>
          </p:cNvPr>
          <p:cNvSpPr>
            <a:spLocks noGrp="1"/>
          </p:cNvSpPr>
          <p:nvPr>
            <p:ph type="dt" sz="half" idx="10"/>
          </p:nvPr>
        </p:nvSpPr>
        <p:spPr/>
        <p:txBody>
          <a:bodyPr/>
          <a:lstStyle/>
          <a:p>
            <a:fld id="{A96831DE-1A22-402F-9CDB-DFF3BD1BFC32}" type="datetime1">
              <a:rPr lang="en-US"/>
              <a:t>2/22/2026</a:t>
            </a:fld>
            <a:endParaRPr lang="en-US"/>
          </a:p>
        </p:txBody>
      </p:sp>
      <p:sp>
        <p:nvSpPr>
          <p:cNvPr id="6" name="Slide Number Placeholder 5">
            <a:extLst>
              <a:ext uri="{FF2B5EF4-FFF2-40B4-BE49-F238E27FC236}">
                <a16:creationId xmlns:a16="http://schemas.microsoft.com/office/drawing/2014/main" id="{F018C970-1C7C-128B-3D1B-E0274C1D0D99}"/>
              </a:ext>
            </a:extLst>
          </p:cNvPr>
          <p:cNvSpPr>
            <a:spLocks noGrp="1"/>
          </p:cNvSpPr>
          <p:nvPr>
            <p:ph type="sldNum" sz="quarter" idx="12"/>
          </p:nvPr>
        </p:nvSpPr>
        <p:spPr/>
        <p:txBody>
          <a:bodyPr>
            <a:normAutofit/>
          </a:bodyPr>
          <a:lstStyle/>
          <a:p>
            <a:fld id="{E30AF5A0-43BB-4336-8627-9123B9144D80}" type="slidenum">
              <a:rPr lang="en-US" dirty="0"/>
              <a:t>1</a:t>
            </a:fld>
            <a:endParaRPr lang="en-US"/>
          </a:p>
        </p:txBody>
      </p:sp>
    </p:spTree>
    <p:extLst>
      <p:ext uri="{BB962C8B-B14F-4D97-AF65-F5344CB8AC3E}">
        <p14:creationId xmlns:p14="http://schemas.microsoft.com/office/powerpoint/2010/main" val="35884426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89A45-9C24-6B29-CC99-7662E46F5CBC}"/>
              </a:ext>
            </a:extLst>
          </p:cNvPr>
          <p:cNvSpPr>
            <a:spLocks noGrp="1"/>
          </p:cNvSpPr>
          <p:nvPr>
            <p:ph type="title"/>
          </p:nvPr>
        </p:nvSpPr>
        <p:spPr/>
        <p:txBody>
          <a:bodyPr/>
          <a:lstStyle/>
          <a:p>
            <a:r>
              <a:rPr lang="en-US"/>
              <a:t>Outline</a:t>
            </a:r>
          </a:p>
        </p:txBody>
      </p:sp>
      <p:sp>
        <p:nvSpPr>
          <p:cNvPr id="3" name="Content Placeholder 2">
            <a:extLst>
              <a:ext uri="{FF2B5EF4-FFF2-40B4-BE49-F238E27FC236}">
                <a16:creationId xmlns:a16="http://schemas.microsoft.com/office/drawing/2014/main" id="{DB48BDE1-F46C-DF2B-1E35-3ADD305FEA6D}"/>
              </a:ext>
            </a:extLst>
          </p:cNvPr>
          <p:cNvSpPr>
            <a:spLocks noGrp="1"/>
          </p:cNvSpPr>
          <p:nvPr>
            <p:ph idx="1"/>
          </p:nvPr>
        </p:nvSpPr>
        <p:spPr/>
        <p:txBody>
          <a:bodyPr vert="horz" lIns="91440" tIns="45720" rIns="91440" bIns="45720" rtlCol="0" anchor="t">
            <a:normAutofit fontScale="77500" lnSpcReduction="20000"/>
          </a:bodyPr>
          <a:lstStyle/>
          <a:p>
            <a:pPr>
              <a:buAutoNum type="arabicPeriod"/>
            </a:pPr>
            <a:r>
              <a:rPr lang="en-US" sz="2300"/>
              <a:t>Overview</a:t>
            </a:r>
          </a:p>
          <a:p>
            <a:pPr>
              <a:buClr>
                <a:srgbClr val="8AD0D6"/>
              </a:buClr>
              <a:buAutoNum type="arabicPeriod"/>
            </a:pPr>
            <a:r>
              <a:rPr lang="en-US" sz="2300"/>
              <a:t>Sponsor</a:t>
            </a:r>
          </a:p>
          <a:p>
            <a:pPr>
              <a:buClr>
                <a:srgbClr val="8AD0D6"/>
              </a:buClr>
              <a:buAutoNum type="arabicPeriod"/>
            </a:pPr>
            <a:r>
              <a:rPr lang="en-US" sz="2300"/>
              <a:t>Needs</a:t>
            </a:r>
          </a:p>
          <a:p>
            <a:pPr>
              <a:buClr>
                <a:srgbClr val="8AD0D6"/>
              </a:buClr>
              <a:buAutoNum type="arabicPeriod"/>
            </a:pPr>
            <a:r>
              <a:rPr lang="en-US" sz="2300"/>
              <a:t>Objectives</a:t>
            </a:r>
          </a:p>
          <a:p>
            <a:pPr>
              <a:buClr>
                <a:srgbClr val="8AD0D6"/>
              </a:buClr>
              <a:buAutoNum type="arabicPeriod"/>
            </a:pPr>
            <a:r>
              <a:rPr lang="en-US" sz="2300"/>
              <a:t>Where Are We?</a:t>
            </a:r>
          </a:p>
          <a:p>
            <a:pPr>
              <a:buClr>
                <a:srgbClr val="8AD0D6"/>
              </a:buClr>
              <a:buAutoNum type="arabicPeriod"/>
            </a:pPr>
            <a:r>
              <a:rPr lang="en-US" sz="2300"/>
              <a:t>Changes</a:t>
            </a:r>
          </a:p>
          <a:p>
            <a:pPr>
              <a:buAutoNum type="arabicPeriod"/>
            </a:pPr>
            <a:r>
              <a:rPr lang="en-US" sz="2300"/>
              <a:t>Preliminary Behavior Design</a:t>
            </a:r>
          </a:p>
          <a:p>
            <a:pPr>
              <a:buClr>
                <a:srgbClr val="8AD0D6"/>
              </a:buClr>
              <a:buAutoNum type="arabicPeriod"/>
            </a:pPr>
            <a:r>
              <a:rPr lang="en-US" sz="2300"/>
              <a:t>Test Cases</a:t>
            </a:r>
          </a:p>
          <a:p>
            <a:pPr>
              <a:buClr>
                <a:srgbClr val="8AD0D6"/>
              </a:buClr>
              <a:buAutoNum type="arabicPeriod"/>
            </a:pPr>
            <a:r>
              <a:rPr lang="en-US" sz="2300"/>
              <a:t>Challenges</a:t>
            </a:r>
          </a:p>
          <a:p>
            <a:pPr>
              <a:buClr>
                <a:srgbClr val="8AD0D6"/>
              </a:buClr>
              <a:buAutoNum type="arabicPeriod"/>
            </a:pPr>
            <a:r>
              <a:rPr lang="en-US" sz="2300"/>
              <a:t>Team Member Logs</a:t>
            </a:r>
          </a:p>
          <a:p>
            <a:pPr>
              <a:buClr>
                <a:srgbClr val="8AD0D6"/>
              </a:buClr>
              <a:buAutoNum type="arabicPeriod"/>
            </a:pPr>
            <a:r>
              <a:rPr lang="en-US" sz="2300"/>
              <a:t>Demo</a:t>
            </a:r>
          </a:p>
          <a:p>
            <a:pPr>
              <a:buClr>
                <a:srgbClr val="8AD0D6"/>
              </a:buClr>
              <a:buAutoNum type="arabicPeriod"/>
            </a:pPr>
            <a:r>
              <a:rPr lang="en-US" sz="2300"/>
              <a:t>Questions</a:t>
            </a:r>
            <a:endParaRPr lang="en-US" sz="1600"/>
          </a:p>
        </p:txBody>
      </p:sp>
      <p:sp>
        <p:nvSpPr>
          <p:cNvPr id="4" name="Slide Number Placeholder 3">
            <a:extLst>
              <a:ext uri="{FF2B5EF4-FFF2-40B4-BE49-F238E27FC236}">
                <a16:creationId xmlns:a16="http://schemas.microsoft.com/office/drawing/2014/main" id="{00BA147A-72F4-A53D-07E3-A0889E17EB92}"/>
              </a:ext>
            </a:extLst>
          </p:cNvPr>
          <p:cNvSpPr>
            <a:spLocks noGrp="1"/>
          </p:cNvSpPr>
          <p:nvPr>
            <p:ph type="sldNum" sz="quarter" idx="12"/>
          </p:nvPr>
        </p:nvSpPr>
        <p:spPr/>
        <p:txBody>
          <a:bodyPr/>
          <a:lstStyle/>
          <a:p>
            <a:fld id="{D57F1E4F-1CFF-5643-939E-02111984F565}" type="slidenum">
              <a:rPr lang="en-US" smtClean="0"/>
              <a:t>2</a:t>
            </a:fld>
            <a:endParaRPr lang="en-US"/>
          </a:p>
        </p:txBody>
      </p:sp>
    </p:spTree>
    <p:extLst>
      <p:ext uri="{BB962C8B-B14F-4D97-AF65-F5344CB8AC3E}">
        <p14:creationId xmlns:p14="http://schemas.microsoft.com/office/powerpoint/2010/main" val="42517172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F5F85FAA-3933-034E-681D-058D0FB112C2}"/>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EC070A61-DF7A-9AF1-ECCC-3B079F01F59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0" name="Picture 9">
            <a:extLst>
              <a:ext uri="{FF2B5EF4-FFF2-40B4-BE49-F238E27FC236}">
                <a16:creationId xmlns:a16="http://schemas.microsoft.com/office/drawing/2014/main" id="{0D75AE86-4E49-7800-8BF3-54491FA1657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2" name="Oval 11">
            <a:extLst>
              <a:ext uri="{FF2B5EF4-FFF2-40B4-BE49-F238E27FC236}">
                <a16:creationId xmlns:a16="http://schemas.microsoft.com/office/drawing/2014/main" id="{12698AFA-A21E-41EA-4DAB-95C66A94BF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4" name="Picture 13">
            <a:extLst>
              <a:ext uri="{FF2B5EF4-FFF2-40B4-BE49-F238E27FC236}">
                <a16:creationId xmlns:a16="http://schemas.microsoft.com/office/drawing/2014/main" id="{98D465CA-9AF0-A610-7BC5-8246C089DAC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6" name="Picture 15">
            <a:extLst>
              <a:ext uri="{FF2B5EF4-FFF2-40B4-BE49-F238E27FC236}">
                <a16:creationId xmlns:a16="http://schemas.microsoft.com/office/drawing/2014/main" id="{69E22A98-3997-883F-DC54-A82DF38EDB9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7">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8" name="Rectangle 17">
            <a:extLst>
              <a:ext uri="{FF2B5EF4-FFF2-40B4-BE49-F238E27FC236}">
                <a16:creationId xmlns:a16="http://schemas.microsoft.com/office/drawing/2014/main" id="{1CE458AB-B017-057D-11EE-44713179F9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0" name="Rectangle 19">
            <a:extLst>
              <a:ext uri="{FF2B5EF4-FFF2-40B4-BE49-F238E27FC236}">
                <a16:creationId xmlns:a16="http://schemas.microsoft.com/office/drawing/2014/main" id="{52FE244C-8E91-6DC0-7744-79A95421E1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399AECA3-1851-A461-1CB8-64BAAEA58B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Slide Number Placeholder 2">
            <a:extLst>
              <a:ext uri="{FF2B5EF4-FFF2-40B4-BE49-F238E27FC236}">
                <a16:creationId xmlns:a16="http://schemas.microsoft.com/office/drawing/2014/main" id="{BEF5A01A-71D6-85EE-309D-C548D1B0E28D}"/>
              </a:ext>
            </a:extLst>
          </p:cNvPr>
          <p:cNvSpPr>
            <a:spLocks noGrp="1"/>
          </p:cNvSpPr>
          <p:nvPr>
            <p:ph type="sldNum" sz="quarter" idx="12"/>
          </p:nvPr>
        </p:nvSpPr>
        <p:spPr>
          <a:xfrm>
            <a:off x="10352540" y="295729"/>
            <a:ext cx="838199" cy="767687"/>
          </a:xfrm>
        </p:spPr>
        <p:txBody>
          <a:bodyPr vert="horz" lIns="91440" tIns="45720" rIns="91440" bIns="45720" rtlCol="0" anchor="b">
            <a:normAutofit/>
          </a:bodyPr>
          <a:lstStyle/>
          <a:p>
            <a:pPr defTabSz="457200">
              <a:spcAft>
                <a:spcPts val="600"/>
              </a:spcAft>
            </a:pPr>
            <a:fld id="{D57F1E4F-1CFF-5643-939E-02111984F565}" type="slidenum">
              <a:rPr lang="en-US" b="0" i="0" kern="1200">
                <a:solidFill>
                  <a:srgbClr val="FFFFFF"/>
                </a:solidFill>
                <a:latin typeface="+mn-lt"/>
                <a:ea typeface="+mn-ea"/>
                <a:cs typeface="+mn-cs"/>
              </a:rPr>
              <a:pPr defTabSz="457200">
                <a:spcAft>
                  <a:spcPts val="600"/>
                </a:spcAft>
              </a:pPr>
              <a:t>3</a:t>
            </a:fld>
            <a:endParaRPr lang="en-US" b="0" i="0" kern="1200">
              <a:solidFill>
                <a:srgbClr val="FFFFFF"/>
              </a:solidFill>
              <a:latin typeface="+mn-lt"/>
              <a:ea typeface="+mn-ea"/>
              <a:cs typeface="+mn-cs"/>
            </a:endParaRPr>
          </a:p>
        </p:txBody>
      </p:sp>
      <p:cxnSp>
        <p:nvCxnSpPr>
          <p:cNvPr id="24" name="Straight Connector 23">
            <a:extLst>
              <a:ext uri="{FF2B5EF4-FFF2-40B4-BE49-F238E27FC236}">
                <a16:creationId xmlns:a16="http://schemas.microsoft.com/office/drawing/2014/main" id="{64D4DC37-BE9D-05C4-55F9-EAE0770A4BD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56687" y="1930986"/>
            <a:ext cx="0" cy="3200400"/>
          </a:xfrm>
          <a:prstGeom prst="line">
            <a:avLst/>
          </a:prstGeom>
          <a:ln w="15875" cap="sq">
            <a:solidFill>
              <a:schemeClr val="tx2">
                <a:alpha val="70000"/>
              </a:schemeClr>
            </a:solidFill>
            <a:miter lim="800000"/>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47120F0-7DEB-A001-AC08-A66A5007A63E}"/>
              </a:ext>
            </a:extLst>
          </p:cNvPr>
          <p:cNvSpPr>
            <a:spLocks noGrp="1"/>
          </p:cNvSpPr>
          <p:nvPr>
            <p:ph type="title"/>
          </p:nvPr>
        </p:nvSpPr>
        <p:spPr>
          <a:xfrm>
            <a:off x="4654295" y="1266958"/>
            <a:ext cx="6808362" cy="4528457"/>
          </a:xfrm>
        </p:spPr>
        <p:txBody>
          <a:bodyPr vert="horz" lIns="91440" tIns="45720" rIns="91440" bIns="45720" rtlCol="0" anchor="ctr">
            <a:normAutofit/>
          </a:bodyPr>
          <a:lstStyle/>
          <a:p>
            <a:r>
              <a:rPr lang="en-US" sz="7200"/>
              <a:t>Overview</a:t>
            </a:r>
            <a:endParaRPr lang="en-US">
              <a:ea typeface="+mj-ea"/>
              <a:cs typeface="+mj-cs"/>
            </a:endParaRPr>
          </a:p>
        </p:txBody>
      </p:sp>
    </p:spTree>
    <p:extLst>
      <p:ext uri="{BB962C8B-B14F-4D97-AF65-F5344CB8AC3E}">
        <p14:creationId xmlns:p14="http://schemas.microsoft.com/office/powerpoint/2010/main" val="538660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FF8E4-F737-DC23-14DA-F573EA337FB0}"/>
              </a:ext>
            </a:extLst>
          </p:cNvPr>
          <p:cNvSpPr>
            <a:spLocks noGrp="1"/>
          </p:cNvSpPr>
          <p:nvPr>
            <p:ph type="title"/>
          </p:nvPr>
        </p:nvSpPr>
        <p:spPr/>
        <p:txBody>
          <a:bodyPr/>
          <a:lstStyle/>
          <a:p>
            <a:r>
              <a:rPr lang="en-US"/>
              <a:t>Sponsor</a:t>
            </a:r>
          </a:p>
        </p:txBody>
      </p:sp>
      <p:sp>
        <p:nvSpPr>
          <p:cNvPr id="3" name="Content Placeholder 2">
            <a:extLst>
              <a:ext uri="{FF2B5EF4-FFF2-40B4-BE49-F238E27FC236}">
                <a16:creationId xmlns:a16="http://schemas.microsoft.com/office/drawing/2014/main" id="{27C2114E-B9B5-E2EF-F5F9-B76C16C240D3}"/>
              </a:ext>
            </a:extLst>
          </p:cNvPr>
          <p:cNvSpPr>
            <a:spLocks noGrp="1"/>
          </p:cNvSpPr>
          <p:nvPr>
            <p:ph idx="1"/>
          </p:nvPr>
        </p:nvSpPr>
        <p:spPr/>
        <p:txBody>
          <a:bodyPr vert="horz" lIns="91440" tIns="45720" rIns="91440" bIns="45720" rtlCol="0" anchor="t">
            <a:normAutofit/>
          </a:bodyPr>
          <a:lstStyle/>
          <a:p>
            <a:r>
              <a:rPr lang="en-US"/>
              <a:t>AIBI Solutions</a:t>
            </a:r>
          </a:p>
          <a:p>
            <a:pPr lvl="1"/>
            <a:r>
              <a:rPr lang="en-US"/>
              <a:t>Spin-off of KMD Technology Solutions</a:t>
            </a:r>
          </a:p>
          <a:p>
            <a:r>
              <a:rPr lang="en-US"/>
              <a:t>KMD has been developing since 2003</a:t>
            </a:r>
          </a:p>
          <a:p>
            <a:pPr lvl="1"/>
            <a:r>
              <a:rPr lang="en-US"/>
              <a:t>KMD noticed problems that AI could help with</a:t>
            </a:r>
          </a:p>
          <a:p>
            <a:r>
              <a:rPr lang="en-US"/>
              <a:t>AIBI: Created to offer unique AI solutions</a:t>
            </a:r>
          </a:p>
        </p:txBody>
      </p:sp>
      <p:sp>
        <p:nvSpPr>
          <p:cNvPr id="4" name="Slide Number Placeholder 3">
            <a:extLst>
              <a:ext uri="{FF2B5EF4-FFF2-40B4-BE49-F238E27FC236}">
                <a16:creationId xmlns:a16="http://schemas.microsoft.com/office/drawing/2014/main" id="{6A75D622-9620-4E92-4AF0-9E3375B5A478}"/>
              </a:ext>
            </a:extLst>
          </p:cNvPr>
          <p:cNvSpPr>
            <a:spLocks noGrp="1"/>
          </p:cNvSpPr>
          <p:nvPr>
            <p:ph type="sldNum" sz="quarter" idx="12"/>
          </p:nvPr>
        </p:nvSpPr>
        <p:spPr/>
        <p:txBody>
          <a:bodyPr/>
          <a:lstStyle/>
          <a:p>
            <a:fld id="{D57F1E4F-1CFF-5643-939E-02111984F565}" type="slidenum">
              <a:rPr lang="en-US" smtClean="0"/>
              <a:t>4</a:t>
            </a:fld>
            <a:endParaRPr lang="en-US"/>
          </a:p>
        </p:txBody>
      </p:sp>
    </p:spTree>
    <p:extLst>
      <p:ext uri="{BB962C8B-B14F-4D97-AF65-F5344CB8AC3E}">
        <p14:creationId xmlns:p14="http://schemas.microsoft.com/office/powerpoint/2010/main" val="32164722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D90B0-12D8-C29E-0147-B3B7ADE858D5}"/>
              </a:ext>
            </a:extLst>
          </p:cNvPr>
          <p:cNvSpPr>
            <a:spLocks noGrp="1"/>
          </p:cNvSpPr>
          <p:nvPr>
            <p:ph type="title"/>
          </p:nvPr>
        </p:nvSpPr>
        <p:spPr/>
        <p:txBody>
          <a:bodyPr/>
          <a:lstStyle/>
          <a:p>
            <a:r>
              <a:rPr lang="en-US"/>
              <a:t>Needs</a:t>
            </a:r>
          </a:p>
        </p:txBody>
      </p:sp>
      <p:sp>
        <p:nvSpPr>
          <p:cNvPr id="3" name="Content Placeholder 2">
            <a:extLst>
              <a:ext uri="{FF2B5EF4-FFF2-40B4-BE49-F238E27FC236}">
                <a16:creationId xmlns:a16="http://schemas.microsoft.com/office/drawing/2014/main" id="{326BB910-68E5-1A1D-11CA-4FE29E2205CF}"/>
              </a:ext>
            </a:extLst>
          </p:cNvPr>
          <p:cNvSpPr>
            <a:spLocks noGrp="1"/>
          </p:cNvSpPr>
          <p:nvPr>
            <p:ph idx="1"/>
          </p:nvPr>
        </p:nvSpPr>
        <p:spPr/>
        <p:txBody>
          <a:bodyPr/>
          <a:lstStyle/>
          <a:p>
            <a:r>
              <a:rPr lang="en-US"/>
              <a:t>Keep production accurate, traceable and fully accountable</a:t>
            </a:r>
          </a:p>
          <a:p>
            <a:r>
              <a:rPr lang="en-US"/>
              <a:t>Manual tracking often leads to mistakes</a:t>
            </a:r>
          </a:p>
          <a:p>
            <a:r>
              <a:rPr lang="en-US"/>
              <a:t>Strict data protection rules makes it difficult to use cloud</a:t>
            </a:r>
          </a:p>
          <a:p>
            <a:r>
              <a:rPr lang="en-US"/>
              <a:t>Companies need solutions that run on-premises</a:t>
            </a:r>
          </a:p>
        </p:txBody>
      </p:sp>
      <p:sp>
        <p:nvSpPr>
          <p:cNvPr id="4" name="Slide Number Placeholder 3">
            <a:extLst>
              <a:ext uri="{FF2B5EF4-FFF2-40B4-BE49-F238E27FC236}">
                <a16:creationId xmlns:a16="http://schemas.microsoft.com/office/drawing/2014/main" id="{409F2B06-47F2-0E22-79AF-203A5C805C14}"/>
              </a:ext>
            </a:extLst>
          </p:cNvPr>
          <p:cNvSpPr>
            <a:spLocks noGrp="1"/>
          </p:cNvSpPr>
          <p:nvPr>
            <p:ph type="sldNum" sz="quarter" idx="12"/>
          </p:nvPr>
        </p:nvSpPr>
        <p:spPr/>
        <p:txBody>
          <a:bodyPr/>
          <a:lstStyle/>
          <a:p>
            <a:fld id="{D57F1E4F-1CFF-5643-939E-02111984F565}" type="slidenum">
              <a:rPr lang="en-US" smtClean="0"/>
              <a:t>5</a:t>
            </a:fld>
            <a:endParaRPr lang="en-US"/>
          </a:p>
        </p:txBody>
      </p:sp>
    </p:spTree>
    <p:extLst>
      <p:ext uri="{BB962C8B-B14F-4D97-AF65-F5344CB8AC3E}">
        <p14:creationId xmlns:p14="http://schemas.microsoft.com/office/powerpoint/2010/main" val="7191268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BEB1F-64C2-31E2-C5AC-AB0A57E71ADC}"/>
              </a:ext>
            </a:extLst>
          </p:cNvPr>
          <p:cNvSpPr>
            <a:spLocks noGrp="1"/>
          </p:cNvSpPr>
          <p:nvPr>
            <p:ph type="title"/>
          </p:nvPr>
        </p:nvSpPr>
        <p:spPr/>
        <p:txBody>
          <a:bodyPr/>
          <a:lstStyle/>
          <a:p>
            <a:r>
              <a:rPr lang="en-US"/>
              <a:t>Objectives</a:t>
            </a:r>
          </a:p>
        </p:txBody>
      </p:sp>
      <p:sp>
        <p:nvSpPr>
          <p:cNvPr id="3" name="Content Placeholder 2">
            <a:extLst>
              <a:ext uri="{FF2B5EF4-FFF2-40B4-BE49-F238E27FC236}">
                <a16:creationId xmlns:a16="http://schemas.microsoft.com/office/drawing/2014/main" id="{D7FDDD0C-D4F7-101C-A2C4-4E212F96865D}"/>
              </a:ext>
            </a:extLst>
          </p:cNvPr>
          <p:cNvSpPr>
            <a:spLocks noGrp="1"/>
          </p:cNvSpPr>
          <p:nvPr>
            <p:ph idx="1"/>
          </p:nvPr>
        </p:nvSpPr>
        <p:spPr/>
        <p:txBody>
          <a:bodyPr/>
          <a:lstStyle/>
          <a:p>
            <a:r>
              <a:rPr lang="en-US"/>
              <a:t>Develop a computer vision system for QR detection and process verification</a:t>
            </a:r>
          </a:p>
          <a:p>
            <a:pPr lvl="1"/>
            <a:r>
              <a:rPr lang="en-US"/>
              <a:t>Operate on local systems</a:t>
            </a:r>
          </a:p>
          <a:p>
            <a:pPr lvl="1"/>
            <a:r>
              <a:rPr lang="en-US"/>
              <a:t>Enhance workflow efficiency</a:t>
            </a:r>
          </a:p>
          <a:p>
            <a:r>
              <a:rPr lang="en-US"/>
              <a:t>QR code detection</a:t>
            </a:r>
          </a:p>
          <a:p>
            <a:pPr lvl="1"/>
            <a:r>
              <a:rPr lang="en-US"/>
              <a:t>Automatically detect and extract data</a:t>
            </a:r>
          </a:p>
          <a:p>
            <a:pPr lvl="1"/>
            <a:r>
              <a:rPr lang="en-US"/>
              <a:t>Removes the need for manual scanning</a:t>
            </a:r>
          </a:p>
          <a:p>
            <a:r>
              <a:rPr lang="en-US"/>
              <a:t>Process Verification</a:t>
            </a:r>
          </a:p>
          <a:p>
            <a:pPr lvl="1"/>
            <a:r>
              <a:rPr lang="en-US"/>
              <a:t>Ensure each step is completed in the correct order</a:t>
            </a:r>
          </a:p>
          <a:p>
            <a:pPr lvl="1"/>
            <a:r>
              <a:rPr lang="en-US"/>
              <a:t>Alert supervisors about deviations</a:t>
            </a:r>
          </a:p>
        </p:txBody>
      </p:sp>
      <p:sp>
        <p:nvSpPr>
          <p:cNvPr id="4" name="Slide Number Placeholder 3">
            <a:extLst>
              <a:ext uri="{FF2B5EF4-FFF2-40B4-BE49-F238E27FC236}">
                <a16:creationId xmlns:a16="http://schemas.microsoft.com/office/drawing/2014/main" id="{27460CEB-ADCF-667A-93EE-9D8CA4A8403A}"/>
              </a:ext>
            </a:extLst>
          </p:cNvPr>
          <p:cNvSpPr>
            <a:spLocks noGrp="1"/>
          </p:cNvSpPr>
          <p:nvPr>
            <p:ph type="sldNum" sz="quarter" idx="12"/>
          </p:nvPr>
        </p:nvSpPr>
        <p:spPr/>
        <p:txBody>
          <a:bodyPr/>
          <a:lstStyle/>
          <a:p>
            <a:fld id="{D57F1E4F-1CFF-5643-939E-02111984F565}" type="slidenum">
              <a:rPr lang="en-US" smtClean="0"/>
              <a:t>6</a:t>
            </a:fld>
            <a:endParaRPr lang="en-US"/>
          </a:p>
        </p:txBody>
      </p:sp>
    </p:spTree>
    <p:extLst>
      <p:ext uri="{BB962C8B-B14F-4D97-AF65-F5344CB8AC3E}">
        <p14:creationId xmlns:p14="http://schemas.microsoft.com/office/powerpoint/2010/main" val="26415277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558E5-426C-ACBC-9D7F-487F5B4BCF78}"/>
              </a:ext>
            </a:extLst>
          </p:cNvPr>
          <p:cNvSpPr>
            <a:spLocks noGrp="1"/>
          </p:cNvSpPr>
          <p:nvPr>
            <p:ph type="title"/>
          </p:nvPr>
        </p:nvSpPr>
        <p:spPr/>
        <p:txBody>
          <a:bodyPr/>
          <a:lstStyle/>
          <a:p>
            <a:r>
              <a:rPr lang="en-US"/>
              <a:t>Broader Impact</a:t>
            </a:r>
          </a:p>
        </p:txBody>
      </p:sp>
      <p:sp>
        <p:nvSpPr>
          <p:cNvPr id="3" name="Content Placeholder 2">
            <a:extLst>
              <a:ext uri="{FF2B5EF4-FFF2-40B4-BE49-F238E27FC236}">
                <a16:creationId xmlns:a16="http://schemas.microsoft.com/office/drawing/2014/main" id="{87F20389-D0AE-FFA9-E2A3-93804BED60C2}"/>
              </a:ext>
            </a:extLst>
          </p:cNvPr>
          <p:cNvSpPr>
            <a:spLocks noGrp="1"/>
          </p:cNvSpPr>
          <p:nvPr>
            <p:ph idx="1"/>
          </p:nvPr>
        </p:nvSpPr>
        <p:spPr/>
        <p:txBody>
          <a:bodyPr vert="horz" lIns="91440" tIns="45720" rIns="91440" bIns="45720" rtlCol="0" anchor="t">
            <a:normAutofit/>
          </a:bodyPr>
          <a:lstStyle/>
          <a:p>
            <a:r>
              <a:rPr lang="en-US"/>
              <a:t>Enables on-premises semantic AI</a:t>
            </a:r>
          </a:p>
          <a:p>
            <a:pPr>
              <a:buClr>
                <a:srgbClr val="8AD0D6"/>
              </a:buClr>
            </a:pPr>
            <a:r>
              <a:rPr lang="en-US"/>
              <a:t>Potential benefits:</a:t>
            </a:r>
          </a:p>
          <a:p>
            <a:pPr lvl="1">
              <a:buClr>
                <a:srgbClr val="8AD0D6"/>
              </a:buClr>
              <a:buFont typeface="Courier New" charset="2"/>
              <a:buChar char="o"/>
            </a:pPr>
            <a:r>
              <a:rPr lang="en-US"/>
              <a:t>Real-time safety monitoring</a:t>
            </a:r>
          </a:p>
          <a:p>
            <a:pPr lvl="1">
              <a:buClr>
                <a:srgbClr val="8AD0D6"/>
              </a:buClr>
              <a:buFont typeface="Courier New" charset="2"/>
              <a:buChar char="o"/>
            </a:pPr>
            <a:r>
              <a:rPr lang="en-US"/>
              <a:t>Training feedback for operators</a:t>
            </a:r>
          </a:p>
          <a:p>
            <a:pPr lvl="1">
              <a:buClr>
                <a:srgbClr val="8AD0D6"/>
              </a:buClr>
              <a:buFont typeface="Courier New" charset="2"/>
              <a:buChar char="o"/>
            </a:pPr>
            <a:r>
              <a:rPr lang="en-US"/>
              <a:t>Automated auditing and process validation</a:t>
            </a:r>
          </a:p>
          <a:p>
            <a:pPr>
              <a:buClr>
                <a:srgbClr val="8AD0D6"/>
              </a:buClr>
            </a:pPr>
            <a:r>
              <a:rPr lang="en-US"/>
              <a:t>Promotes data privacy, compliance, and ownership while modernizing workflows</a:t>
            </a:r>
          </a:p>
        </p:txBody>
      </p:sp>
      <p:sp>
        <p:nvSpPr>
          <p:cNvPr id="4" name="Slide Number Placeholder 3">
            <a:extLst>
              <a:ext uri="{FF2B5EF4-FFF2-40B4-BE49-F238E27FC236}">
                <a16:creationId xmlns:a16="http://schemas.microsoft.com/office/drawing/2014/main" id="{E8229F25-0C26-EAFB-59C1-08D8DEF99091}"/>
              </a:ext>
            </a:extLst>
          </p:cNvPr>
          <p:cNvSpPr>
            <a:spLocks noGrp="1"/>
          </p:cNvSpPr>
          <p:nvPr>
            <p:ph type="sldNum" sz="quarter" idx="12"/>
          </p:nvPr>
        </p:nvSpPr>
        <p:spPr/>
        <p:txBody>
          <a:bodyPr/>
          <a:lstStyle/>
          <a:p>
            <a:fld id="{D57F1E4F-1CFF-5643-939E-02111984F565}" type="slidenum">
              <a:rPr lang="en-US" dirty="0"/>
              <a:t>7</a:t>
            </a:fld>
            <a:endParaRPr lang="en-US"/>
          </a:p>
        </p:txBody>
      </p:sp>
    </p:spTree>
    <p:extLst>
      <p:ext uri="{BB962C8B-B14F-4D97-AF65-F5344CB8AC3E}">
        <p14:creationId xmlns:p14="http://schemas.microsoft.com/office/powerpoint/2010/main" val="16843658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4AAD3FD-83A5-4B89-9F8F-01B887086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281FFA9-9A7E-F0BC-5A1E-F2B3B6990BF9}"/>
              </a:ext>
            </a:extLst>
          </p:cNvPr>
          <p:cNvSpPr>
            <a:spLocks noGrp="1"/>
          </p:cNvSpPr>
          <p:nvPr>
            <p:ph type="title"/>
          </p:nvPr>
        </p:nvSpPr>
        <p:spPr>
          <a:xfrm>
            <a:off x="648931" y="629266"/>
            <a:ext cx="4166510" cy="1622321"/>
          </a:xfrm>
        </p:spPr>
        <p:txBody>
          <a:bodyPr>
            <a:normAutofit/>
          </a:bodyPr>
          <a:lstStyle/>
          <a:p>
            <a:r>
              <a:rPr lang="en-US">
                <a:solidFill>
                  <a:srgbClr val="EBEBEB"/>
                </a:solidFill>
              </a:rPr>
              <a:t>Where Are We?</a:t>
            </a:r>
          </a:p>
        </p:txBody>
      </p:sp>
      <p:sp>
        <p:nvSpPr>
          <p:cNvPr id="12" name="Freeform 31">
            <a:extLst>
              <a:ext uri="{FF2B5EF4-FFF2-40B4-BE49-F238E27FC236}">
                <a16:creationId xmlns:a16="http://schemas.microsoft.com/office/drawing/2014/main" id="{61752F1D-FC0F-4103-9584-630E643CCD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14" name="Freeform: Shape 13">
            <a:extLst>
              <a:ext uri="{FF2B5EF4-FFF2-40B4-BE49-F238E27FC236}">
                <a16:creationId xmlns:a16="http://schemas.microsoft.com/office/drawing/2014/main" id="{70151CB7-E7DE-4917-B831-01DF9CE013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270819" y="-63600"/>
            <a:ext cx="6858001" cy="69852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6772 h 6985200"/>
              <a:gd name="connsiteX6" fmla="*/ 1 w 6858001"/>
              <a:gd name="connsiteY6" fmla="*/ 886772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6772"/>
                </a:lnTo>
                <a:lnTo>
                  <a:pt x="1" y="886772"/>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en-US"/>
          </a:p>
        </p:txBody>
      </p:sp>
      <p:pic>
        <p:nvPicPr>
          <p:cNvPr id="5" name="Picture 4" descr="A diagram of a project&#10;&#10;AI-generated content may be incorrect.">
            <a:extLst>
              <a:ext uri="{FF2B5EF4-FFF2-40B4-BE49-F238E27FC236}">
                <a16:creationId xmlns:a16="http://schemas.microsoft.com/office/drawing/2014/main" id="{1FBB078B-AFDD-1DBC-7F50-4594DA70116E}"/>
              </a:ext>
            </a:extLst>
          </p:cNvPr>
          <p:cNvPicPr>
            <a:picLocks noChangeAspect="1"/>
          </p:cNvPicPr>
          <p:nvPr/>
        </p:nvPicPr>
        <p:blipFill>
          <a:blip r:embed="rId3"/>
          <a:stretch>
            <a:fillRect/>
          </a:stretch>
        </p:blipFill>
        <p:spPr>
          <a:xfrm>
            <a:off x="6093992" y="1766783"/>
            <a:ext cx="5449889" cy="3324431"/>
          </a:xfrm>
          <a:prstGeom prst="rect">
            <a:avLst/>
          </a:prstGeom>
          <a:effectLst/>
        </p:spPr>
      </p:pic>
      <p:sp>
        <p:nvSpPr>
          <p:cNvPr id="16" name="Rectangle 15">
            <a:extLst>
              <a:ext uri="{FF2B5EF4-FFF2-40B4-BE49-F238E27FC236}">
                <a16:creationId xmlns:a16="http://schemas.microsoft.com/office/drawing/2014/main" id="{A92A1116-1C84-41DF-B803-1F7B0883EC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Slide Number Placeholder 3">
            <a:extLst>
              <a:ext uri="{FF2B5EF4-FFF2-40B4-BE49-F238E27FC236}">
                <a16:creationId xmlns:a16="http://schemas.microsoft.com/office/drawing/2014/main" id="{544AF258-72C7-B237-4031-15132B9DFA87}"/>
              </a:ext>
            </a:extLst>
          </p:cNvPr>
          <p:cNvSpPr>
            <a:spLocks noGrp="1"/>
          </p:cNvSpPr>
          <p:nvPr>
            <p:ph type="sldNum" sz="quarter" idx="12"/>
          </p:nvPr>
        </p:nvSpPr>
        <p:spPr>
          <a:xfrm>
            <a:off x="10352540" y="295729"/>
            <a:ext cx="838199" cy="767687"/>
          </a:xfrm>
        </p:spPr>
        <p:txBody>
          <a:bodyPr>
            <a:normAutofit/>
          </a:bodyPr>
          <a:lstStyle/>
          <a:p>
            <a:pPr>
              <a:spcAft>
                <a:spcPts val="600"/>
              </a:spcAft>
            </a:pPr>
            <a:fld id="{D57F1E4F-1CFF-5643-939E-02111984F565}" type="slidenum">
              <a:rPr lang="en-US">
                <a:solidFill>
                  <a:srgbClr val="FFFFFF"/>
                </a:solidFill>
              </a:rPr>
              <a:pPr>
                <a:spcAft>
                  <a:spcPts val="600"/>
                </a:spcAft>
              </a:pPr>
              <a:t>8</a:t>
            </a:fld>
            <a:endParaRPr lang="en-US">
              <a:solidFill>
                <a:srgbClr val="FFFFFF"/>
              </a:solidFill>
            </a:endParaRPr>
          </a:p>
        </p:txBody>
      </p:sp>
      <p:sp>
        <p:nvSpPr>
          <p:cNvPr id="3" name="Content Placeholder 2">
            <a:extLst>
              <a:ext uri="{FF2B5EF4-FFF2-40B4-BE49-F238E27FC236}">
                <a16:creationId xmlns:a16="http://schemas.microsoft.com/office/drawing/2014/main" id="{844E6A4D-4DFA-4C32-12F4-9A07DED4B447}"/>
              </a:ext>
            </a:extLst>
          </p:cNvPr>
          <p:cNvSpPr>
            <a:spLocks noGrp="1"/>
          </p:cNvSpPr>
          <p:nvPr>
            <p:ph idx="1"/>
          </p:nvPr>
        </p:nvSpPr>
        <p:spPr>
          <a:xfrm>
            <a:off x="648931" y="2438400"/>
            <a:ext cx="4166509" cy="3785419"/>
          </a:xfrm>
        </p:spPr>
        <p:txBody>
          <a:bodyPr vert="horz" lIns="91440" tIns="45720" rIns="91440" bIns="45720" rtlCol="0" anchor="t">
            <a:normAutofit/>
          </a:bodyPr>
          <a:lstStyle/>
          <a:p>
            <a:pPr>
              <a:buClr>
                <a:srgbClr val="8AD0D6"/>
              </a:buClr>
            </a:pPr>
            <a:r>
              <a:rPr lang="en-US">
                <a:solidFill>
                  <a:srgbClr val="EBEBEB"/>
                </a:solidFill>
              </a:rPr>
              <a:t>Just finished sprint 2</a:t>
            </a:r>
          </a:p>
          <a:p>
            <a:pPr lvl="1">
              <a:buClr>
                <a:srgbClr val="8AD0D6"/>
              </a:buClr>
              <a:buFont typeface="Courier New" charset="2"/>
              <a:buChar char="o"/>
            </a:pPr>
            <a:r>
              <a:rPr lang="en-US">
                <a:solidFill>
                  <a:srgbClr val="EBEBEB"/>
                </a:solidFill>
              </a:rPr>
              <a:t>Weekly meetings still occurring</a:t>
            </a:r>
          </a:p>
          <a:p>
            <a:pPr lvl="1">
              <a:buClr>
                <a:srgbClr val="8AD0D6"/>
              </a:buClr>
              <a:buFont typeface="Courier New" charset="2"/>
              <a:buChar char="o"/>
            </a:pPr>
            <a:r>
              <a:rPr lang="en-US">
                <a:solidFill>
                  <a:srgbClr val="EBEBEB"/>
                </a:solidFill>
              </a:rPr>
              <a:t>Implementing QR scanning</a:t>
            </a:r>
          </a:p>
          <a:p>
            <a:pPr lvl="1">
              <a:buClr>
                <a:srgbClr val="8AD0D6"/>
              </a:buClr>
              <a:buFont typeface="Courier New" charset="2"/>
              <a:buChar char="o"/>
            </a:pPr>
            <a:endParaRPr lang="en-US">
              <a:solidFill>
                <a:srgbClr val="EBEBEB"/>
              </a:solidFill>
            </a:endParaRPr>
          </a:p>
        </p:txBody>
      </p:sp>
    </p:spTree>
    <p:extLst>
      <p:ext uri="{BB962C8B-B14F-4D97-AF65-F5344CB8AC3E}">
        <p14:creationId xmlns:p14="http://schemas.microsoft.com/office/powerpoint/2010/main" val="3679178099"/>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F8B72-D4CE-24DA-B4B3-54143C7830BB}"/>
              </a:ext>
            </a:extLst>
          </p:cNvPr>
          <p:cNvSpPr>
            <a:spLocks noGrp="1"/>
          </p:cNvSpPr>
          <p:nvPr>
            <p:ph type="title"/>
          </p:nvPr>
        </p:nvSpPr>
        <p:spPr/>
        <p:txBody>
          <a:bodyPr/>
          <a:lstStyle/>
          <a:p>
            <a:r>
              <a:rPr lang="en-US"/>
              <a:t>Changes</a:t>
            </a:r>
          </a:p>
        </p:txBody>
      </p:sp>
      <p:sp>
        <p:nvSpPr>
          <p:cNvPr id="3" name="Content Placeholder 2">
            <a:extLst>
              <a:ext uri="{FF2B5EF4-FFF2-40B4-BE49-F238E27FC236}">
                <a16:creationId xmlns:a16="http://schemas.microsoft.com/office/drawing/2014/main" id="{2E04DC12-D26C-D5EA-4A41-63475DF4FEED}"/>
              </a:ext>
            </a:extLst>
          </p:cNvPr>
          <p:cNvSpPr>
            <a:spLocks noGrp="1"/>
          </p:cNvSpPr>
          <p:nvPr>
            <p:ph idx="1"/>
          </p:nvPr>
        </p:nvSpPr>
        <p:spPr/>
        <p:txBody>
          <a:bodyPr/>
          <a:lstStyle/>
          <a:p>
            <a:r>
              <a:rPr lang="en-US"/>
              <a:t>Changed all requirements to remove mentions of “barcode”</a:t>
            </a:r>
          </a:p>
          <a:p>
            <a:r>
              <a:rPr lang="en-US"/>
              <a:t>Fixed use case diagram</a:t>
            </a:r>
          </a:p>
          <a:p>
            <a:r>
              <a:rPr lang="en-US"/>
              <a:t>Updated some requirements to make them testable</a:t>
            </a:r>
          </a:p>
        </p:txBody>
      </p:sp>
      <p:sp>
        <p:nvSpPr>
          <p:cNvPr id="4" name="Slide Number Placeholder 3">
            <a:extLst>
              <a:ext uri="{FF2B5EF4-FFF2-40B4-BE49-F238E27FC236}">
                <a16:creationId xmlns:a16="http://schemas.microsoft.com/office/drawing/2014/main" id="{5B60574B-D5DD-116D-EAF6-D075E0298B64}"/>
              </a:ext>
            </a:extLst>
          </p:cNvPr>
          <p:cNvSpPr>
            <a:spLocks noGrp="1"/>
          </p:cNvSpPr>
          <p:nvPr>
            <p:ph type="sldNum" sz="quarter" idx="12"/>
          </p:nvPr>
        </p:nvSpPr>
        <p:spPr/>
        <p:txBody>
          <a:bodyPr/>
          <a:lstStyle/>
          <a:p>
            <a:fld id="{D57F1E4F-1CFF-5643-939E-02111984F565}" type="slidenum">
              <a:rPr lang="en-US" smtClean="0"/>
              <a:t>9</a:t>
            </a:fld>
            <a:endParaRPr lang="en-US"/>
          </a:p>
        </p:txBody>
      </p:sp>
    </p:spTree>
    <p:extLst>
      <p:ext uri="{BB962C8B-B14F-4D97-AF65-F5344CB8AC3E}">
        <p14:creationId xmlns:p14="http://schemas.microsoft.com/office/powerpoint/2010/main" val="14805971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6BE776-7932-77B6-F3E4-83750E8307B0}"/>
              </a:ext>
            </a:extLst>
          </p:cNvPr>
          <p:cNvSpPr>
            <a:spLocks noGrp="1"/>
          </p:cNvSpPr>
          <p:nvPr>
            <p:ph type="title"/>
          </p:nvPr>
        </p:nvSpPr>
        <p:spPr/>
        <p:txBody>
          <a:bodyPr/>
          <a:lstStyle/>
          <a:p>
            <a:r>
              <a:rPr lang="en-US"/>
              <a:t>What’s New?</a:t>
            </a:r>
          </a:p>
        </p:txBody>
      </p:sp>
      <p:sp>
        <p:nvSpPr>
          <p:cNvPr id="3" name="Content Placeholder 2">
            <a:extLst>
              <a:ext uri="{FF2B5EF4-FFF2-40B4-BE49-F238E27FC236}">
                <a16:creationId xmlns:a16="http://schemas.microsoft.com/office/drawing/2014/main" id="{50657587-FD6F-08A9-99CC-7868A3BED481}"/>
              </a:ext>
            </a:extLst>
          </p:cNvPr>
          <p:cNvSpPr>
            <a:spLocks noGrp="1"/>
          </p:cNvSpPr>
          <p:nvPr>
            <p:ph idx="1"/>
          </p:nvPr>
        </p:nvSpPr>
        <p:spPr/>
        <p:txBody>
          <a:bodyPr/>
          <a:lstStyle/>
          <a:p>
            <a:r>
              <a:rPr lang="en-US"/>
              <a:t>Focusing on QR code scanning</a:t>
            </a:r>
          </a:p>
          <a:p>
            <a:pPr lvl="1"/>
            <a:r>
              <a:rPr lang="en-US"/>
              <a:t>Step tracking will be handled once QR is done</a:t>
            </a:r>
          </a:p>
          <a:p>
            <a:r>
              <a:rPr lang="en-US"/>
              <a:t>Tour of facility</a:t>
            </a:r>
          </a:p>
          <a:p>
            <a:pPr lvl="1"/>
            <a:r>
              <a:rPr lang="en-US"/>
              <a:t>Broadened our scope</a:t>
            </a:r>
          </a:p>
          <a:p>
            <a:pPr lvl="1"/>
            <a:r>
              <a:rPr lang="en-US"/>
              <a:t>Gave a good understanding</a:t>
            </a:r>
          </a:p>
        </p:txBody>
      </p:sp>
      <p:sp>
        <p:nvSpPr>
          <p:cNvPr id="4" name="Slide Number Placeholder 3">
            <a:extLst>
              <a:ext uri="{FF2B5EF4-FFF2-40B4-BE49-F238E27FC236}">
                <a16:creationId xmlns:a16="http://schemas.microsoft.com/office/drawing/2014/main" id="{F0B09631-F597-85E6-8683-E0488F5B697F}"/>
              </a:ext>
            </a:extLst>
          </p:cNvPr>
          <p:cNvSpPr>
            <a:spLocks noGrp="1"/>
          </p:cNvSpPr>
          <p:nvPr>
            <p:ph type="sldNum" sz="quarter" idx="12"/>
          </p:nvPr>
        </p:nvSpPr>
        <p:spPr/>
        <p:txBody>
          <a:bodyPr/>
          <a:lstStyle/>
          <a:p>
            <a:fld id="{D57F1E4F-1CFF-5643-939E-02111984F565}" type="slidenum">
              <a:rPr lang="en-US" smtClean="0"/>
              <a:t>10</a:t>
            </a:fld>
            <a:endParaRPr lang="en-US"/>
          </a:p>
        </p:txBody>
      </p:sp>
    </p:spTree>
    <p:extLst>
      <p:ext uri="{BB962C8B-B14F-4D97-AF65-F5344CB8AC3E}">
        <p14:creationId xmlns:p14="http://schemas.microsoft.com/office/powerpoint/2010/main" val="3696225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F2383-4D42-1F68-29FE-DE778A0981AC}"/>
              </a:ext>
            </a:extLst>
          </p:cNvPr>
          <p:cNvSpPr>
            <a:spLocks noGrp="1"/>
          </p:cNvSpPr>
          <p:nvPr>
            <p:ph type="title"/>
          </p:nvPr>
        </p:nvSpPr>
        <p:spPr/>
        <p:txBody>
          <a:bodyPr/>
          <a:lstStyle/>
          <a:p>
            <a:r>
              <a:rPr lang="en-US"/>
              <a:t>Use case diagram</a:t>
            </a:r>
          </a:p>
        </p:txBody>
      </p:sp>
      <p:pic>
        <p:nvPicPr>
          <p:cNvPr id="5" name="Content Placeholder 4">
            <a:extLst>
              <a:ext uri="{FF2B5EF4-FFF2-40B4-BE49-F238E27FC236}">
                <a16:creationId xmlns:a16="http://schemas.microsoft.com/office/drawing/2014/main" id="{35AE3C43-78BE-B5F6-FAB9-585124112B18}"/>
              </a:ext>
            </a:extLst>
          </p:cNvPr>
          <p:cNvPicPr>
            <a:picLocks noGrp="1" noChangeAspect="1"/>
          </p:cNvPicPr>
          <p:nvPr>
            <p:ph idx="1"/>
          </p:nvPr>
        </p:nvPicPr>
        <p:blipFill>
          <a:blip r:embed="rId3"/>
          <a:stretch>
            <a:fillRect/>
          </a:stretch>
        </p:blipFill>
        <p:spPr>
          <a:xfrm>
            <a:off x="2323328" y="1394086"/>
            <a:ext cx="6768206" cy="4921770"/>
          </a:xfrm>
          <a:prstGeom prst="rect">
            <a:avLst/>
          </a:prstGeom>
        </p:spPr>
      </p:pic>
      <p:sp>
        <p:nvSpPr>
          <p:cNvPr id="4" name="Slide Number Placeholder 3">
            <a:extLst>
              <a:ext uri="{FF2B5EF4-FFF2-40B4-BE49-F238E27FC236}">
                <a16:creationId xmlns:a16="http://schemas.microsoft.com/office/drawing/2014/main" id="{561C873C-FEAD-31F7-833E-02F79BEA7C54}"/>
              </a:ext>
            </a:extLst>
          </p:cNvPr>
          <p:cNvSpPr>
            <a:spLocks noGrp="1"/>
          </p:cNvSpPr>
          <p:nvPr>
            <p:ph type="sldNum" sz="quarter" idx="12"/>
          </p:nvPr>
        </p:nvSpPr>
        <p:spPr/>
        <p:txBody>
          <a:bodyPr/>
          <a:lstStyle/>
          <a:p>
            <a:fld id="{D57F1E4F-1CFF-5643-939E-02111984F565}" type="slidenum">
              <a:rPr lang="en-US" smtClean="0"/>
              <a:t>11</a:t>
            </a:fld>
            <a:endParaRPr lang="en-US"/>
          </a:p>
        </p:txBody>
      </p:sp>
    </p:spTree>
    <p:extLst>
      <p:ext uri="{BB962C8B-B14F-4D97-AF65-F5344CB8AC3E}">
        <p14:creationId xmlns:p14="http://schemas.microsoft.com/office/powerpoint/2010/main" val="22750282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8871E3-A58B-E525-1090-7E305F8427EE}"/>
              </a:ext>
            </a:extLst>
          </p:cNvPr>
          <p:cNvSpPr>
            <a:spLocks noGrp="1"/>
          </p:cNvSpPr>
          <p:nvPr>
            <p:ph type="title"/>
          </p:nvPr>
        </p:nvSpPr>
        <p:spPr/>
        <p:txBody>
          <a:bodyPr/>
          <a:lstStyle/>
          <a:p>
            <a:r>
              <a:rPr lang="en-US"/>
              <a:t>System Requirements</a:t>
            </a:r>
          </a:p>
        </p:txBody>
      </p:sp>
      <p:sp>
        <p:nvSpPr>
          <p:cNvPr id="4" name="Slide Number Placeholder 3">
            <a:extLst>
              <a:ext uri="{FF2B5EF4-FFF2-40B4-BE49-F238E27FC236}">
                <a16:creationId xmlns:a16="http://schemas.microsoft.com/office/drawing/2014/main" id="{E104CEBC-F190-9EEA-2EF3-6AA586B4E098}"/>
              </a:ext>
            </a:extLst>
          </p:cNvPr>
          <p:cNvSpPr>
            <a:spLocks noGrp="1"/>
          </p:cNvSpPr>
          <p:nvPr>
            <p:ph type="sldNum" sz="quarter" idx="12"/>
          </p:nvPr>
        </p:nvSpPr>
        <p:spPr/>
        <p:txBody>
          <a:bodyPr/>
          <a:lstStyle/>
          <a:p>
            <a:fld id="{D57F1E4F-1CFF-5643-939E-02111984F565}" type="slidenum">
              <a:rPr lang="en-US" smtClean="0"/>
              <a:t>12</a:t>
            </a:fld>
            <a:endParaRPr lang="en-US"/>
          </a:p>
        </p:txBody>
      </p:sp>
      <p:pic>
        <p:nvPicPr>
          <p:cNvPr id="13" name="Picture 12">
            <a:extLst>
              <a:ext uri="{FF2B5EF4-FFF2-40B4-BE49-F238E27FC236}">
                <a16:creationId xmlns:a16="http://schemas.microsoft.com/office/drawing/2014/main" id="{438667FC-010B-358F-86B2-C31BD867970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55750" y="2426520"/>
            <a:ext cx="4484825" cy="2578233"/>
          </a:xfrm>
          <a:prstGeom prst="rect">
            <a:avLst/>
          </a:prstGeom>
        </p:spPr>
      </p:pic>
      <p:pic>
        <p:nvPicPr>
          <p:cNvPr id="15" name="Picture 14">
            <a:extLst>
              <a:ext uri="{FF2B5EF4-FFF2-40B4-BE49-F238E27FC236}">
                <a16:creationId xmlns:a16="http://schemas.microsoft.com/office/drawing/2014/main" id="{2AF51114-805F-0B70-8259-5447D4E43B7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756644" y="1357779"/>
            <a:ext cx="4993201" cy="2768742"/>
          </a:xfrm>
          <a:prstGeom prst="rect">
            <a:avLst/>
          </a:prstGeom>
        </p:spPr>
      </p:pic>
      <p:pic>
        <p:nvPicPr>
          <p:cNvPr id="17" name="Picture 16">
            <a:extLst>
              <a:ext uri="{FF2B5EF4-FFF2-40B4-BE49-F238E27FC236}">
                <a16:creationId xmlns:a16="http://schemas.microsoft.com/office/drawing/2014/main" id="{AAEE3381-1386-AC78-825A-E636B1CB0620}"/>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5756643" y="4192054"/>
            <a:ext cx="4993201" cy="2616334"/>
          </a:xfrm>
          <a:prstGeom prst="rect">
            <a:avLst/>
          </a:prstGeom>
        </p:spPr>
      </p:pic>
    </p:spTree>
    <p:extLst>
      <p:ext uri="{BB962C8B-B14F-4D97-AF65-F5344CB8AC3E}">
        <p14:creationId xmlns:p14="http://schemas.microsoft.com/office/powerpoint/2010/main" val="24412159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A15FB25B-08B7-AB50-9590-48916C84207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1B28F63-CF00-448F-B141-FE33C33B18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6" name="Picture 5">
            <a:extLst>
              <a:ext uri="{FF2B5EF4-FFF2-40B4-BE49-F238E27FC236}">
                <a16:creationId xmlns:a16="http://schemas.microsoft.com/office/drawing/2014/main" id="{2AE609E2-8522-44E4-9077-980E5BCF3E1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7" name="Oval 6">
            <a:extLst>
              <a:ext uri="{FF2B5EF4-FFF2-40B4-BE49-F238E27FC236}">
                <a16:creationId xmlns:a16="http://schemas.microsoft.com/office/drawing/2014/main" id="{4FA533C5-33E3-4611-AF9F-72811D8B26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9" name="Picture 8">
            <a:extLst>
              <a:ext uri="{FF2B5EF4-FFF2-40B4-BE49-F238E27FC236}">
                <a16:creationId xmlns:a16="http://schemas.microsoft.com/office/drawing/2014/main" id="{8949AD42-25FD-4C3D-9EEE-B7FEC580998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1" name="Picture 10">
            <a:extLst>
              <a:ext uri="{FF2B5EF4-FFF2-40B4-BE49-F238E27FC236}">
                <a16:creationId xmlns:a16="http://schemas.microsoft.com/office/drawing/2014/main" id="{6AC7D913-60B7-4603-881B-831DA5D3A94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7">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3" name="Rectangle 12">
            <a:extLst>
              <a:ext uri="{FF2B5EF4-FFF2-40B4-BE49-F238E27FC236}">
                <a16:creationId xmlns:a16="http://schemas.microsoft.com/office/drawing/2014/main" id="{87F0FDC4-AD8C-47D9-9131-623C98ADB0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15" name="Rectangle 14">
            <a:extLst>
              <a:ext uri="{FF2B5EF4-FFF2-40B4-BE49-F238E27FC236}">
                <a16:creationId xmlns:a16="http://schemas.microsoft.com/office/drawing/2014/main" id="{E6A222EB-A81E-4238-B08D-AAB1828C8E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E014676C-074B-475A-8346-9C901C86CB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Slide Number Placeholder 2">
            <a:extLst>
              <a:ext uri="{FF2B5EF4-FFF2-40B4-BE49-F238E27FC236}">
                <a16:creationId xmlns:a16="http://schemas.microsoft.com/office/drawing/2014/main" id="{B34983E2-CB8E-3102-422D-2F8912B7A365}"/>
              </a:ext>
            </a:extLst>
          </p:cNvPr>
          <p:cNvSpPr>
            <a:spLocks noGrp="1"/>
          </p:cNvSpPr>
          <p:nvPr>
            <p:ph type="sldNum" sz="quarter" idx="12"/>
          </p:nvPr>
        </p:nvSpPr>
        <p:spPr>
          <a:xfrm>
            <a:off x="10352540" y="295729"/>
            <a:ext cx="838199" cy="767687"/>
          </a:xfrm>
        </p:spPr>
        <p:txBody>
          <a:bodyPr vert="horz" lIns="91440" tIns="45720" rIns="91440" bIns="45720" rtlCol="0" anchor="b">
            <a:normAutofit/>
          </a:bodyPr>
          <a:lstStyle/>
          <a:p>
            <a:pPr defTabSz="457200">
              <a:spcAft>
                <a:spcPts val="600"/>
              </a:spcAft>
            </a:pPr>
            <a:fld id="{D57F1E4F-1CFF-5643-939E-02111984F565}" type="slidenum">
              <a:rPr lang="en-US" b="0" i="0" kern="1200">
                <a:solidFill>
                  <a:srgbClr val="FFFFFF"/>
                </a:solidFill>
                <a:latin typeface="+mn-lt"/>
                <a:ea typeface="+mn-ea"/>
                <a:cs typeface="+mn-cs"/>
              </a:rPr>
              <a:pPr defTabSz="457200">
                <a:spcAft>
                  <a:spcPts val="600"/>
                </a:spcAft>
              </a:pPr>
              <a:t>13</a:t>
            </a:fld>
            <a:endParaRPr lang="en-US" b="0" i="0" kern="1200">
              <a:solidFill>
                <a:srgbClr val="FFFFFF"/>
              </a:solidFill>
              <a:latin typeface="+mn-lt"/>
              <a:ea typeface="+mn-ea"/>
              <a:cs typeface="+mn-cs"/>
            </a:endParaRPr>
          </a:p>
        </p:txBody>
      </p:sp>
      <p:cxnSp>
        <p:nvCxnSpPr>
          <p:cNvPr id="19" name="Straight Connector 18">
            <a:extLst>
              <a:ext uri="{FF2B5EF4-FFF2-40B4-BE49-F238E27FC236}">
                <a16:creationId xmlns:a16="http://schemas.microsoft.com/office/drawing/2014/main" id="{179C4C8E-197B-4679-AE96-B5147F971C9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56687" y="1930986"/>
            <a:ext cx="0" cy="3200400"/>
          </a:xfrm>
          <a:prstGeom prst="line">
            <a:avLst/>
          </a:prstGeom>
          <a:ln w="15875" cap="sq">
            <a:solidFill>
              <a:schemeClr val="tx2">
                <a:alpha val="70000"/>
              </a:schemeClr>
            </a:solidFill>
            <a:miter lim="800000"/>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68D861FA-4618-65E8-AB27-8A9C0C0DE254}"/>
              </a:ext>
            </a:extLst>
          </p:cNvPr>
          <p:cNvSpPr>
            <a:spLocks noGrp="1"/>
          </p:cNvSpPr>
          <p:nvPr>
            <p:ph type="title"/>
          </p:nvPr>
        </p:nvSpPr>
        <p:spPr>
          <a:xfrm>
            <a:off x="4654295" y="1266958"/>
            <a:ext cx="6808362" cy="4528457"/>
          </a:xfrm>
        </p:spPr>
        <p:txBody>
          <a:bodyPr vert="horz" lIns="91440" tIns="45720" rIns="91440" bIns="45720" rtlCol="0" anchor="ctr">
            <a:normAutofit/>
          </a:bodyPr>
          <a:lstStyle/>
          <a:p>
            <a:r>
              <a:rPr lang="en-US" sz="7200"/>
              <a:t>Preliminary System Design</a:t>
            </a:r>
            <a:endParaRPr lang="en-US" sz="7200" b="0" i="0" kern="1200">
              <a:latin typeface="+mj-lt"/>
            </a:endParaRPr>
          </a:p>
        </p:txBody>
      </p:sp>
    </p:spTree>
    <p:extLst>
      <p:ext uri="{BB962C8B-B14F-4D97-AF65-F5344CB8AC3E}">
        <p14:creationId xmlns:p14="http://schemas.microsoft.com/office/powerpoint/2010/main" val="12433452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AE0E1AC-1CF0-6EEF-856E-AA39A1409B96}"/>
            </a:ext>
          </a:extLst>
        </p:cNvPr>
        <p:cNvGrpSpPr/>
        <p:nvPr/>
      </p:nvGrpSpPr>
      <p:grpSpPr>
        <a:xfrm>
          <a:off x="0" y="0"/>
          <a:ext cx="0" cy="0"/>
          <a:chOff x="0" y="0"/>
          <a:chExt cx="0" cy="0"/>
        </a:xfrm>
      </p:grpSpPr>
      <p:sp>
        <p:nvSpPr>
          <p:cNvPr id="66" name="Rectangle 65">
            <a:extLst>
              <a:ext uri="{FF2B5EF4-FFF2-40B4-BE49-F238E27FC236}">
                <a16:creationId xmlns:a16="http://schemas.microsoft.com/office/drawing/2014/main" id="{5F3FC718-FDE3-4EF7-921E-A5F374EAF8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C94AE06-9F3B-82BF-C3CF-0B00DF291EEE}"/>
              </a:ext>
            </a:extLst>
          </p:cNvPr>
          <p:cNvSpPr>
            <a:spLocks noGrp="1"/>
          </p:cNvSpPr>
          <p:nvPr>
            <p:ph type="title"/>
          </p:nvPr>
        </p:nvSpPr>
        <p:spPr>
          <a:xfrm>
            <a:off x="141612" y="81281"/>
            <a:ext cx="3108626" cy="1444752"/>
          </a:xfrm>
        </p:spPr>
        <p:txBody>
          <a:bodyPr vert="horz" lIns="91440" tIns="45720" rIns="91440" bIns="45720" rtlCol="0" anchor="b">
            <a:normAutofit/>
          </a:bodyPr>
          <a:lstStyle/>
          <a:p>
            <a:r>
              <a:rPr lang="en-US" sz="3200" b="0" i="0" kern="1200">
                <a:solidFill>
                  <a:srgbClr val="EBEBEB"/>
                </a:solidFill>
                <a:latin typeface="+mj-lt"/>
                <a:ea typeface="+mj-ea"/>
                <a:cs typeface="+mj-cs"/>
              </a:rPr>
              <a:t>Architectural Design</a:t>
            </a:r>
          </a:p>
        </p:txBody>
      </p:sp>
      <p:sp>
        <p:nvSpPr>
          <p:cNvPr id="68" name="Freeform 11">
            <a:extLst>
              <a:ext uri="{FF2B5EF4-FFF2-40B4-BE49-F238E27FC236}">
                <a16:creationId xmlns:a16="http://schemas.microsoft.com/office/drawing/2014/main" id="{FAA0F719-3DC8-4F08-AD8F-5A845658CB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4811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70" name="Freeform: Shape 69">
            <a:extLst>
              <a:ext uri="{FF2B5EF4-FFF2-40B4-BE49-F238E27FC236}">
                <a16:creationId xmlns:a16="http://schemas.microsoft.com/office/drawing/2014/main" id="{7DCB61BE-FA0F-4EFB-BE0E-268BAD8E30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4747655" y="-586345"/>
            <a:ext cx="6858001" cy="8030691"/>
          </a:xfrm>
          <a:custGeom>
            <a:avLst/>
            <a:gdLst>
              <a:gd name="connsiteX0" fmla="*/ 6858001 w 6858001"/>
              <a:gd name="connsiteY0" fmla="*/ 1177 h 8030691"/>
              <a:gd name="connsiteX1" fmla="*/ 6858001 w 6858001"/>
              <a:gd name="connsiteY1" fmla="*/ 1344715 h 8030691"/>
              <a:gd name="connsiteX2" fmla="*/ 6858000 w 6858001"/>
              <a:gd name="connsiteY2" fmla="*/ 1344715 h 8030691"/>
              <a:gd name="connsiteX3" fmla="*/ 6858000 w 6858001"/>
              <a:gd name="connsiteY3" fmla="*/ 8030691 h 8030691"/>
              <a:gd name="connsiteX4" fmla="*/ 0 w 6858001"/>
              <a:gd name="connsiteY4" fmla="*/ 8030690 h 8030691"/>
              <a:gd name="connsiteX5" fmla="*/ 0 w 6858001"/>
              <a:gd name="connsiteY5" fmla="*/ 477747 h 8030691"/>
              <a:gd name="connsiteX6" fmla="*/ 1 w 6858001"/>
              <a:gd name="connsiteY6" fmla="*/ 477747 h 8030691"/>
              <a:gd name="connsiteX7" fmla="*/ 1 w 6858001"/>
              <a:gd name="connsiteY7" fmla="*/ 0 h 8030691"/>
              <a:gd name="connsiteX8" fmla="*/ 40463 w 6858001"/>
              <a:gd name="connsiteY8" fmla="*/ 5883 h 8030691"/>
              <a:gd name="connsiteX9" fmla="*/ 159107 w 6858001"/>
              <a:gd name="connsiteY9" fmla="*/ 23196 h 8030691"/>
              <a:gd name="connsiteX10" fmla="*/ 245518 w 6858001"/>
              <a:gd name="connsiteY10" fmla="*/ 35299 h 8030691"/>
              <a:gd name="connsiteX11" fmla="*/ 348388 w 6858001"/>
              <a:gd name="connsiteY11" fmla="*/ 48074 h 8030691"/>
              <a:gd name="connsiteX12" fmla="*/ 470460 w 6858001"/>
              <a:gd name="connsiteY12" fmla="*/ 63370 h 8030691"/>
              <a:gd name="connsiteX13" fmla="*/ 605563 w 6858001"/>
              <a:gd name="connsiteY13" fmla="*/ 79507 h 8030691"/>
              <a:gd name="connsiteX14" fmla="*/ 757810 w 6858001"/>
              <a:gd name="connsiteY14" fmla="*/ 96484 h 8030691"/>
              <a:gd name="connsiteX15" fmla="*/ 923774 w 6858001"/>
              <a:gd name="connsiteY15" fmla="*/ 114469 h 8030691"/>
              <a:gd name="connsiteX16" fmla="*/ 1104139 w 6858001"/>
              <a:gd name="connsiteY16" fmla="*/ 132455 h 8030691"/>
              <a:gd name="connsiteX17" fmla="*/ 1296163 w 6858001"/>
              <a:gd name="connsiteY17" fmla="*/ 150776 h 8030691"/>
              <a:gd name="connsiteX18" fmla="*/ 1503275 w 6858001"/>
              <a:gd name="connsiteY18" fmla="*/ 167753 h 8030691"/>
              <a:gd name="connsiteX19" fmla="*/ 1719988 w 6858001"/>
              <a:gd name="connsiteY19" fmla="*/ 184058 h 8030691"/>
              <a:gd name="connsiteX20" fmla="*/ 1949045 w 6858001"/>
              <a:gd name="connsiteY20" fmla="*/ 198850 h 8030691"/>
              <a:gd name="connsiteX21" fmla="*/ 2187703 w 6858001"/>
              <a:gd name="connsiteY21" fmla="*/ 212969 h 8030691"/>
              <a:gd name="connsiteX22" fmla="*/ 2436649 w 6858001"/>
              <a:gd name="connsiteY22" fmla="*/ 226249 h 8030691"/>
              <a:gd name="connsiteX23" fmla="*/ 2564208 w 6858001"/>
              <a:gd name="connsiteY23" fmla="*/ 230955 h 8030691"/>
              <a:gd name="connsiteX24" fmla="*/ 2694509 w 6858001"/>
              <a:gd name="connsiteY24" fmla="*/ 236166 h 8030691"/>
              <a:gd name="connsiteX25" fmla="*/ 2826869 w 6858001"/>
              <a:gd name="connsiteY25" fmla="*/ 241040 h 8030691"/>
              <a:gd name="connsiteX26" fmla="*/ 2959914 w 6858001"/>
              <a:gd name="connsiteY26" fmla="*/ 244234 h 8030691"/>
              <a:gd name="connsiteX27" fmla="*/ 3095702 w 6858001"/>
              <a:gd name="connsiteY27" fmla="*/ 247092 h 8030691"/>
              <a:gd name="connsiteX28" fmla="*/ 3232862 w 6858001"/>
              <a:gd name="connsiteY28" fmla="*/ 250117 h 8030691"/>
              <a:gd name="connsiteX29" fmla="*/ 3372766 w 6858001"/>
              <a:gd name="connsiteY29" fmla="*/ 252134 h 8030691"/>
              <a:gd name="connsiteX30" fmla="*/ 3514040 w 6858001"/>
              <a:gd name="connsiteY30" fmla="*/ 252134 h 8030691"/>
              <a:gd name="connsiteX31" fmla="*/ 3656686 w 6858001"/>
              <a:gd name="connsiteY31" fmla="*/ 253143 h 8030691"/>
              <a:gd name="connsiteX32" fmla="*/ 3800705 w 6858001"/>
              <a:gd name="connsiteY32" fmla="*/ 252134 h 8030691"/>
              <a:gd name="connsiteX33" fmla="*/ 3946780 w 6858001"/>
              <a:gd name="connsiteY33" fmla="*/ 250117 h 8030691"/>
              <a:gd name="connsiteX34" fmla="*/ 4092856 w 6858001"/>
              <a:gd name="connsiteY34" fmla="*/ 248268 h 8030691"/>
              <a:gd name="connsiteX35" fmla="*/ 4240988 w 6858001"/>
              <a:gd name="connsiteY35" fmla="*/ 244234 h 8030691"/>
              <a:gd name="connsiteX36" fmla="*/ 4390492 w 6858001"/>
              <a:gd name="connsiteY36" fmla="*/ 240032 h 8030691"/>
              <a:gd name="connsiteX37" fmla="*/ 4539997 w 6858001"/>
              <a:gd name="connsiteY37" fmla="*/ 235157 h 8030691"/>
              <a:gd name="connsiteX38" fmla="*/ 4690873 w 6858001"/>
              <a:gd name="connsiteY38" fmla="*/ 228266 h 8030691"/>
              <a:gd name="connsiteX39" fmla="*/ 4843120 w 6858001"/>
              <a:gd name="connsiteY39" fmla="*/ 220029 h 8030691"/>
              <a:gd name="connsiteX40" fmla="*/ 4996054 w 6858001"/>
              <a:gd name="connsiteY40" fmla="*/ 212129 h 8030691"/>
              <a:gd name="connsiteX41" fmla="*/ 5148987 w 6858001"/>
              <a:gd name="connsiteY41" fmla="*/ 202044 h 8030691"/>
              <a:gd name="connsiteX42" fmla="*/ 5303978 w 6858001"/>
              <a:gd name="connsiteY42" fmla="*/ 189941 h 8030691"/>
              <a:gd name="connsiteX43" fmla="*/ 5456911 w 6858001"/>
              <a:gd name="connsiteY43" fmla="*/ 177839 h 8030691"/>
              <a:gd name="connsiteX44" fmla="*/ 5612588 w 6858001"/>
              <a:gd name="connsiteY44" fmla="*/ 163887 h 8030691"/>
              <a:gd name="connsiteX45" fmla="*/ 5768950 w 6858001"/>
              <a:gd name="connsiteY45" fmla="*/ 148591 h 8030691"/>
              <a:gd name="connsiteX46" fmla="*/ 5923255 w 6858001"/>
              <a:gd name="connsiteY46" fmla="*/ 132455 h 8030691"/>
              <a:gd name="connsiteX47" fmla="*/ 6079618 w 6858001"/>
              <a:gd name="connsiteY47" fmla="*/ 113629 h 8030691"/>
              <a:gd name="connsiteX48" fmla="*/ 6235294 w 6858001"/>
              <a:gd name="connsiteY48" fmla="*/ 93458 h 8030691"/>
              <a:gd name="connsiteX49" fmla="*/ 6391657 w 6858001"/>
              <a:gd name="connsiteY49" fmla="*/ 73455 h 8030691"/>
              <a:gd name="connsiteX50" fmla="*/ 6547333 w 6858001"/>
              <a:gd name="connsiteY50" fmla="*/ 50091 h 8030691"/>
              <a:gd name="connsiteX51" fmla="*/ 6702324 w 6858001"/>
              <a:gd name="connsiteY51" fmla="*/ 26222 h 8030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8030691">
                <a:moveTo>
                  <a:pt x="6858001" y="1177"/>
                </a:moveTo>
                <a:lnTo>
                  <a:pt x="6858001" y="1344715"/>
                </a:lnTo>
                <a:lnTo>
                  <a:pt x="6858000" y="1344715"/>
                </a:lnTo>
                <a:lnTo>
                  <a:pt x="6858000" y="8030691"/>
                </a:lnTo>
                <a:lnTo>
                  <a:pt x="0" y="8030690"/>
                </a:lnTo>
                <a:lnTo>
                  <a:pt x="0" y="477747"/>
                </a:lnTo>
                <a:lnTo>
                  <a:pt x="1" y="477747"/>
                </a:lnTo>
                <a:lnTo>
                  <a:pt x="1" y="0"/>
                </a:lnTo>
                <a:lnTo>
                  <a:pt x="40463" y="5883"/>
                </a:lnTo>
                <a:lnTo>
                  <a:pt x="159107" y="23196"/>
                </a:lnTo>
                <a:lnTo>
                  <a:pt x="245518" y="35299"/>
                </a:lnTo>
                <a:lnTo>
                  <a:pt x="348388" y="48074"/>
                </a:lnTo>
                <a:lnTo>
                  <a:pt x="470460" y="63370"/>
                </a:lnTo>
                <a:lnTo>
                  <a:pt x="605563" y="79507"/>
                </a:lnTo>
                <a:lnTo>
                  <a:pt x="757810" y="96484"/>
                </a:lnTo>
                <a:lnTo>
                  <a:pt x="923774" y="114469"/>
                </a:lnTo>
                <a:lnTo>
                  <a:pt x="1104139" y="132455"/>
                </a:lnTo>
                <a:lnTo>
                  <a:pt x="1296163" y="150776"/>
                </a:lnTo>
                <a:lnTo>
                  <a:pt x="1503275" y="167753"/>
                </a:lnTo>
                <a:lnTo>
                  <a:pt x="1719988" y="184058"/>
                </a:lnTo>
                <a:lnTo>
                  <a:pt x="1949045" y="198850"/>
                </a:lnTo>
                <a:lnTo>
                  <a:pt x="2187703" y="212969"/>
                </a:lnTo>
                <a:lnTo>
                  <a:pt x="2436649" y="226249"/>
                </a:lnTo>
                <a:lnTo>
                  <a:pt x="2564208" y="230955"/>
                </a:lnTo>
                <a:lnTo>
                  <a:pt x="2694509" y="236166"/>
                </a:lnTo>
                <a:lnTo>
                  <a:pt x="2826869" y="241040"/>
                </a:lnTo>
                <a:lnTo>
                  <a:pt x="2959914" y="244234"/>
                </a:lnTo>
                <a:lnTo>
                  <a:pt x="3095702" y="247092"/>
                </a:lnTo>
                <a:lnTo>
                  <a:pt x="3232862" y="250117"/>
                </a:lnTo>
                <a:lnTo>
                  <a:pt x="3372766" y="252134"/>
                </a:lnTo>
                <a:lnTo>
                  <a:pt x="3514040" y="252134"/>
                </a:lnTo>
                <a:lnTo>
                  <a:pt x="3656686" y="253143"/>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en-US"/>
          </a:p>
        </p:txBody>
      </p:sp>
      <p:sp>
        <p:nvSpPr>
          <p:cNvPr id="72" name="Rectangle 71">
            <a:extLst>
              <a:ext uri="{FF2B5EF4-FFF2-40B4-BE49-F238E27FC236}">
                <a16:creationId xmlns:a16="http://schemas.microsoft.com/office/drawing/2014/main" id="{A4B31EAA-7423-46F7-9B90-4AB2B09C35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Slide Number Placeholder 3">
            <a:extLst>
              <a:ext uri="{FF2B5EF4-FFF2-40B4-BE49-F238E27FC236}">
                <a16:creationId xmlns:a16="http://schemas.microsoft.com/office/drawing/2014/main" id="{37C8E4D8-48C6-1636-5FE6-FE8A0793AEA8}"/>
              </a:ext>
            </a:extLst>
          </p:cNvPr>
          <p:cNvSpPr>
            <a:spLocks noGrp="1"/>
          </p:cNvSpPr>
          <p:nvPr>
            <p:ph type="sldNum" sz="quarter" idx="12"/>
          </p:nvPr>
        </p:nvSpPr>
        <p:spPr>
          <a:xfrm>
            <a:off x="10352540" y="295729"/>
            <a:ext cx="838199" cy="767687"/>
          </a:xfrm>
        </p:spPr>
        <p:txBody>
          <a:bodyPr vert="horz" lIns="91440" tIns="45720" rIns="91440" bIns="45720" rtlCol="0" anchor="b">
            <a:normAutofit/>
          </a:bodyPr>
          <a:lstStyle/>
          <a:p>
            <a:pPr>
              <a:spcAft>
                <a:spcPts val="600"/>
              </a:spcAft>
            </a:pPr>
            <a:fld id="{D57F1E4F-1CFF-5643-939E-02111984F565}" type="slidenum">
              <a:rPr lang="en-US">
                <a:solidFill>
                  <a:srgbClr val="FFFFFF"/>
                </a:solidFill>
              </a:rPr>
              <a:pPr>
                <a:spcAft>
                  <a:spcPts val="600"/>
                </a:spcAft>
              </a:pPr>
              <a:t>14</a:t>
            </a:fld>
            <a:endParaRPr lang="en-US">
              <a:solidFill>
                <a:srgbClr val="FFFFFF"/>
              </a:solidFill>
            </a:endParaRPr>
          </a:p>
        </p:txBody>
      </p:sp>
      <p:sp>
        <p:nvSpPr>
          <p:cNvPr id="6" name="Title 1">
            <a:extLst>
              <a:ext uri="{FF2B5EF4-FFF2-40B4-BE49-F238E27FC236}">
                <a16:creationId xmlns:a16="http://schemas.microsoft.com/office/drawing/2014/main" id="{1F94CAB5-61F2-A343-6667-6C9211C93EAD}"/>
              </a:ext>
            </a:extLst>
          </p:cNvPr>
          <p:cNvSpPr txBox="1">
            <a:spLocks/>
          </p:cNvSpPr>
          <p:nvPr/>
        </p:nvSpPr>
        <p:spPr>
          <a:xfrm>
            <a:off x="141612" y="2436878"/>
            <a:ext cx="3375843" cy="2947415"/>
          </a:xfrm>
          <a:prstGeom prst="rect">
            <a:avLst/>
          </a:prstGeom>
        </p:spPr>
        <p:txBody>
          <a:bodyPr vert="horz" lIns="91440" tIns="45720" rIns="91440" bIns="45720" rtlCol="0">
            <a:norm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571500" indent="-571500">
              <a:spcBef>
                <a:spcPts val="1000"/>
              </a:spcBef>
              <a:buClr>
                <a:schemeClr val="bg2">
                  <a:lumMod val="40000"/>
                  <a:lumOff val="60000"/>
                </a:schemeClr>
              </a:buClr>
              <a:buSzPct val="80000"/>
              <a:buFont typeface="Wingdings 3" charset="2"/>
              <a:buChar char=""/>
            </a:pPr>
            <a:r>
              <a:rPr lang="en-US" sz="1800">
                <a:solidFill>
                  <a:srgbClr val="FFFFFF"/>
                </a:solidFill>
              </a:rPr>
              <a:t>MVC Approach</a:t>
            </a:r>
          </a:p>
          <a:p>
            <a:pPr marL="1028700" lvl="1" indent="-571500">
              <a:spcBef>
                <a:spcPts val="1000"/>
              </a:spcBef>
              <a:buClr>
                <a:schemeClr val="bg2">
                  <a:lumMod val="40000"/>
                  <a:lumOff val="60000"/>
                </a:schemeClr>
              </a:buClr>
              <a:buSzPct val="80000"/>
              <a:buFont typeface="Wingdings 3" charset="2"/>
              <a:buChar char=""/>
            </a:pPr>
            <a:r>
              <a:rPr lang="en-US">
                <a:solidFill>
                  <a:srgbClr val="FFFFFF"/>
                </a:solidFill>
              </a:rPr>
              <a:t>Controller fills out the View with data from the Model</a:t>
            </a:r>
          </a:p>
        </p:txBody>
      </p:sp>
      <p:pic>
        <p:nvPicPr>
          <p:cNvPr id="3" name="Picture 2">
            <a:extLst>
              <a:ext uri="{FF2B5EF4-FFF2-40B4-BE49-F238E27FC236}">
                <a16:creationId xmlns:a16="http://schemas.microsoft.com/office/drawing/2014/main" id="{12196ECD-EF56-80A6-CED0-D8EF4859046B}"/>
              </a:ext>
            </a:extLst>
          </p:cNvPr>
          <p:cNvPicPr>
            <a:picLocks noChangeAspect="1"/>
          </p:cNvPicPr>
          <p:nvPr/>
        </p:nvPicPr>
        <p:blipFill>
          <a:blip r:embed="rId3"/>
          <a:stretch>
            <a:fillRect/>
          </a:stretch>
        </p:blipFill>
        <p:spPr>
          <a:xfrm>
            <a:off x="4588189" y="1447799"/>
            <a:ext cx="7462199" cy="4384041"/>
          </a:xfrm>
          <a:prstGeom prst="rect">
            <a:avLst/>
          </a:prstGeom>
          <a:effectLst/>
        </p:spPr>
      </p:pic>
    </p:spTree>
    <p:extLst>
      <p:ext uri="{BB962C8B-B14F-4D97-AF65-F5344CB8AC3E}">
        <p14:creationId xmlns:p14="http://schemas.microsoft.com/office/powerpoint/2010/main" val="3647372978"/>
      </p:ext>
    </p:extLst>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E4621-979C-F553-4266-415F3E1C7894}"/>
              </a:ext>
            </a:extLst>
          </p:cNvPr>
          <p:cNvSpPr>
            <a:spLocks noGrp="1"/>
          </p:cNvSpPr>
          <p:nvPr>
            <p:ph type="title"/>
          </p:nvPr>
        </p:nvSpPr>
        <p:spPr>
          <a:xfrm>
            <a:off x="201890" y="335221"/>
            <a:ext cx="9252154" cy="1223983"/>
          </a:xfrm>
        </p:spPr>
        <p:txBody>
          <a:bodyPr>
            <a:normAutofit/>
          </a:bodyPr>
          <a:lstStyle/>
          <a:p>
            <a:r>
              <a:rPr lang="en-US" sz="5400"/>
              <a:t>Structural Design</a:t>
            </a:r>
          </a:p>
        </p:txBody>
      </p:sp>
      <p:sp>
        <p:nvSpPr>
          <p:cNvPr id="4" name="Slide Number Placeholder 3">
            <a:extLst>
              <a:ext uri="{FF2B5EF4-FFF2-40B4-BE49-F238E27FC236}">
                <a16:creationId xmlns:a16="http://schemas.microsoft.com/office/drawing/2014/main" id="{97772CB6-4208-D25E-B7DE-2F0AB93CC03B}"/>
              </a:ext>
            </a:extLst>
          </p:cNvPr>
          <p:cNvSpPr>
            <a:spLocks noGrp="1"/>
          </p:cNvSpPr>
          <p:nvPr>
            <p:ph type="sldNum" sz="quarter" idx="12"/>
          </p:nvPr>
        </p:nvSpPr>
        <p:spPr>
          <a:xfrm>
            <a:off x="10352540" y="295729"/>
            <a:ext cx="838199" cy="767687"/>
          </a:xfrm>
        </p:spPr>
        <p:txBody>
          <a:bodyPr>
            <a:normAutofit/>
          </a:bodyPr>
          <a:lstStyle/>
          <a:p>
            <a:pPr>
              <a:spcAft>
                <a:spcPts val="600"/>
              </a:spcAft>
            </a:pPr>
            <a:fld id="{D57F1E4F-1CFF-5643-939E-02111984F565}" type="slidenum">
              <a:rPr lang="en-US"/>
              <a:pPr>
                <a:spcAft>
                  <a:spcPts val="600"/>
                </a:spcAft>
              </a:pPr>
              <a:t>15</a:t>
            </a:fld>
            <a:endParaRPr lang="en-US"/>
          </a:p>
        </p:txBody>
      </p:sp>
      <p:sp>
        <p:nvSpPr>
          <p:cNvPr id="5" name="Content Placeholder 4">
            <a:extLst>
              <a:ext uri="{FF2B5EF4-FFF2-40B4-BE49-F238E27FC236}">
                <a16:creationId xmlns:a16="http://schemas.microsoft.com/office/drawing/2014/main" id="{F77914A2-D7AF-99B9-8BFF-38CB2155D13B}"/>
              </a:ext>
            </a:extLst>
          </p:cNvPr>
          <p:cNvSpPr>
            <a:spLocks noGrp="1"/>
          </p:cNvSpPr>
          <p:nvPr>
            <p:ph idx="1"/>
          </p:nvPr>
        </p:nvSpPr>
        <p:spPr>
          <a:xfrm>
            <a:off x="201890" y="1864793"/>
            <a:ext cx="4338409" cy="4196185"/>
          </a:xfrm>
        </p:spPr>
        <p:txBody>
          <a:bodyPr>
            <a:normAutofit/>
          </a:bodyPr>
          <a:lstStyle/>
          <a:p>
            <a:r>
              <a:rPr lang="en-US" sz="3200"/>
              <a:t>Design Patterns</a:t>
            </a:r>
          </a:p>
          <a:p>
            <a:pPr lvl="1"/>
            <a:r>
              <a:rPr lang="en-US" sz="2400"/>
              <a:t>Dependency Injection</a:t>
            </a:r>
          </a:p>
          <a:p>
            <a:pPr lvl="1"/>
            <a:r>
              <a:rPr lang="en-US" sz="2400"/>
              <a:t>Factory</a:t>
            </a:r>
          </a:p>
          <a:p>
            <a:pPr lvl="1"/>
            <a:r>
              <a:rPr lang="en-US" sz="2400"/>
              <a:t>Serializer</a:t>
            </a:r>
          </a:p>
        </p:txBody>
      </p:sp>
      <p:pic>
        <p:nvPicPr>
          <p:cNvPr id="7" name="Picture 6">
            <a:extLst>
              <a:ext uri="{FF2B5EF4-FFF2-40B4-BE49-F238E27FC236}">
                <a16:creationId xmlns:a16="http://schemas.microsoft.com/office/drawing/2014/main" id="{88FC28F5-39D6-6571-8863-3296D09BB27A}"/>
              </a:ext>
            </a:extLst>
          </p:cNvPr>
          <p:cNvPicPr>
            <a:picLocks noChangeAspect="1"/>
          </p:cNvPicPr>
          <p:nvPr/>
        </p:nvPicPr>
        <p:blipFill>
          <a:blip r:embed="rId4"/>
          <a:stretch>
            <a:fillRect/>
          </a:stretch>
        </p:blipFill>
        <p:spPr>
          <a:xfrm>
            <a:off x="4827967" y="1864793"/>
            <a:ext cx="7002023" cy="4568819"/>
          </a:xfrm>
          <a:prstGeom prst="rect">
            <a:avLst/>
          </a:prstGeom>
          <a:effectLst>
            <a:outerShdw blurRad="50800" dist="38100" dir="5400000" algn="t" rotWithShape="0">
              <a:prstClr val="black">
                <a:alpha val="43000"/>
              </a:prstClr>
            </a:outerShdw>
          </a:effectLst>
        </p:spPr>
      </p:pic>
    </p:spTree>
    <p:extLst>
      <p:ext uri="{BB962C8B-B14F-4D97-AF65-F5344CB8AC3E}">
        <p14:creationId xmlns:p14="http://schemas.microsoft.com/office/powerpoint/2010/main" val="27544284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8975FED4-A993-03A4-A0B7-58E8095CCCFB}"/>
            </a:ext>
          </a:extLst>
        </p:cNvPr>
        <p:cNvGrpSpPr/>
        <p:nvPr/>
      </p:nvGrpSpPr>
      <p:grpSpPr>
        <a:xfrm>
          <a:off x="0" y="0"/>
          <a:ext cx="0" cy="0"/>
          <a:chOff x="0" y="0"/>
          <a:chExt cx="0" cy="0"/>
        </a:xfrm>
      </p:grpSpPr>
      <p:pic>
        <p:nvPicPr>
          <p:cNvPr id="51" name="Picture 50">
            <a:extLst>
              <a:ext uri="{FF2B5EF4-FFF2-40B4-BE49-F238E27FC236}">
                <a16:creationId xmlns:a16="http://schemas.microsoft.com/office/drawing/2014/main" id="{289F1296-36C0-42CB-9779-37B24AB07EF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53" name="Picture 52">
            <a:extLst>
              <a:ext uri="{FF2B5EF4-FFF2-40B4-BE49-F238E27FC236}">
                <a16:creationId xmlns:a16="http://schemas.microsoft.com/office/drawing/2014/main" id="{03FAC4DA-9FF9-F583-2146-F8239A750F0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55" name="Oval 54">
            <a:extLst>
              <a:ext uri="{FF2B5EF4-FFF2-40B4-BE49-F238E27FC236}">
                <a16:creationId xmlns:a16="http://schemas.microsoft.com/office/drawing/2014/main" id="{995B013C-D4C5-11FC-76AE-C9A87E20CA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57" name="Picture 56">
            <a:extLst>
              <a:ext uri="{FF2B5EF4-FFF2-40B4-BE49-F238E27FC236}">
                <a16:creationId xmlns:a16="http://schemas.microsoft.com/office/drawing/2014/main" id="{C72D069D-5999-12FF-EF64-35E005CB566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59" name="Picture 58">
            <a:extLst>
              <a:ext uri="{FF2B5EF4-FFF2-40B4-BE49-F238E27FC236}">
                <a16:creationId xmlns:a16="http://schemas.microsoft.com/office/drawing/2014/main" id="{321CB14E-7764-D2E9-A50D-7FDBFCF3011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7">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61" name="Rectangle 60">
            <a:extLst>
              <a:ext uri="{FF2B5EF4-FFF2-40B4-BE49-F238E27FC236}">
                <a16:creationId xmlns:a16="http://schemas.microsoft.com/office/drawing/2014/main" id="{7D1C7A4E-5494-54E1-4F60-2A14AA94BF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79136B2C-B02D-A5AE-0F29-3A1F6E99AED2}"/>
              </a:ext>
            </a:extLst>
          </p:cNvPr>
          <p:cNvSpPr>
            <a:spLocks noGrp="1"/>
          </p:cNvSpPr>
          <p:nvPr>
            <p:ph type="title"/>
          </p:nvPr>
        </p:nvSpPr>
        <p:spPr>
          <a:xfrm>
            <a:off x="413601" y="225064"/>
            <a:ext cx="6484623" cy="691277"/>
          </a:xfrm>
        </p:spPr>
        <p:txBody>
          <a:bodyPr vert="horz" lIns="91440" tIns="45720" rIns="91440" bIns="45720" rtlCol="0" anchor="b">
            <a:normAutofit fontScale="90000"/>
          </a:bodyPr>
          <a:lstStyle/>
          <a:p>
            <a:r>
              <a:rPr lang="en-US" sz="4400" b="0" i="0" kern="1200">
                <a:solidFill>
                  <a:schemeClr val="tx2"/>
                </a:solidFill>
                <a:latin typeface="+mj-lt"/>
                <a:ea typeface="+mj-ea"/>
                <a:cs typeface="+mj-cs"/>
              </a:rPr>
              <a:t>Activity Diagram</a:t>
            </a:r>
          </a:p>
        </p:txBody>
      </p:sp>
      <p:sp>
        <p:nvSpPr>
          <p:cNvPr id="4" name="Slide Number Placeholder 3">
            <a:extLst>
              <a:ext uri="{FF2B5EF4-FFF2-40B4-BE49-F238E27FC236}">
                <a16:creationId xmlns:a16="http://schemas.microsoft.com/office/drawing/2014/main" id="{B80B58D4-7CBB-0F72-B003-BEF72AD68A49}"/>
              </a:ext>
            </a:extLst>
          </p:cNvPr>
          <p:cNvSpPr>
            <a:spLocks noGrp="1"/>
          </p:cNvSpPr>
          <p:nvPr>
            <p:ph type="sldNum" sz="quarter" idx="12"/>
          </p:nvPr>
        </p:nvSpPr>
        <p:spPr>
          <a:xfrm>
            <a:off x="10352540" y="295729"/>
            <a:ext cx="838199" cy="767687"/>
          </a:xfrm>
        </p:spPr>
        <p:txBody>
          <a:bodyPr vert="horz" lIns="91440" tIns="45720" rIns="91440" bIns="45720" rtlCol="0" anchor="b">
            <a:normAutofit/>
          </a:bodyPr>
          <a:lstStyle/>
          <a:p>
            <a:pPr>
              <a:spcAft>
                <a:spcPts val="600"/>
              </a:spcAft>
            </a:pPr>
            <a:fld id="{D57F1E4F-1CFF-5643-939E-02111984F565}" type="slidenum">
              <a:rPr lang="en-US">
                <a:solidFill>
                  <a:srgbClr val="FFFFFF"/>
                </a:solidFill>
              </a:rPr>
              <a:pPr>
                <a:spcAft>
                  <a:spcPts val="600"/>
                </a:spcAft>
              </a:pPr>
              <a:t>16</a:t>
            </a:fld>
            <a:endParaRPr lang="en-US">
              <a:solidFill>
                <a:srgbClr val="FFFFFF"/>
              </a:solidFill>
            </a:endParaRPr>
          </a:p>
        </p:txBody>
      </p:sp>
      <p:pic>
        <p:nvPicPr>
          <p:cNvPr id="5" name="Picture 4">
            <a:extLst>
              <a:ext uri="{FF2B5EF4-FFF2-40B4-BE49-F238E27FC236}">
                <a16:creationId xmlns:a16="http://schemas.microsoft.com/office/drawing/2014/main" id="{6A6E9B40-1ABF-CCE0-2E71-31F41468ED21}"/>
              </a:ext>
            </a:extLst>
          </p:cNvPr>
          <p:cNvPicPr>
            <a:picLocks noChangeAspect="1"/>
          </p:cNvPicPr>
          <p:nvPr/>
        </p:nvPicPr>
        <p:blipFill>
          <a:blip r:embed="rId8"/>
          <a:stretch>
            <a:fillRect/>
          </a:stretch>
        </p:blipFill>
        <p:spPr>
          <a:xfrm>
            <a:off x="832514" y="1212070"/>
            <a:ext cx="10291098" cy="5430483"/>
          </a:xfrm>
          <a:prstGeom prst="rect">
            <a:avLst/>
          </a:prstGeom>
        </p:spPr>
      </p:pic>
    </p:spTree>
    <p:extLst>
      <p:ext uri="{BB962C8B-B14F-4D97-AF65-F5344CB8AC3E}">
        <p14:creationId xmlns:p14="http://schemas.microsoft.com/office/powerpoint/2010/main" val="32635274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4709D5-A59F-1FA9-2861-764CBF4A39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D392CA-1D58-9A99-8C16-8F67E23D3336}"/>
              </a:ext>
            </a:extLst>
          </p:cNvPr>
          <p:cNvSpPr>
            <a:spLocks noGrp="1"/>
          </p:cNvSpPr>
          <p:nvPr>
            <p:ph type="title"/>
          </p:nvPr>
        </p:nvSpPr>
        <p:spPr/>
        <p:txBody>
          <a:bodyPr/>
          <a:lstStyle/>
          <a:p>
            <a:r>
              <a:rPr lang="en-US"/>
              <a:t>Design Alternatives</a:t>
            </a:r>
          </a:p>
        </p:txBody>
      </p:sp>
      <p:sp>
        <p:nvSpPr>
          <p:cNvPr id="3" name="Content Placeholder 2">
            <a:extLst>
              <a:ext uri="{FF2B5EF4-FFF2-40B4-BE49-F238E27FC236}">
                <a16:creationId xmlns:a16="http://schemas.microsoft.com/office/drawing/2014/main" id="{B675B62D-0A03-6200-F185-B63E32651B81}"/>
              </a:ext>
            </a:extLst>
          </p:cNvPr>
          <p:cNvSpPr>
            <a:spLocks noGrp="1"/>
          </p:cNvSpPr>
          <p:nvPr>
            <p:ph idx="1"/>
          </p:nvPr>
        </p:nvSpPr>
        <p:spPr/>
        <p:txBody>
          <a:bodyPr/>
          <a:lstStyle/>
          <a:p>
            <a:r>
              <a:rPr lang="en-US"/>
              <a:t>Behavioral Diagram</a:t>
            </a:r>
          </a:p>
          <a:p>
            <a:pPr lvl="1"/>
            <a:r>
              <a:rPr lang="en-US"/>
              <a:t>Activity vs. State vs. Sequence</a:t>
            </a:r>
          </a:p>
        </p:txBody>
      </p:sp>
      <p:sp>
        <p:nvSpPr>
          <p:cNvPr id="4" name="Slide Number Placeholder 3">
            <a:extLst>
              <a:ext uri="{FF2B5EF4-FFF2-40B4-BE49-F238E27FC236}">
                <a16:creationId xmlns:a16="http://schemas.microsoft.com/office/drawing/2014/main" id="{BDDEB594-5B41-0EA2-57CE-5F255BF3CE2B}"/>
              </a:ext>
            </a:extLst>
          </p:cNvPr>
          <p:cNvSpPr>
            <a:spLocks noGrp="1"/>
          </p:cNvSpPr>
          <p:nvPr>
            <p:ph type="sldNum" sz="quarter" idx="12"/>
          </p:nvPr>
        </p:nvSpPr>
        <p:spPr/>
        <p:txBody>
          <a:bodyPr/>
          <a:lstStyle/>
          <a:p>
            <a:fld id="{D57F1E4F-1CFF-5643-939E-02111984F565}" type="slidenum">
              <a:rPr lang="en-US" smtClean="0"/>
              <a:t>17</a:t>
            </a:fld>
            <a:endParaRPr lang="en-US"/>
          </a:p>
        </p:txBody>
      </p:sp>
    </p:spTree>
    <p:extLst>
      <p:ext uri="{BB962C8B-B14F-4D97-AF65-F5344CB8AC3E}">
        <p14:creationId xmlns:p14="http://schemas.microsoft.com/office/powerpoint/2010/main" val="29296227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21816EAE-E08E-8B08-0905-755E3FED11E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383F1B7-35E2-0C35-F036-767EF6D2D24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6" name="Picture 5">
            <a:extLst>
              <a:ext uri="{FF2B5EF4-FFF2-40B4-BE49-F238E27FC236}">
                <a16:creationId xmlns:a16="http://schemas.microsoft.com/office/drawing/2014/main" id="{070B1BA8-F17D-04F8-618E-000AC4819C1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7" name="Oval 6">
            <a:extLst>
              <a:ext uri="{FF2B5EF4-FFF2-40B4-BE49-F238E27FC236}">
                <a16:creationId xmlns:a16="http://schemas.microsoft.com/office/drawing/2014/main" id="{C43B3B81-CED4-7E66-389E-60A5714BB2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9" name="Picture 8">
            <a:extLst>
              <a:ext uri="{FF2B5EF4-FFF2-40B4-BE49-F238E27FC236}">
                <a16:creationId xmlns:a16="http://schemas.microsoft.com/office/drawing/2014/main" id="{5AEBAFAE-22EB-BFC6-33CD-AEC0A24F85C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1" name="Picture 10">
            <a:extLst>
              <a:ext uri="{FF2B5EF4-FFF2-40B4-BE49-F238E27FC236}">
                <a16:creationId xmlns:a16="http://schemas.microsoft.com/office/drawing/2014/main" id="{9A76F846-43D7-D9FB-F4DE-4722A33D129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7">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3" name="Rectangle 12">
            <a:extLst>
              <a:ext uri="{FF2B5EF4-FFF2-40B4-BE49-F238E27FC236}">
                <a16:creationId xmlns:a16="http://schemas.microsoft.com/office/drawing/2014/main" id="{3B665072-B6DD-4719-35A3-A577B3E576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15" name="Rectangle 14">
            <a:extLst>
              <a:ext uri="{FF2B5EF4-FFF2-40B4-BE49-F238E27FC236}">
                <a16:creationId xmlns:a16="http://schemas.microsoft.com/office/drawing/2014/main" id="{62DF69F6-30B0-5A9B-BA45-0C514A959B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980189BB-18E5-66CA-DC11-767C5F5D33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Slide Number Placeholder 2">
            <a:extLst>
              <a:ext uri="{FF2B5EF4-FFF2-40B4-BE49-F238E27FC236}">
                <a16:creationId xmlns:a16="http://schemas.microsoft.com/office/drawing/2014/main" id="{714AFB3C-BCD6-B094-5043-0EF356D15288}"/>
              </a:ext>
            </a:extLst>
          </p:cNvPr>
          <p:cNvSpPr>
            <a:spLocks noGrp="1"/>
          </p:cNvSpPr>
          <p:nvPr>
            <p:ph type="sldNum" sz="quarter" idx="12"/>
          </p:nvPr>
        </p:nvSpPr>
        <p:spPr>
          <a:xfrm>
            <a:off x="10352540" y="295729"/>
            <a:ext cx="838199" cy="767687"/>
          </a:xfrm>
        </p:spPr>
        <p:txBody>
          <a:bodyPr vert="horz" lIns="91440" tIns="45720" rIns="91440" bIns="45720" rtlCol="0" anchor="b">
            <a:normAutofit/>
          </a:bodyPr>
          <a:lstStyle/>
          <a:p>
            <a:pPr defTabSz="457200">
              <a:spcAft>
                <a:spcPts val="600"/>
              </a:spcAft>
            </a:pPr>
            <a:fld id="{D57F1E4F-1CFF-5643-939E-02111984F565}" type="slidenum">
              <a:rPr lang="en-US" b="0" i="0" kern="1200">
                <a:solidFill>
                  <a:srgbClr val="FFFFFF"/>
                </a:solidFill>
                <a:latin typeface="+mn-lt"/>
                <a:ea typeface="+mn-ea"/>
                <a:cs typeface="+mn-cs"/>
              </a:rPr>
              <a:pPr defTabSz="457200">
                <a:spcAft>
                  <a:spcPts val="600"/>
                </a:spcAft>
              </a:pPr>
              <a:t>18</a:t>
            </a:fld>
            <a:endParaRPr lang="en-US" b="0" i="0" kern="1200">
              <a:solidFill>
                <a:srgbClr val="FFFFFF"/>
              </a:solidFill>
              <a:latin typeface="+mn-lt"/>
              <a:ea typeface="+mn-ea"/>
              <a:cs typeface="+mn-cs"/>
            </a:endParaRPr>
          </a:p>
        </p:txBody>
      </p:sp>
      <p:cxnSp>
        <p:nvCxnSpPr>
          <p:cNvPr id="19" name="Straight Connector 18">
            <a:extLst>
              <a:ext uri="{FF2B5EF4-FFF2-40B4-BE49-F238E27FC236}">
                <a16:creationId xmlns:a16="http://schemas.microsoft.com/office/drawing/2014/main" id="{183D5115-7381-06FA-6454-9F08DC1446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56687" y="1930986"/>
            <a:ext cx="0" cy="3200400"/>
          </a:xfrm>
          <a:prstGeom prst="line">
            <a:avLst/>
          </a:prstGeom>
          <a:ln w="15875" cap="sq">
            <a:solidFill>
              <a:schemeClr val="tx2">
                <a:alpha val="70000"/>
              </a:schemeClr>
            </a:solidFill>
            <a:miter lim="800000"/>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7747B8B-0A33-D2B5-ED06-82B3B9F5B7BD}"/>
              </a:ext>
            </a:extLst>
          </p:cNvPr>
          <p:cNvSpPr>
            <a:spLocks noGrp="1"/>
          </p:cNvSpPr>
          <p:nvPr>
            <p:ph type="title"/>
          </p:nvPr>
        </p:nvSpPr>
        <p:spPr>
          <a:xfrm>
            <a:off x="4654295" y="1266958"/>
            <a:ext cx="6808362" cy="4528457"/>
          </a:xfrm>
        </p:spPr>
        <p:txBody>
          <a:bodyPr vert="horz" lIns="91440" tIns="45720" rIns="91440" bIns="45720" rtlCol="0" anchor="ctr">
            <a:normAutofit/>
          </a:bodyPr>
          <a:lstStyle/>
          <a:p>
            <a:r>
              <a:rPr lang="en-US" sz="7200"/>
              <a:t>Test Cases</a:t>
            </a:r>
            <a:endParaRPr lang="en-US" sz="7200" b="0" i="0" kern="1200">
              <a:latin typeface="+mj-lt"/>
            </a:endParaRPr>
          </a:p>
        </p:txBody>
      </p:sp>
    </p:spTree>
    <p:extLst>
      <p:ext uri="{BB962C8B-B14F-4D97-AF65-F5344CB8AC3E}">
        <p14:creationId xmlns:p14="http://schemas.microsoft.com/office/powerpoint/2010/main" val="23332456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5664E-58B3-DFA3-CE59-05FEC37666D3}"/>
              </a:ext>
            </a:extLst>
          </p:cNvPr>
          <p:cNvSpPr>
            <a:spLocks noGrp="1"/>
          </p:cNvSpPr>
          <p:nvPr>
            <p:ph type="title"/>
          </p:nvPr>
        </p:nvSpPr>
        <p:spPr/>
        <p:txBody>
          <a:bodyPr/>
          <a:lstStyle/>
          <a:p>
            <a:r>
              <a:rPr lang="en-US"/>
              <a:t>Test Cases</a:t>
            </a:r>
          </a:p>
        </p:txBody>
      </p:sp>
      <p:sp>
        <p:nvSpPr>
          <p:cNvPr id="3" name="Content Placeholder 2">
            <a:extLst>
              <a:ext uri="{FF2B5EF4-FFF2-40B4-BE49-F238E27FC236}">
                <a16:creationId xmlns:a16="http://schemas.microsoft.com/office/drawing/2014/main" id="{A3AF15A8-0295-E8EB-EAAE-B7CC91801D41}"/>
              </a:ext>
            </a:extLst>
          </p:cNvPr>
          <p:cNvSpPr>
            <a:spLocks noGrp="1"/>
          </p:cNvSpPr>
          <p:nvPr>
            <p:ph idx="1"/>
          </p:nvPr>
        </p:nvSpPr>
        <p:spPr/>
        <p:txBody>
          <a:bodyPr/>
          <a:lstStyle/>
          <a:p>
            <a:r>
              <a:rPr lang="en-US"/>
              <a:t>5 Test Suites</a:t>
            </a:r>
          </a:p>
          <a:p>
            <a:pPr lvl="1"/>
            <a:r>
              <a:rPr lang="en-US"/>
              <a:t>System/Manual Functional</a:t>
            </a:r>
          </a:p>
          <a:p>
            <a:pPr lvl="1"/>
            <a:r>
              <a:rPr lang="en-US"/>
              <a:t>Usability and Operator Workflow</a:t>
            </a:r>
          </a:p>
          <a:p>
            <a:pPr lvl="1"/>
            <a:r>
              <a:rPr lang="en-US"/>
              <a:t>System-Level Non-Functional</a:t>
            </a:r>
          </a:p>
          <a:p>
            <a:pPr lvl="1"/>
            <a:r>
              <a:rPr lang="en-US"/>
              <a:t>Automated Functional</a:t>
            </a:r>
          </a:p>
          <a:p>
            <a:pPr lvl="1"/>
            <a:r>
              <a:rPr lang="en-US"/>
              <a:t>Automated Non-Functional</a:t>
            </a:r>
          </a:p>
          <a:p>
            <a:r>
              <a:rPr lang="en-US"/>
              <a:t>Two types of test</a:t>
            </a:r>
          </a:p>
          <a:p>
            <a:pPr lvl="1"/>
            <a:r>
              <a:rPr lang="en-US"/>
              <a:t>Manual</a:t>
            </a:r>
          </a:p>
          <a:p>
            <a:pPr lvl="1"/>
            <a:r>
              <a:rPr lang="en-US"/>
              <a:t>Automated</a:t>
            </a:r>
          </a:p>
        </p:txBody>
      </p:sp>
      <p:sp>
        <p:nvSpPr>
          <p:cNvPr id="4" name="Slide Number Placeholder 3">
            <a:extLst>
              <a:ext uri="{FF2B5EF4-FFF2-40B4-BE49-F238E27FC236}">
                <a16:creationId xmlns:a16="http://schemas.microsoft.com/office/drawing/2014/main" id="{1A0A8362-AC8F-6BCA-DAC3-C94195D81966}"/>
              </a:ext>
            </a:extLst>
          </p:cNvPr>
          <p:cNvSpPr>
            <a:spLocks noGrp="1"/>
          </p:cNvSpPr>
          <p:nvPr>
            <p:ph type="sldNum" sz="quarter" idx="12"/>
          </p:nvPr>
        </p:nvSpPr>
        <p:spPr/>
        <p:txBody>
          <a:bodyPr/>
          <a:lstStyle/>
          <a:p>
            <a:fld id="{D57F1E4F-1CFF-5643-939E-02111984F565}" type="slidenum">
              <a:rPr lang="en-US" smtClean="0"/>
              <a:t>19</a:t>
            </a:fld>
            <a:endParaRPr lang="en-US"/>
          </a:p>
        </p:txBody>
      </p:sp>
    </p:spTree>
    <p:extLst>
      <p:ext uri="{BB962C8B-B14F-4D97-AF65-F5344CB8AC3E}">
        <p14:creationId xmlns:p14="http://schemas.microsoft.com/office/powerpoint/2010/main" val="1840072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FB3CEA1-88D9-42FB-88ED-1E9807FE6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A6C928E-4252-4F33-8C34-E50A12A31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Slide Number Placeholder 1">
            <a:extLst>
              <a:ext uri="{FF2B5EF4-FFF2-40B4-BE49-F238E27FC236}">
                <a16:creationId xmlns:a16="http://schemas.microsoft.com/office/drawing/2014/main" id="{E57777D2-9FD0-141D-06F7-C8E29463A1E9}"/>
              </a:ext>
            </a:extLst>
          </p:cNvPr>
          <p:cNvSpPr>
            <a:spLocks noGrp="1"/>
          </p:cNvSpPr>
          <p:nvPr>
            <p:ph type="sldNum" sz="quarter" idx="12"/>
          </p:nvPr>
        </p:nvSpPr>
        <p:spPr>
          <a:xfrm>
            <a:off x="10360818" y="103958"/>
            <a:ext cx="839788" cy="474023"/>
          </a:xfrm>
        </p:spPr>
        <p:txBody>
          <a:bodyPr>
            <a:normAutofit fontScale="92500" lnSpcReduction="10000"/>
          </a:bodyPr>
          <a:lstStyle/>
          <a:p>
            <a:pPr>
              <a:spcAft>
                <a:spcPts val="600"/>
              </a:spcAft>
            </a:pPr>
            <a:fld id="{D57F1E4F-1CFF-5643-939E-02111984F565}" type="slidenum">
              <a:rPr lang="en-US">
                <a:solidFill>
                  <a:srgbClr val="FFFFFF"/>
                </a:solidFill>
              </a:rPr>
              <a:pPr>
                <a:spcAft>
                  <a:spcPts val="600"/>
                </a:spcAft>
              </a:pPr>
              <a:t>20</a:t>
            </a:fld>
            <a:endParaRPr lang="en-US">
              <a:solidFill>
                <a:srgbClr val="FFFFFF"/>
              </a:solidFill>
            </a:endParaRPr>
          </a:p>
        </p:txBody>
      </p:sp>
      <p:graphicFrame>
        <p:nvGraphicFramePr>
          <p:cNvPr id="3" name="Table 2">
            <a:extLst>
              <a:ext uri="{FF2B5EF4-FFF2-40B4-BE49-F238E27FC236}">
                <a16:creationId xmlns:a16="http://schemas.microsoft.com/office/drawing/2014/main" id="{583D449A-2C91-7D89-16C3-EDF1ABC4F410}"/>
              </a:ext>
            </a:extLst>
          </p:cNvPr>
          <p:cNvGraphicFramePr>
            <a:graphicFrameLocks noGrp="1"/>
          </p:cNvGraphicFramePr>
          <p:nvPr>
            <p:extLst>
              <p:ext uri="{D42A27DB-BD31-4B8C-83A1-F6EECF244321}">
                <p14:modId xmlns:p14="http://schemas.microsoft.com/office/powerpoint/2010/main" val="2945498694"/>
              </p:ext>
            </p:extLst>
          </p:nvPr>
        </p:nvGraphicFramePr>
        <p:xfrm>
          <a:off x="664669" y="675903"/>
          <a:ext cx="10862661" cy="5051172"/>
        </p:xfrm>
        <a:graphic>
          <a:graphicData uri="http://schemas.openxmlformats.org/drawingml/2006/table">
            <a:tbl>
              <a:tblPr firstRow="1" firstCol="1" bandRow="1">
                <a:tableStyleId>{5C22544A-7EE6-4342-B048-85BDC9FD1C3A}</a:tableStyleId>
              </a:tblPr>
              <a:tblGrid>
                <a:gridCol w="2792634">
                  <a:extLst>
                    <a:ext uri="{9D8B030D-6E8A-4147-A177-3AD203B41FA5}">
                      <a16:colId xmlns:a16="http://schemas.microsoft.com/office/drawing/2014/main" val="824151095"/>
                    </a:ext>
                  </a:extLst>
                </a:gridCol>
                <a:gridCol w="4235009">
                  <a:extLst>
                    <a:ext uri="{9D8B030D-6E8A-4147-A177-3AD203B41FA5}">
                      <a16:colId xmlns:a16="http://schemas.microsoft.com/office/drawing/2014/main" val="3538459491"/>
                    </a:ext>
                  </a:extLst>
                </a:gridCol>
                <a:gridCol w="3835018">
                  <a:extLst>
                    <a:ext uri="{9D8B030D-6E8A-4147-A177-3AD203B41FA5}">
                      <a16:colId xmlns:a16="http://schemas.microsoft.com/office/drawing/2014/main" val="47292683"/>
                    </a:ext>
                  </a:extLst>
                </a:gridCol>
              </a:tblGrid>
              <a:tr h="491583">
                <a:tc>
                  <a:txBody>
                    <a:bodyPr/>
                    <a:lstStyle/>
                    <a:p>
                      <a:pPr marL="0" marR="0" algn="l">
                        <a:lnSpc>
                          <a:spcPct val="110000"/>
                        </a:lnSpc>
                        <a:spcAft>
                          <a:spcPts val="600"/>
                        </a:spcAft>
                        <a:buNone/>
                      </a:pPr>
                      <a:r>
                        <a:rPr lang="en-US" sz="2600" b="1" kern="1200">
                          <a:solidFill>
                            <a:schemeClr val="lt1"/>
                          </a:solidFill>
                          <a:effectLst/>
                          <a:latin typeface="+mn-lt"/>
                          <a:ea typeface="+mn-ea"/>
                          <a:cs typeface="+mn-cs"/>
                        </a:rPr>
                        <a:t>Project</a:t>
                      </a:r>
                      <a:r>
                        <a:rPr lang="en-US" sz="2600">
                          <a:effectLst/>
                        </a:rPr>
                        <a:t> Name</a:t>
                      </a:r>
                      <a:endParaRPr lang="en-US" sz="2700">
                        <a:effectLst/>
                        <a:latin typeface="Arial" panose="020B0604020202020204" pitchFamily="34" charset="0"/>
                        <a:ea typeface="MS PGothic" panose="020B0600070205080204" pitchFamily="34" charset="-128"/>
                        <a:cs typeface="Arial" panose="020B0604020202020204" pitchFamily="34" charset="0"/>
                      </a:endParaRPr>
                    </a:p>
                  </a:txBody>
                  <a:tcPr marL="176323" marR="176323" marT="0" marB="0"/>
                </a:tc>
                <a:tc gridSpan="2">
                  <a:txBody>
                    <a:bodyPr/>
                    <a:lstStyle/>
                    <a:p>
                      <a:pPr marL="0" marR="0" algn="l">
                        <a:lnSpc>
                          <a:spcPct val="110000"/>
                        </a:lnSpc>
                        <a:spcAft>
                          <a:spcPts val="600"/>
                        </a:spcAft>
                        <a:buNone/>
                      </a:pPr>
                      <a:r>
                        <a:rPr lang="en-US" sz="2600">
                          <a:effectLst/>
                        </a:rPr>
                        <a:t>AIBI CV for Manufacturing</a:t>
                      </a:r>
                      <a:endParaRPr lang="en-US" sz="2700">
                        <a:effectLst/>
                        <a:latin typeface="Arial" panose="020B0604020202020204" pitchFamily="34" charset="0"/>
                        <a:ea typeface="MS PGothic" panose="020B0600070205080204" pitchFamily="34" charset="-128"/>
                        <a:cs typeface="Arial" panose="020B0604020202020204" pitchFamily="34" charset="0"/>
                      </a:endParaRPr>
                    </a:p>
                  </a:txBody>
                  <a:tcPr marL="176323" marR="176323" marT="0" marB="0"/>
                </a:tc>
                <a:tc hMerge="1">
                  <a:txBody>
                    <a:bodyPr/>
                    <a:lstStyle/>
                    <a:p>
                      <a:endParaRPr lang="en-US"/>
                    </a:p>
                  </a:txBody>
                  <a:tcPr/>
                </a:tc>
                <a:extLst>
                  <a:ext uri="{0D108BD9-81ED-4DB2-BD59-A6C34878D82A}">
                    <a16:rowId xmlns:a16="http://schemas.microsoft.com/office/drawing/2014/main" val="1456686463"/>
                  </a:ext>
                </a:extLst>
              </a:tr>
              <a:tr h="491583">
                <a:tc>
                  <a:txBody>
                    <a:bodyPr/>
                    <a:lstStyle/>
                    <a:p>
                      <a:pPr marL="0" marR="0" algn="l">
                        <a:lnSpc>
                          <a:spcPct val="110000"/>
                        </a:lnSpc>
                        <a:spcAft>
                          <a:spcPts val="600"/>
                        </a:spcAft>
                        <a:buNone/>
                      </a:pPr>
                      <a:r>
                        <a:rPr lang="en-US" sz="2600">
                          <a:effectLst/>
                        </a:rPr>
                        <a:t>Test Suite</a:t>
                      </a:r>
                      <a:endParaRPr lang="en-US" sz="2700">
                        <a:effectLst/>
                        <a:latin typeface="Arial" panose="020B0604020202020204" pitchFamily="34" charset="0"/>
                        <a:ea typeface="MS PGothic" panose="020B0600070205080204" pitchFamily="34" charset="-128"/>
                        <a:cs typeface="Arial" panose="020B0604020202020204" pitchFamily="34" charset="0"/>
                      </a:endParaRPr>
                    </a:p>
                  </a:txBody>
                  <a:tcPr marL="176323" marR="176323" marT="0" marB="0"/>
                </a:tc>
                <a:tc gridSpan="2">
                  <a:txBody>
                    <a:bodyPr/>
                    <a:lstStyle/>
                    <a:p>
                      <a:pPr marL="0" marR="0" algn="l">
                        <a:lnSpc>
                          <a:spcPct val="110000"/>
                        </a:lnSpc>
                        <a:spcAft>
                          <a:spcPts val="600"/>
                        </a:spcAft>
                        <a:buNone/>
                      </a:pPr>
                      <a:r>
                        <a:rPr lang="en-US" sz="2600">
                          <a:effectLst/>
                        </a:rPr>
                        <a:t>System/Manual Functional</a:t>
                      </a:r>
                      <a:endParaRPr lang="en-US" sz="2700">
                        <a:effectLst/>
                        <a:latin typeface="Arial" panose="020B0604020202020204" pitchFamily="34" charset="0"/>
                        <a:ea typeface="MS PGothic" panose="020B0600070205080204" pitchFamily="34" charset="-128"/>
                        <a:cs typeface="Arial" panose="020B0604020202020204" pitchFamily="34" charset="0"/>
                      </a:endParaRPr>
                    </a:p>
                  </a:txBody>
                  <a:tcPr marL="176323" marR="176323" marT="0" marB="0"/>
                </a:tc>
                <a:tc hMerge="1">
                  <a:txBody>
                    <a:bodyPr/>
                    <a:lstStyle/>
                    <a:p>
                      <a:endParaRPr lang="en-US"/>
                    </a:p>
                  </a:txBody>
                  <a:tcPr/>
                </a:tc>
                <a:extLst>
                  <a:ext uri="{0D108BD9-81ED-4DB2-BD59-A6C34878D82A}">
                    <a16:rowId xmlns:a16="http://schemas.microsoft.com/office/drawing/2014/main" val="3840279755"/>
                  </a:ext>
                </a:extLst>
              </a:tr>
              <a:tr h="491583">
                <a:tc>
                  <a:txBody>
                    <a:bodyPr/>
                    <a:lstStyle/>
                    <a:p>
                      <a:pPr marL="0" marR="0" algn="l">
                        <a:lnSpc>
                          <a:spcPct val="110000"/>
                        </a:lnSpc>
                        <a:spcAft>
                          <a:spcPts val="600"/>
                        </a:spcAft>
                        <a:buNone/>
                      </a:pPr>
                      <a:r>
                        <a:rPr lang="en-US" sz="2600">
                          <a:effectLst/>
                        </a:rPr>
                        <a:t>Test Case ID</a:t>
                      </a:r>
                      <a:endParaRPr lang="en-US" sz="2700">
                        <a:effectLst/>
                        <a:latin typeface="Arial" panose="020B0604020202020204" pitchFamily="34" charset="0"/>
                        <a:ea typeface="MS PGothic" panose="020B0600070205080204" pitchFamily="34" charset="-128"/>
                        <a:cs typeface="Arial" panose="020B0604020202020204" pitchFamily="34" charset="0"/>
                      </a:endParaRPr>
                    </a:p>
                  </a:txBody>
                  <a:tcPr marL="176323" marR="176323" marT="0" marB="0"/>
                </a:tc>
                <a:tc gridSpan="2">
                  <a:txBody>
                    <a:bodyPr/>
                    <a:lstStyle/>
                    <a:p>
                      <a:pPr marL="0" marR="0" algn="l">
                        <a:lnSpc>
                          <a:spcPct val="110000"/>
                        </a:lnSpc>
                        <a:spcAft>
                          <a:spcPts val="600"/>
                        </a:spcAft>
                        <a:buNone/>
                      </a:pPr>
                      <a:r>
                        <a:rPr lang="en-US" sz="2600">
                          <a:effectLst/>
                        </a:rPr>
                        <a:t>TC-SFR1-MAN-01</a:t>
                      </a:r>
                      <a:endParaRPr lang="en-US" sz="2700">
                        <a:effectLst/>
                        <a:latin typeface="Arial" panose="020B0604020202020204" pitchFamily="34" charset="0"/>
                        <a:ea typeface="MS PGothic" panose="020B0600070205080204" pitchFamily="34" charset="-128"/>
                        <a:cs typeface="Arial" panose="020B0604020202020204" pitchFamily="34" charset="0"/>
                      </a:endParaRPr>
                    </a:p>
                  </a:txBody>
                  <a:tcPr marL="176323" marR="176323" marT="0" marB="0"/>
                </a:tc>
                <a:tc hMerge="1">
                  <a:txBody>
                    <a:bodyPr/>
                    <a:lstStyle/>
                    <a:p>
                      <a:endParaRPr lang="en-US"/>
                    </a:p>
                  </a:txBody>
                  <a:tcPr/>
                </a:tc>
                <a:extLst>
                  <a:ext uri="{0D108BD9-81ED-4DB2-BD59-A6C34878D82A}">
                    <a16:rowId xmlns:a16="http://schemas.microsoft.com/office/drawing/2014/main" val="1178240493"/>
                  </a:ext>
                </a:extLst>
              </a:tr>
              <a:tr h="491583">
                <a:tc>
                  <a:txBody>
                    <a:bodyPr/>
                    <a:lstStyle/>
                    <a:p>
                      <a:pPr marL="0" marR="0" algn="l">
                        <a:lnSpc>
                          <a:spcPct val="110000"/>
                        </a:lnSpc>
                        <a:spcAft>
                          <a:spcPts val="600"/>
                        </a:spcAft>
                        <a:buNone/>
                      </a:pPr>
                      <a:r>
                        <a:rPr lang="en-US" sz="2600">
                          <a:effectLst/>
                        </a:rPr>
                        <a:t>What to Test</a:t>
                      </a:r>
                      <a:endParaRPr lang="en-US" sz="2700">
                        <a:effectLst/>
                        <a:latin typeface="Arial" panose="020B0604020202020204" pitchFamily="34" charset="0"/>
                        <a:ea typeface="MS PGothic" panose="020B0600070205080204" pitchFamily="34" charset="-128"/>
                        <a:cs typeface="Arial" panose="020B0604020202020204" pitchFamily="34" charset="0"/>
                      </a:endParaRPr>
                    </a:p>
                  </a:txBody>
                  <a:tcPr marL="176323" marR="176323" marT="0" marB="0"/>
                </a:tc>
                <a:tc gridSpan="2">
                  <a:txBody>
                    <a:bodyPr/>
                    <a:lstStyle/>
                    <a:p>
                      <a:pPr marL="0" marR="0" algn="l">
                        <a:lnSpc>
                          <a:spcPct val="110000"/>
                        </a:lnSpc>
                        <a:spcAft>
                          <a:spcPts val="600"/>
                        </a:spcAft>
                        <a:buNone/>
                      </a:pPr>
                      <a:r>
                        <a:rPr lang="en-US" sz="2600">
                          <a:effectLst/>
                        </a:rPr>
                        <a:t>Live camera detects all visible QR codes.</a:t>
                      </a:r>
                      <a:endParaRPr lang="en-US" sz="2700">
                        <a:effectLst/>
                        <a:latin typeface="Arial" panose="020B0604020202020204" pitchFamily="34" charset="0"/>
                        <a:ea typeface="MS PGothic" panose="020B0600070205080204" pitchFamily="34" charset="-128"/>
                        <a:cs typeface="Arial" panose="020B0604020202020204" pitchFamily="34" charset="0"/>
                      </a:endParaRPr>
                    </a:p>
                  </a:txBody>
                  <a:tcPr marL="176323" marR="176323" marT="0" marB="0"/>
                </a:tc>
                <a:tc hMerge="1">
                  <a:txBody>
                    <a:bodyPr/>
                    <a:lstStyle/>
                    <a:p>
                      <a:endParaRPr lang="en-US"/>
                    </a:p>
                  </a:txBody>
                  <a:tcPr/>
                </a:tc>
                <a:extLst>
                  <a:ext uri="{0D108BD9-81ED-4DB2-BD59-A6C34878D82A}">
                    <a16:rowId xmlns:a16="http://schemas.microsoft.com/office/drawing/2014/main" val="3429614628"/>
                  </a:ext>
                </a:extLst>
              </a:tr>
              <a:tr h="491583">
                <a:tc>
                  <a:txBody>
                    <a:bodyPr/>
                    <a:lstStyle/>
                    <a:p>
                      <a:pPr marL="0" marR="0" algn="l">
                        <a:lnSpc>
                          <a:spcPct val="110000"/>
                        </a:lnSpc>
                        <a:spcAft>
                          <a:spcPts val="600"/>
                        </a:spcAft>
                        <a:buNone/>
                      </a:pPr>
                      <a:r>
                        <a:rPr lang="en-US" sz="2600">
                          <a:effectLst/>
                        </a:rPr>
                        <a:t>Test Data Input</a:t>
                      </a:r>
                      <a:endParaRPr lang="en-US" sz="2700">
                        <a:effectLst/>
                        <a:latin typeface="Arial" panose="020B0604020202020204" pitchFamily="34" charset="0"/>
                        <a:ea typeface="MS PGothic" panose="020B0600070205080204" pitchFamily="34" charset="-128"/>
                        <a:cs typeface="Arial" panose="020B0604020202020204" pitchFamily="34" charset="0"/>
                      </a:endParaRPr>
                    </a:p>
                  </a:txBody>
                  <a:tcPr marL="176323" marR="176323" marT="0" marB="0"/>
                </a:tc>
                <a:tc gridSpan="2">
                  <a:txBody>
                    <a:bodyPr/>
                    <a:lstStyle/>
                    <a:p>
                      <a:pPr marL="0" marR="0" algn="l">
                        <a:lnSpc>
                          <a:spcPct val="110000"/>
                        </a:lnSpc>
                        <a:spcAft>
                          <a:spcPts val="600"/>
                        </a:spcAft>
                        <a:buNone/>
                      </a:pPr>
                      <a:r>
                        <a:rPr lang="en-US" sz="2600">
                          <a:effectLst/>
                        </a:rPr>
                        <a:t>Printed QR codes placed in camera FOV.</a:t>
                      </a:r>
                      <a:endParaRPr lang="en-US" sz="2700">
                        <a:effectLst/>
                        <a:latin typeface="Arial" panose="020B0604020202020204" pitchFamily="34" charset="0"/>
                        <a:ea typeface="MS PGothic" panose="020B0600070205080204" pitchFamily="34" charset="-128"/>
                        <a:cs typeface="Arial" panose="020B0604020202020204" pitchFamily="34" charset="0"/>
                      </a:endParaRPr>
                    </a:p>
                  </a:txBody>
                  <a:tcPr marL="176323" marR="176323" marT="0" marB="0"/>
                </a:tc>
                <a:tc hMerge="1">
                  <a:txBody>
                    <a:bodyPr/>
                    <a:lstStyle/>
                    <a:p>
                      <a:endParaRPr lang="en-US"/>
                    </a:p>
                  </a:txBody>
                  <a:tcPr/>
                </a:tc>
                <a:extLst>
                  <a:ext uri="{0D108BD9-81ED-4DB2-BD59-A6C34878D82A}">
                    <a16:rowId xmlns:a16="http://schemas.microsoft.com/office/drawing/2014/main" val="1380800311"/>
                  </a:ext>
                </a:extLst>
              </a:tr>
              <a:tr h="1118508">
                <a:tc>
                  <a:txBody>
                    <a:bodyPr/>
                    <a:lstStyle/>
                    <a:p>
                      <a:pPr marL="0" marR="0" algn="l">
                        <a:lnSpc>
                          <a:spcPct val="110000"/>
                        </a:lnSpc>
                        <a:spcAft>
                          <a:spcPts val="600"/>
                        </a:spcAft>
                        <a:buNone/>
                      </a:pPr>
                      <a:r>
                        <a:rPr lang="en-US" sz="2600">
                          <a:effectLst/>
                        </a:rPr>
                        <a:t>Expected</a:t>
                      </a:r>
                      <a:endParaRPr lang="en-US" sz="2700">
                        <a:effectLst/>
                      </a:endParaRPr>
                    </a:p>
                    <a:p>
                      <a:pPr marL="0" marR="0" algn="l">
                        <a:lnSpc>
                          <a:spcPct val="110000"/>
                        </a:lnSpc>
                        <a:spcAft>
                          <a:spcPts val="600"/>
                        </a:spcAft>
                        <a:buNone/>
                      </a:pPr>
                      <a:r>
                        <a:rPr lang="en-US" sz="2600">
                          <a:effectLst/>
                        </a:rPr>
                        <a:t>Result</a:t>
                      </a:r>
                      <a:endParaRPr lang="en-US" sz="2700">
                        <a:effectLst/>
                        <a:latin typeface="Arial" panose="020B0604020202020204" pitchFamily="34" charset="0"/>
                        <a:ea typeface="MS PGothic" panose="020B0600070205080204" pitchFamily="34" charset="-128"/>
                        <a:cs typeface="Arial" panose="020B0604020202020204" pitchFamily="34" charset="0"/>
                      </a:endParaRPr>
                    </a:p>
                  </a:txBody>
                  <a:tcPr marL="176323" marR="176323" marT="0" marB="0"/>
                </a:tc>
                <a:tc gridSpan="2">
                  <a:txBody>
                    <a:bodyPr/>
                    <a:lstStyle/>
                    <a:p>
                      <a:pPr marL="0" marR="0" algn="l">
                        <a:lnSpc>
                          <a:spcPct val="110000"/>
                        </a:lnSpc>
                        <a:spcAft>
                          <a:spcPts val="600"/>
                        </a:spcAft>
                        <a:buNone/>
                      </a:pPr>
                      <a:r>
                        <a:rPr lang="en-US" sz="2600">
                          <a:effectLst/>
                        </a:rPr>
                        <a:t>All visible codes appear in UI/output.</a:t>
                      </a:r>
                      <a:endParaRPr lang="en-US" sz="2700">
                        <a:effectLst/>
                        <a:latin typeface="Arial" panose="020B0604020202020204" pitchFamily="34" charset="0"/>
                        <a:ea typeface="MS PGothic" panose="020B0600070205080204" pitchFamily="34" charset="-128"/>
                        <a:cs typeface="Arial" panose="020B0604020202020204" pitchFamily="34" charset="0"/>
                      </a:endParaRPr>
                    </a:p>
                  </a:txBody>
                  <a:tcPr marL="176323" marR="176323" marT="0" marB="0"/>
                </a:tc>
                <a:tc hMerge="1">
                  <a:txBody>
                    <a:bodyPr/>
                    <a:lstStyle/>
                    <a:p>
                      <a:endParaRPr lang="en-US"/>
                    </a:p>
                  </a:txBody>
                  <a:tcPr/>
                </a:tc>
                <a:extLst>
                  <a:ext uri="{0D108BD9-81ED-4DB2-BD59-A6C34878D82A}">
                    <a16:rowId xmlns:a16="http://schemas.microsoft.com/office/drawing/2014/main" val="1576510103"/>
                  </a:ext>
                </a:extLst>
              </a:tr>
              <a:tr h="491583">
                <a:tc rowSpan="3">
                  <a:txBody>
                    <a:bodyPr/>
                    <a:lstStyle/>
                    <a:p>
                      <a:pPr marL="0" marR="0" algn="l">
                        <a:lnSpc>
                          <a:spcPct val="110000"/>
                        </a:lnSpc>
                        <a:spcAft>
                          <a:spcPts val="600"/>
                        </a:spcAft>
                        <a:buNone/>
                      </a:pPr>
                      <a:r>
                        <a:rPr lang="en-US" sz="2600">
                          <a:effectLst/>
                        </a:rPr>
                        <a:t>Traceability</a:t>
                      </a:r>
                      <a:endParaRPr lang="en-US" sz="2700">
                        <a:effectLst/>
                        <a:latin typeface="Arial" panose="020B0604020202020204" pitchFamily="34" charset="0"/>
                        <a:ea typeface="MS PGothic" panose="020B0600070205080204" pitchFamily="34" charset="-128"/>
                        <a:cs typeface="Arial" panose="020B0604020202020204" pitchFamily="34" charset="0"/>
                      </a:endParaRPr>
                    </a:p>
                  </a:txBody>
                  <a:tcPr marL="176323" marR="176323" marT="0" marB="0"/>
                </a:tc>
                <a:tc>
                  <a:txBody>
                    <a:bodyPr/>
                    <a:lstStyle/>
                    <a:p>
                      <a:pPr marL="0" marR="0" algn="l">
                        <a:lnSpc>
                          <a:spcPct val="110000"/>
                        </a:lnSpc>
                        <a:spcAft>
                          <a:spcPts val="600"/>
                        </a:spcAft>
                        <a:buNone/>
                      </a:pPr>
                      <a:r>
                        <a:rPr lang="en-US" sz="2600">
                          <a:effectLst/>
                        </a:rPr>
                        <a:t>Relevant User Req.(s)</a:t>
                      </a:r>
                      <a:endParaRPr lang="en-US" sz="2700">
                        <a:effectLst/>
                        <a:latin typeface="Arial" panose="020B0604020202020204" pitchFamily="34" charset="0"/>
                        <a:ea typeface="MS PGothic" panose="020B0600070205080204" pitchFamily="34" charset="-128"/>
                        <a:cs typeface="Arial" panose="020B0604020202020204" pitchFamily="34" charset="0"/>
                      </a:endParaRPr>
                    </a:p>
                  </a:txBody>
                  <a:tcPr marL="176323" marR="176323" marT="0" marB="0"/>
                </a:tc>
                <a:tc>
                  <a:txBody>
                    <a:bodyPr/>
                    <a:lstStyle/>
                    <a:p>
                      <a:pPr marL="0" marR="0" algn="l">
                        <a:lnSpc>
                          <a:spcPct val="110000"/>
                        </a:lnSpc>
                        <a:spcAft>
                          <a:spcPts val="600"/>
                        </a:spcAft>
                        <a:buNone/>
                      </a:pPr>
                      <a:r>
                        <a:rPr lang="en-US" sz="2600">
                          <a:effectLst/>
                        </a:rPr>
                        <a:t>UFR1</a:t>
                      </a:r>
                      <a:endParaRPr lang="en-US" sz="2700">
                        <a:effectLst/>
                        <a:latin typeface="Arial" panose="020B0604020202020204" pitchFamily="34" charset="0"/>
                        <a:ea typeface="MS PGothic" panose="020B0600070205080204" pitchFamily="34" charset="-128"/>
                        <a:cs typeface="Arial" panose="020B0604020202020204" pitchFamily="34" charset="0"/>
                      </a:endParaRPr>
                    </a:p>
                  </a:txBody>
                  <a:tcPr marL="176323" marR="176323" marT="0" marB="0"/>
                </a:tc>
                <a:extLst>
                  <a:ext uri="{0D108BD9-81ED-4DB2-BD59-A6C34878D82A}">
                    <a16:rowId xmlns:a16="http://schemas.microsoft.com/office/drawing/2014/main" val="683327141"/>
                  </a:ext>
                </a:extLst>
              </a:tr>
              <a:tr h="491583">
                <a:tc vMerge="1">
                  <a:txBody>
                    <a:bodyPr/>
                    <a:lstStyle/>
                    <a:p>
                      <a:endParaRPr lang="en-US"/>
                    </a:p>
                  </a:txBody>
                  <a:tcPr/>
                </a:tc>
                <a:tc>
                  <a:txBody>
                    <a:bodyPr/>
                    <a:lstStyle/>
                    <a:p>
                      <a:pPr marL="0" marR="0" algn="l">
                        <a:lnSpc>
                          <a:spcPct val="110000"/>
                        </a:lnSpc>
                        <a:spcAft>
                          <a:spcPts val="600"/>
                        </a:spcAft>
                        <a:buNone/>
                      </a:pPr>
                      <a:r>
                        <a:rPr lang="en-US" sz="2600">
                          <a:effectLst/>
                        </a:rPr>
                        <a:t>Relevant System Req.(s)</a:t>
                      </a:r>
                      <a:endParaRPr lang="en-US" sz="2700">
                        <a:effectLst/>
                        <a:latin typeface="Arial" panose="020B0604020202020204" pitchFamily="34" charset="0"/>
                        <a:ea typeface="MS PGothic" panose="020B0600070205080204" pitchFamily="34" charset="-128"/>
                        <a:cs typeface="Arial" panose="020B0604020202020204" pitchFamily="34" charset="0"/>
                      </a:endParaRPr>
                    </a:p>
                  </a:txBody>
                  <a:tcPr marL="176323" marR="176323" marT="0" marB="0"/>
                </a:tc>
                <a:tc>
                  <a:txBody>
                    <a:bodyPr/>
                    <a:lstStyle/>
                    <a:p>
                      <a:pPr marL="0" marR="0" algn="l">
                        <a:lnSpc>
                          <a:spcPct val="110000"/>
                        </a:lnSpc>
                        <a:spcAft>
                          <a:spcPts val="600"/>
                        </a:spcAft>
                        <a:buNone/>
                      </a:pPr>
                      <a:r>
                        <a:rPr lang="en-US" sz="2600">
                          <a:effectLst/>
                        </a:rPr>
                        <a:t>SFR1, SFR15, SFR16</a:t>
                      </a:r>
                      <a:endParaRPr lang="en-US" sz="2700">
                        <a:effectLst/>
                        <a:latin typeface="Arial" panose="020B0604020202020204" pitchFamily="34" charset="0"/>
                        <a:ea typeface="MS PGothic" panose="020B0600070205080204" pitchFamily="34" charset="-128"/>
                        <a:cs typeface="Arial" panose="020B0604020202020204" pitchFamily="34" charset="0"/>
                      </a:endParaRPr>
                    </a:p>
                  </a:txBody>
                  <a:tcPr marL="176323" marR="176323" marT="0" marB="0"/>
                </a:tc>
                <a:extLst>
                  <a:ext uri="{0D108BD9-81ED-4DB2-BD59-A6C34878D82A}">
                    <a16:rowId xmlns:a16="http://schemas.microsoft.com/office/drawing/2014/main" val="2453753152"/>
                  </a:ext>
                </a:extLst>
              </a:tr>
              <a:tr h="491583">
                <a:tc vMerge="1">
                  <a:txBody>
                    <a:bodyPr/>
                    <a:lstStyle/>
                    <a:p>
                      <a:endParaRPr lang="en-US"/>
                    </a:p>
                  </a:txBody>
                  <a:tcPr/>
                </a:tc>
                <a:tc>
                  <a:txBody>
                    <a:bodyPr/>
                    <a:lstStyle/>
                    <a:p>
                      <a:pPr marL="0" marR="0" algn="l">
                        <a:lnSpc>
                          <a:spcPct val="110000"/>
                        </a:lnSpc>
                        <a:spcAft>
                          <a:spcPts val="600"/>
                        </a:spcAft>
                        <a:buNone/>
                      </a:pPr>
                      <a:r>
                        <a:rPr lang="en-US" sz="2600">
                          <a:effectLst/>
                        </a:rPr>
                        <a:t>Relevant Use Case.(s)</a:t>
                      </a:r>
                      <a:endParaRPr lang="en-US" sz="2700">
                        <a:effectLst/>
                        <a:latin typeface="Arial" panose="020B0604020202020204" pitchFamily="34" charset="0"/>
                        <a:ea typeface="MS PGothic" panose="020B0600070205080204" pitchFamily="34" charset="-128"/>
                        <a:cs typeface="Arial" panose="020B0604020202020204" pitchFamily="34" charset="0"/>
                      </a:endParaRPr>
                    </a:p>
                  </a:txBody>
                  <a:tcPr marL="176323" marR="176323" marT="0" marB="0"/>
                </a:tc>
                <a:tc>
                  <a:txBody>
                    <a:bodyPr/>
                    <a:lstStyle/>
                    <a:p>
                      <a:pPr marL="0" marR="0" algn="l">
                        <a:lnSpc>
                          <a:spcPct val="110000"/>
                        </a:lnSpc>
                        <a:spcAft>
                          <a:spcPts val="600"/>
                        </a:spcAft>
                        <a:buNone/>
                      </a:pPr>
                      <a:r>
                        <a:rPr lang="en-US" sz="2600">
                          <a:effectLst/>
                        </a:rPr>
                        <a:t>UC-001</a:t>
                      </a:r>
                      <a:endParaRPr lang="en-US" sz="2700">
                        <a:effectLst/>
                        <a:latin typeface="Arial" panose="020B0604020202020204" pitchFamily="34" charset="0"/>
                        <a:ea typeface="MS PGothic" panose="020B0600070205080204" pitchFamily="34" charset="-128"/>
                        <a:cs typeface="Arial" panose="020B0604020202020204" pitchFamily="34" charset="0"/>
                      </a:endParaRPr>
                    </a:p>
                  </a:txBody>
                  <a:tcPr marL="176323" marR="176323" marT="0" marB="0"/>
                </a:tc>
                <a:extLst>
                  <a:ext uri="{0D108BD9-81ED-4DB2-BD59-A6C34878D82A}">
                    <a16:rowId xmlns:a16="http://schemas.microsoft.com/office/drawing/2014/main" val="829636751"/>
                  </a:ext>
                </a:extLst>
              </a:tr>
            </a:tbl>
          </a:graphicData>
        </a:graphic>
      </p:graphicFrame>
    </p:spTree>
    <p:extLst>
      <p:ext uri="{BB962C8B-B14F-4D97-AF65-F5344CB8AC3E}">
        <p14:creationId xmlns:p14="http://schemas.microsoft.com/office/powerpoint/2010/main" val="30691472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AB40F66D-63DF-2B2F-43F9-B4320826E345}"/>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DFB3CEA1-88D9-42FB-88ED-1E9807FE6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A6C928E-4252-4F33-8C34-E50A12A31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Slide Number Placeholder 1">
            <a:extLst>
              <a:ext uri="{FF2B5EF4-FFF2-40B4-BE49-F238E27FC236}">
                <a16:creationId xmlns:a16="http://schemas.microsoft.com/office/drawing/2014/main" id="{4DE61463-8A33-D03C-13A4-24D2B243EB9A}"/>
              </a:ext>
            </a:extLst>
          </p:cNvPr>
          <p:cNvSpPr>
            <a:spLocks noGrp="1"/>
          </p:cNvSpPr>
          <p:nvPr>
            <p:ph type="sldNum" sz="quarter" idx="12"/>
          </p:nvPr>
        </p:nvSpPr>
        <p:spPr>
          <a:xfrm>
            <a:off x="10361612" y="-196187"/>
            <a:ext cx="838199" cy="767687"/>
          </a:xfrm>
        </p:spPr>
        <p:txBody>
          <a:bodyPr>
            <a:normAutofit/>
          </a:bodyPr>
          <a:lstStyle/>
          <a:p>
            <a:pPr>
              <a:spcAft>
                <a:spcPts val="600"/>
              </a:spcAft>
            </a:pPr>
            <a:fld id="{D57F1E4F-1CFF-5643-939E-02111984F565}" type="slidenum">
              <a:rPr lang="en-US">
                <a:solidFill>
                  <a:srgbClr val="FFFFFF"/>
                </a:solidFill>
              </a:rPr>
              <a:pPr>
                <a:spcAft>
                  <a:spcPts val="600"/>
                </a:spcAft>
              </a:pPr>
              <a:t>21</a:t>
            </a:fld>
            <a:endParaRPr lang="en-US">
              <a:solidFill>
                <a:srgbClr val="FFFFFF"/>
              </a:solidFill>
            </a:endParaRPr>
          </a:p>
        </p:txBody>
      </p:sp>
      <p:graphicFrame>
        <p:nvGraphicFramePr>
          <p:cNvPr id="3" name="Table 2">
            <a:extLst>
              <a:ext uri="{FF2B5EF4-FFF2-40B4-BE49-F238E27FC236}">
                <a16:creationId xmlns:a16="http://schemas.microsoft.com/office/drawing/2014/main" id="{738CA20E-002E-E776-7023-3ACF90DC38FF}"/>
              </a:ext>
            </a:extLst>
          </p:cNvPr>
          <p:cNvGraphicFramePr>
            <a:graphicFrameLocks noGrp="1"/>
          </p:cNvGraphicFramePr>
          <p:nvPr>
            <p:extLst>
              <p:ext uri="{D42A27DB-BD31-4B8C-83A1-F6EECF244321}">
                <p14:modId xmlns:p14="http://schemas.microsoft.com/office/powerpoint/2010/main" val="2773472162"/>
              </p:ext>
            </p:extLst>
          </p:nvPr>
        </p:nvGraphicFramePr>
        <p:xfrm>
          <a:off x="635014" y="721910"/>
          <a:ext cx="10921972" cy="4930479"/>
        </p:xfrm>
        <a:graphic>
          <a:graphicData uri="http://schemas.openxmlformats.org/drawingml/2006/table">
            <a:tbl>
              <a:tblPr firstRow="1" firstCol="1" bandRow="1">
                <a:tableStyleId>{5C22544A-7EE6-4342-B048-85BDC9FD1C3A}</a:tableStyleId>
              </a:tblPr>
              <a:tblGrid>
                <a:gridCol w="2784208">
                  <a:extLst>
                    <a:ext uri="{9D8B030D-6E8A-4147-A177-3AD203B41FA5}">
                      <a16:colId xmlns:a16="http://schemas.microsoft.com/office/drawing/2014/main" val="804407326"/>
                    </a:ext>
                  </a:extLst>
                </a:gridCol>
                <a:gridCol w="4845766">
                  <a:extLst>
                    <a:ext uri="{9D8B030D-6E8A-4147-A177-3AD203B41FA5}">
                      <a16:colId xmlns:a16="http://schemas.microsoft.com/office/drawing/2014/main" val="2151459758"/>
                    </a:ext>
                  </a:extLst>
                </a:gridCol>
                <a:gridCol w="3291998">
                  <a:extLst>
                    <a:ext uri="{9D8B030D-6E8A-4147-A177-3AD203B41FA5}">
                      <a16:colId xmlns:a16="http://schemas.microsoft.com/office/drawing/2014/main" val="2978557724"/>
                    </a:ext>
                  </a:extLst>
                </a:gridCol>
              </a:tblGrid>
              <a:tr h="479837">
                <a:tc>
                  <a:txBody>
                    <a:bodyPr/>
                    <a:lstStyle/>
                    <a:p>
                      <a:pPr marL="0" marR="0" algn="l" defTabSz="457200" rtl="0" eaLnBrk="1" latinLnBrk="0" hangingPunct="1">
                        <a:lnSpc>
                          <a:spcPct val="110000"/>
                        </a:lnSpc>
                        <a:spcAft>
                          <a:spcPts val="600"/>
                        </a:spcAft>
                        <a:buNone/>
                      </a:pPr>
                      <a:r>
                        <a:rPr lang="en-US" sz="2600" b="1" kern="1200">
                          <a:solidFill>
                            <a:schemeClr val="lt1"/>
                          </a:solidFill>
                          <a:effectLst/>
                          <a:latin typeface="+mn-lt"/>
                          <a:ea typeface="+mn-ea"/>
                          <a:cs typeface="+mn-cs"/>
                        </a:rPr>
                        <a:t>Project Name</a:t>
                      </a:r>
                    </a:p>
                  </a:txBody>
                  <a:tcPr marL="172110" marR="172110" marT="0" marB="0"/>
                </a:tc>
                <a:tc gridSpan="2">
                  <a:txBody>
                    <a:bodyPr/>
                    <a:lstStyle/>
                    <a:p>
                      <a:pPr marL="0" marR="0" algn="l" defTabSz="457200" rtl="0" eaLnBrk="1" latinLnBrk="0" hangingPunct="1">
                        <a:lnSpc>
                          <a:spcPct val="110000"/>
                        </a:lnSpc>
                        <a:spcAft>
                          <a:spcPts val="600"/>
                        </a:spcAft>
                        <a:buNone/>
                      </a:pPr>
                      <a:r>
                        <a:rPr lang="en-US" sz="2600" b="1" kern="1200">
                          <a:solidFill>
                            <a:schemeClr val="lt1"/>
                          </a:solidFill>
                          <a:effectLst/>
                          <a:latin typeface="+mn-lt"/>
                          <a:ea typeface="+mn-ea"/>
                          <a:cs typeface="+mn-cs"/>
                        </a:rPr>
                        <a:t>AIBI CV for Manufacturing</a:t>
                      </a:r>
                    </a:p>
                  </a:txBody>
                  <a:tcPr marL="172110" marR="172110" marT="0" marB="0"/>
                </a:tc>
                <a:tc hMerge="1">
                  <a:txBody>
                    <a:bodyPr/>
                    <a:lstStyle/>
                    <a:p>
                      <a:endParaRPr lang="en-US"/>
                    </a:p>
                  </a:txBody>
                  <a:tcPr/>
                </a:tc>
                <a:extLst>
                  <a:ext uri="{0D108BD9-81ED-4DB2-BD59-A6C34878D82A}">
                    <a16:rowId xmlns:a16="http://schemas.microsoft.com/office/drawing/2014/main" val="1326969040"/>
                  </a:ext>
                </a:extLst>
              </a:tr>
              <a:tr h="479837">
                <a:tc>
                  <a:txBody>
                    <a:bodyPr/>
                    <a:lstStyle/>
                    <a:p>
                      <a:pPr marL="0" marR="0" algn="l" defTabSz="457200" rtl="0" eaLnBrk="1" latinLnBrk="0" hangingPunct="1">
                        <a:lnSpc>
                          <a:spcPct val="110000"/>
                        </a:lnSpc>
                        <a:spcAft>
                          <a:spcPts val="600"/>
                        </a:spcAft>
                        <a:buNone/>
                      </a:pPr>
                      <a:r>
                        <a:rPr lang="en-US" sz="2600" b="1" kern="1200">
                          <a:solidFill>
                            <a:schemeClr val="lt1"/>
                          </a:solidFill>
                          <a:effectLst/>
                          <a:latin typeface="+mn-lt"/>
                          <a:ea typeface="+mn-ea"/>
                          <a:cs typeface="+mn-cs"/>
                        </a:rPr>
                        <a:t>Test Suite</a:t>
                      </a:r>
                    </a:p>
                  </a:txBody>
                  <a:tcPr marL="172110" marR="172110" marT="0" marB="0"/>
                </a:tc>
                <a:tc gridSpan="2">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System/Manual Functional</a:t>
                      </a:r>
                    </a:p>
                  </a:txBody>
                  <a:tcPr marL="172110" marR="172110" marT="0" marB="0"/>
                </a:tc>
                <a:tc hMerge="1">
                  <a:txBody>
                    <a:bodyPr/>
                    <a:lstStyle/>
                    <a:p>
                      <a:endParaRPr lang="en-US"/>
                    </a:p>
                  </a:txBody>
                  <a:tcPr/>
                </a:tc>
                <a:extLst>
                  <a:ext uri="{0D108BD9-81ED-4DB2-BD59-A6C34878D82A}">
                    <a16:rowId xmlns:a16="http://schemas.microsoft.com/office/drawing/2014/main" val="3718537682"/>
                  </a:ext>
                </a:extLst>
              </a:tr>
              <a:tr h="479837">
                <a:tc>
                  <a:txBody>
                    <a:bodyPr/>
                    <a:lstStyle/>
                    <a:p>
                      <a:pPr marL="0" marR="0" algn="l" defTabSz="457200" rtl="0" eaLnBrk="1" latinLnBrk="0" hangingPunct="1">
                        <a:lnSpc>
                          <a:spcPct val="110000"/>
                        </a:lnSpc>
                        <a:spcAft>
                          <a:spcPts val="600"/>
                        </a:spcAft>
                        <a:buNone/>
                      </a:pPr>
                      <a:r>
                        <a:rPr lang="en-US" sz="2600" b="1" kern="1200">
                          <a:solidFill>
                            <a:schemeClr val="lt1"/>
                          </a:solidFill>
                          <a:effectLst/>
                          <a:latin typeface="+mn-lt"/>
                          <a:ea typeface="+mn-ea"/>
                          <a:cs typeface="+mn-cs"/>
                        </a:rPr>
                        <a:t>Test Case ID</a:t>
                      </a:r>
                    </a:p>
                  </a:txBody>
                  <a:tcPr marL="172110" marR="172110" marT="0" marB="0"/>
                </a:tc>
                <a:tc gridSpan="2">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TC-SFR4-MAN-01</a:t>
                      </a:r>
                    </a:p>
                  </a:txBody>
                  <a:tcPr marL="172110" marR="172110" marT="0" marB="0"/>
                </a:tc>
                <a:tc hMerge="1">
                  <a:txBody>
                    <a:bodyPr/>
                    <a:lstStyle/>
                    <a:p>
                      <a:endParaRPr lang="en-US"/>
                    </a:p>
                  </a:txBody>
                  <a:tcPr/>
                </a:tc>
                <a:extLst>
                  <a:ext uri="{0D108BD9-81ED-4DB2-BD59-A6C34878D82A}">
                    <a16:rowId xmlns:a16="http://schemas.microsoft.com/office/drawing/2014/main" val="249659955"/>
                  </a:ext>
                </a:extLst>
              </a:tr>
              <a:tr h="479837">
                <a:tc>
                  <a:txBody>
                    <a:bodyPr/>
                    <a:lstStyle/>
                    <a:p>
                      <a:pPr marL="0" marR="0" algn="l" defTabSz="457200" rtl="0" eaLnBrk="1" latinLnBrk="0" hangingPunct="1">
                        <a:lnSpc>
                          <a:spcPct val="110000"/>
                        </a:lnSpc>
                        <a:spcAft>
                          <a:spcPts val="600"/>
                        </a:spcAft>
                        <a:buNone/>
                      </a:pPr>
                      <a:r>
                        <a:rPr lang="en-US" sz="2600" b="1" kern="1200">
                          <a:solidFill>
                            <a:schemeClr val="lt1"/>
                          </a:solidFill>
                          <a:effectLst/>
                          <a:latin typeface="+mn-lt"/>
                          <a:ea typeface="+mn-ea"/>
                          <a:cs typeface="+mn-cs"/>
                        </a:rPr>
                        <a:t>What to Test</a:t>
                      </a:r>
                    </a:p>
                  </a:txBody>
                  <a:tcPr marL="172110" marR="172110" marT="0" marB="0"/>
                </a:tc>
                <a:tc gridSpan="2">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Real scan produces correct JSON record.</a:t>
                      </a:r>
                    </a:p>
                  </a:txBody>
                  <a:tcPr marL="172110" marR="172110" marT="0" marB="0"/>
                </a:tc>
                <a:tc hMerge="1">
                  <a:txBody>
                    <a:bodyPr/>
                    <a:lstStyle/>
                    <a:p>
                      <a:endParaRPr lang="en-US"/>
                    </a:p>
                  </a:txBody>
                  <a:tcPr/>
                </a:tc>
                <a:extLst>
                  <a:ext uri="{0D108BD9-81ED-4DB2-BD59-A6C34878D82A}">
                    <a16:rowId xmlns:a16="http://schemas.microsoft.com/office/drawing/2014/main" val="530246185"/>
                  </a:ext>
                </a:extLst>
              </a:tr>
              <a:tr h="479837">
                <a:tc>
                  <a:txBody>
                    <a:bodyPr/>
                    <a:lstStyle/>
                    <a:p>
                      <a:pPr marL="0" marR="0" algn="l" defTabSz="457200" rtl="0" eaLnBrk="1" latinLnBrk="0" hangingPunct="1">
                        <a:lnSpc>
                          <a:spcPct val="110000"/>
                        </a:lnSpc>
                        <a:spcAft>
                          <a:spcPts val="600"/>
                        </a:spcAft>
                        <a:buNone/>
                      </a:pPr>
                      <a:r>
                        <a:rPr lang="en-US" sz="2600" b="1" kern="1200">
                          <a:solidFill>
                            <a:schemeClr val="lt1"/>
                          </a:solidFill>
                          <a:effectLst/>
                          <a:latin typeface="+mn-lt"/>
                          <a:ea typeface="+mn-ea"/>
                          <a:cs typeface="+mn-cs"/>
                        </a:rPr>
                        <a:t>Test Data Input</a:t>
                      </a:r>
                    </a:p>
                  </a:txBody>
                  <a:tcPr marL="172110" marR="172110" marT="0" marB="0"/>
                </a:tc>
                <a:tc gridSpan="2">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Live scan event with known QRs</a:t>
                      </a:r>
                    </a:p>
                  </a:txBody>
                  <a:tcPr marL="172110" marR="172110" marT="0" marB="0"/>
                </a:tc>
                <a:tc hMerge="1">
                  <a:txBody>
                    <a:bodyPr/>
                    <a:lstStyle/>
                    <a:p>
                      <a:endParaRPr lang="en-US"/>
                    </a:p>
                  </a:txBody>
                  <a:tcPr/>
                </a:tc>
                <a:extLst>
                  <a:ext uri="{0D108BD9-81ED-4DB2-BD59-A6C34878D82A}">
                    <a16:rowId xmlns:a16="http://schemas.microsoft.com/office/drawing/2014/main" val="917291506"/>
                  </a:ext>
                </a:extLst>
              </a:tr>
              <a:tr h="1091783">
                <a:tc>
                  <a:txBody>
                    <a:bodyPr/>
                    <a:lstStyle/>
                    <a:p>
                      <a:pPr marL="0" marR="0" algn="l" defTabSz="457200" rtl="0" eaLnBrk="1" latinLnBrk="0" hangingPunct="1">
                        <a:lnSpc>
                          <a:spcPct val="110000"/>
                        </a:lnSpc>
                        <a:spcAft>
                          <a:spcPts val="600"/>
                        </a:spcAft>
                        <a:buNone/>
                      </a:pPr>
                      <a:r>
                        <a:rPr lang="en-US" sz="2600" b="1" kern="1200">
                          <a:solidFill>
                            <a:schemeClr val="lt1"/>
                          </a:solidFill>
                          <a:effectLst/>
                          <a:latin typeface="+mn-lt"/>
                          <a:ea typeface="+mn-ea"/>
                          <a:cs typeface="+mn-cs"/>
                        </a:rPr>
                        <a:t>Expected</a:t>
                      </a:r>
                    </a:p>
                    <a:p>
                      <a:pPr marL="0" marR="0" algn="l" defTabSz="457200" rtl="0" eaLnBrk="1" latinLnBrk="0" hangingPunct="1">
                        <a:lnSpc>
                          <a:spcPct val="110000"/>
                        </a:lnSpc>
                        <a:spcAft>
                          <a:spcPts val="600"/>
                        </a:spcAft>
                        <a:buNone/>
                      </a:pPr>
                      <a:r>
                        <a:rPr lang="en-US" sz="2600" b="1" kern="1200">
                          <a:solidFill>
                            <a:schemeClr val="lt1"/>
                          </a:solidFill>
                          <a:effectLst/>
                          <a:latin typeface="+mn-lt"/>
                          <a:ea typeface="+mn-ea"/>
                          <a:cs typeface="+mn-cs"/>
                        </a:rPr>
                        <a:t>Result</a:t>
                      </a:r>
                    </a:p>
                  </a:txBody>
                  <a:tcPr marL="172110" marR="172110" marT="0" marB="0"/>
                </a:tc>
                <a:tc gridSpan="2">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One JSON record created with all data and metadata.</a:t>
                      </a:r>
                    </a:p>
                  </a:txBody>
                  <a:tcPr marL="172110" marR="172110" marT="0" marB="0"/>
                </a:tc>
                <a:tc hMerge="1">
                  <a:txBody>
                    <a:bodyPr/>
                    <a:lstStyle/>
                    <a:p>
                      <a:endParaRPr lang="en-US"/>
                    </a:p>
                  </a:txBody>
                  <a:tcPr/>
                </a:tc>
                <a:extLst>
                  <a:ext uri="{0D108BD9-81ED-4DB2-BD59-A6C34878D82A}">
                    <a16:rowId xmlns:a16="http://schemas.microsoft.com/office/drawing/2014/main" val="3314904813"/>
                  </a:ext>
                </a:extLst>
              </a:tr>
              <a:tr h="479837">
                <a:tc rowSpan="3">
                  <a:txBody>
                    <a:bodyPr/>
                    <a:lstStyle/>
                    <a:p>
                      <a:pPr marL="0" marR="0" algn="l" defTabSz="457200" rtl="0" eaLnBrk="1" latinLnBrk="0" hangingPunct="1">
                        <a:lnSpc>
                          <a:spcPct val="110000"/>
                        </a:lnSpc>
                        <a:spcAft>
                          <a:spcPts val="600"/>
                        </a:spcAft>
                        <a:buNone/>
                      </a:pPr>
                      <a:r>
                        <a:rPr lang="en-US" sz="2600" b="1" kern="1200">
                          <a:solidFill>
                            <a:schemeClr val="lt1"/>
                          </a:solidFill>
                          <a:effectLst/>
                          <a:latin typeface="+mn-lt"/>
                          <a:ea typeface="+mn-ea"/>
                          <a:cs typeface="+mn-cs"/>
                        </a:rPr>
                        <a:t>Traceability</a:t>
                      </a:r>
                    </a:p>
                  </a:txBody>
                  <a:tcPr marL="172110" marR="172110" marT="0" marB="0"/>
                </a:tc>
                <a:tc>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Relevant User Req.(s)</a:t>
                      </a:r>
                    </a:p>
                  </a:txBody>
                  <a:tcPr marL="172110" marR="172110" marT="0" marB="0"/>
                </a:tc>
                <a:tc>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UFR1, UFR4</a:t>
                      </a:r>
                    </a:p>
                  </a:txBody>
                  <a:tcPr marL="172110" marR="172110" marT="0" marB="0"/>
                </a:tc>
                <a:extLst>
                  <a:ext uri="{0D108BD9-81ED-4DB2-BD59-A6C34878D82A}">
                    <a16:rowId xmlns:a16="http://schemas.microsoft.com/office/drawing/2014/main" val="1340795511"/>
                  </a:ext>
                </a:extLst>
              </a:tr>
              <a:tr h="479837">
                <a:tc vMerge="1">
                  <a:txBody>
                    <a:bodyPr/>
                    <a:lstStyle/>
                    <a:p>
                      <a:endParaRPr lang="en-US"/>
                    </a:p>
                  </a:txBody>
                  <a:tcPr/>
                </a:tc>
                <a:tc>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Relevant System Req.(s)</a:t>
                      </a:r>
                    </a:p>
                  </a:txBody>
                  <a:tcPr marL="172110" marR="172110" marT="0" marB="0"/>
                </a:tc>
                <a:tc>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SFR4, SFR11</a:t>
                      </a:r>
                    </a:p>
                  </a:txBody>
                  <a:tcPr marL="172110" marR="172110" marT="0" marB="0"/>
                </a:tc>
                <a:extLst>
                  <a:ext uri="{0D108BD9-81ED-4DB2-BD59-A6C34878D82A}">
                    <a16:rowId xmlns:a16="http://schemas.microsoft.com/office/drawing/2014/main" val="2771258179"/>
                  </a:ext>
                </a:extLst>
              </a:tr>
              <a:tr h="479837">
                <a:tc vMerge="1">
                  <a:txBody>
                    <a:bodyPr/>
                    <a:lstStyle/>
                    <a:p>
                      <a:endParaRPr lang="en-US"/>
                    </a:p>
                  </a:txBody>
                  <a:tcPr/>
                </a:tc>
                <a:tc>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Relevant Use Case.(s)</a:t>
                      </a:r>
                    </a:p>
                  </a:txBody>
                  <a:tcPr marL="172110" marR="172110" marT="0" marB="0"/>
                </a:tc>
                <a:tc>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UC-001</a:t>
                      </a:r>
                    </a:p>
                  </a:txBody>
                  <a:tcPr marL="172110" marR="172110" marT="0" marB="0"/>
                </a:tc>
                <a:extLst>
                  <a:ext uri="{0D108BD9-81ED-4DB2-BD59-A6C34878D82A}">
                    <a16:rowId xmlns:a16="http://schemas.microsoft.com/office/drawing/2014/main" val="3363440470"/>
                  </a:ext>
                </a:extLst>
              </a:tr>
            </a:tbl>
          </a:graphicData>
        </a:graphic>
      </p:graphicFrame>
    </p:spTree>
    <p:extLst>
      <p:ext uri="{BB962C8B-B14F-4D97-AF65-F5344CB8AC3E}">
        <p14:creationId xmlns:p14="http://schemas.microsoft.com/office/powerpoint/2010/main" val="34301039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6B296BC3-E35A-EE8D-1C05-B40130F4A0FB}"/>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DFB3CEA1-88D9-42FB-88ED-1E9807FE6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A6C928E-4252-4F33-8C34-E50A12A31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Slide Number Placeholder 1">
            <a:extLst>
              <a:ext uri="{FF2B5EF4-FFF2-40B4-BE49-F238E27FC236}">
                <a16:creationId xmlns:a16="http://schemas.microsoft.com/office/drawing/2014/main" id="{068A3230-D87A-2DE3-C1A5-292929ED4C78}"/>
              </a:ext>
            </a:extLst>
          </p:cNvPr>
          <p:cNvSpPr>
            <a:spLocks noGrp="1"/>
          </p:cNvSpPr>
          <p:nvPr>
            <p:ph type="sldNum" sz="quarter" idx="12"/>
          </p:nvPr>
        </p:nvSpPr>
        <p:spPr>
          <a:xfrm>
            <a:off x="10361612" y="-131570"/>
            <a:ext cx="838199" cy="767687"/>
          </a:xfrm>
        </p:spPr>
        <p:txBody>
          <a:bodyPr>
            <a:normAutofit/>
          </a:bodyPr>
          <a:lstStyle/>
          <a:p>
            <a:pPr>
              <a:spcAft>
                <a:spcPts val="600"/>
              </a:spcAft>
            </a:pPr>
            <a:fld id="{D57F1E4F-1CFF-5643-939E-02111984F565}" type="slidenum">
              <a:rPr lang="en-US">
                <a:solidFill>
                  <a:srgbClr val="FFFFFF"/>
                </a:solidFill>
              </a:rPr>
              <a:pPr>
                <a:spcAft>
                  <a:spcPts val="600"/>
                </a:spcAft>
              </a:pPr>
              <a:t>22</a:t>
            </a:fld>
            <a:endParaRPr lang="en-US">
              <a:solidFill>
                <a:srgbClr val="FFFFFF"/>
              </a:solidFill>
            </a:endParaRPr>
          </a:p>
        </p:txBody>
      </p:sp>
      <p:graphicFrame>
        <p:nvGraphicFramePr>
          <p:cNvPr id="3" name="Table 2">
            <a:extLst>
              <a:ext uri="{FF2B5EF4-FFF2-40B4-BE49-F238E27FC236}">
                <a16:creationId xmlns:a16="http://schemas.microsoft.com/office/drawing/2014/main" id="{D709667C-2DEF-A797-C167-C24D23EEF0ED}"/>
              </a:ext>
            </a:extLst>
          </p:cNvPr>
          <p:cNvGraphicFramePr>
            <a:graphicFrameLocks noGrp="1"/>
          </p:cNvGraphicFramePr>
          <p:nvPr>
            <p:extLst>
              <p:ext uri="{D42A27DB-BD31-4B8C-83A1-F6EECF244321}">
                <p14:modId xmlns:p14="http://schemas.microsoft.com/office/powerpoint/2010/main" val="260301567"/>
              </p:ext>
            </p:extLst>
          </p:nvPr>
        </p:nvGraphicFramePr>
        <p:xfrm>
          <a:off x="643466" y="792174"/>
          <a:ext cx="10905068" cy="5273652"/>
        </p:xfrm>
        <a:graphic>
          <a:graphicData uri="http://schemas.openxmlformats.org/drawingml/2006/table">
            <a:tbl>
              <a:tblPr firstRow="1" firstCol="1" bandRow="1">
                <a:tableStyleId>{5C22544A-7EE6-4342-B048-85BDC9FD1C3A}</a:tableStyleId>
              </a:tblPr>
              <a:tblGrid>
                <a:gridCol w="2759239">
                  <a:extLst>
                    <a:ext uri="{9D8B030D-6E8A-4147-A177-3AD203B41FA5}">
                      <a16:colId xmlns:a16="http://schemas.microsoft.com/office/drawing/2014/main" val="3941287416"/>
                    </a:ext>
                  </a:extLst>
                </a:gridCol>
                <a:gridCol w="4847535">
                  <a:extLst>
                    <a:ext uri="{9D8B030D-6E8A-4147-A177-3AD203B41FA5}">
                      <a16:colId xmlns:a16="http://schemas.microsoft.com/office/drawing/2014/main" val="620868727"/>
                    </a:ext>
                  </a:extLst>
                </a:gridCol>
                <a:gridCol w="3298294">
                  <a:extLst>
                    <a:ext uri="{9D8B030D-6E8A-4147-A177-3AD203B41FA5}">
                      <a16:colId xmlns:a16="http://schemas.microsoft.com/office/drawing/2014/main" val="4004633527"/>
                    </a:ext>
                  </a:extLst>
                </a:gridCol>
              </a:tblGrid>
              <a:tr h="478439">
                <a:tc>
                  <a:txBody>
                    <a:bodyPr/>
                    <a:lstStyle/>
                    <a:p>
                      <a:pPr marL="0" marR="0" algn="l" defTabSz="457200" rtl="0" eaLnBrk="1" latinLnBrk="0" hangingPunct="1">
                        <a:lnSpc>
                          <a:spcPct val="110000"/>
                        </a:lnSpc>
                        <a:spcAft>
                          <a:spcPts val="600"/>
                        </a:spcAft>
                        <a:buNone/>
                      </a:pPr>
                      <a:r>
                        <a:rPr lang="en-US" sz="2600" b="1" kern="1200">
                          <a:solidFill>
                            <a:schemeClr val="lt1"/>
                          </a:solidFill>
                          <a:effectLst/>
                          <a:latin typeface="+mn-lt"/>
                          <a:ea typeface="+mn-ea"/>
                          <a:cs typeface="+mn-cs"/>
                        </a:rPr>
                        <a:t>Project Name</a:t>
                      </a:r>
                    </a:p>
                  </a:txBody>
                  <a:tcPr marL="171608" marR="171608" marT="0" marB="0"/>
                </a:tc>
                <a:tc gridSpan="2">
                  <a:txBody>
                    <a:bodyPr/>
                    <a:lstStyle/>
                    <a:p>
                      <a:pPr marL="0" marR="0" algn="l" defTabSz="457200" rtl="0" eaLnBrk="1" latinLnBrk="0" hangingPunct="1">
                        <a:lnSpc>
                          <a:spcPct val="110000"/>
                        </a:lnSpc>
                        <a:spcAft>
                          <a:spcPts val="600"/>
                        </a:spcAft>
                        <a:buNone/>
                      </a:pPr>
                      <a:r>
                        <a:rPr lang="en-US" sz="2600" b="1" kern="1200">
                          <a:solidFill>
                            <a:schemeClr val="lt1"/>
                          </a:solidFill>
                          <a:effectLst/>
                          <a:latin typeface="+mn-lt"/>
                          <a:ea typeface="+mn-ea"/>
                          <a:cs typeface="+mn-cs"/>
                        </a:rPr>
                        <a:t>AIBI CV for Manufacturing</a:t>
                      </a:r>
                    </a:p>
                  </a:txBody>
                  <a:tcPr marL="171608" marR="171608" marT="0" marB="0"/>
                </a:tc>
                <a:tc hMerge="1">
                  <a:txBody>
                    <a:bodyPr/>
                    <a:lstStyle/>
                    <a:p>
                      <a:endParaRPr lang="en-US"/>
                    </a:p>
                  </a:txBody>
                  <a:tcPr/>
                </a:tc>
                <a:extLst>
                  <a:ext uri="{0D108BD9-81ED-4DB2-BD59-A6C34878D82A}">
                    <a16:rowId xmlns:a16="http://schemas.microsoft.com/office/drawing/2014/main" val="1719627534"/>
                  </a:ext>
                </a:extLst>
              </a:tr>
              <a:tr h="478439">
                <a:tc>
                  <a:txBody>
                    <a:bodyPr/>
                    <a:lstStyle/>
                    <a:p>
                      <a:pPr marL="0" marR="0" algn="l" defTabSz="457200" rtl="0" eaLnBrk="1" latinLnBrk="0" hangingPunct="1">
                        <a:lnSpc>
                          <a:spcPct val="110000"/>
                        </a:lnSpc>
                        <a:spcAft>
                          <a:spcPts val="600"/>
                        </a:spcAft>
                        <a:buNone/>
                      </a:pPr>
                      <a:r>
                        <a:rPr lang="en-US" sz="2600" b="1" kern="1200">
                          <a:solidFill>
                            <a:schemeClr val="lt1"/>
                          </a:solidFill>
                          <a:effectLst/>
                          <a:latin typeface="+mn-lt"/>
                          <a:ea typeface="+mn-ea"/>
                          <a:cs typeface="+mn-cs"/>
                        </a:rPr>
                        <a:t>Test Suite</a:t>
                      </a:r>
                    </a:p>
                  </a:txBody>
                  <a:tcPr marL="171608" marR="171608" marT="0" marB="0"/>
                </a:tc>
                <a:tc gridSpan="2">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System/Manual Functional</a:t>
                      </a:r>
                    </a:p>
                  </a:txBody>
                  <a:tcPr marL="171608" marR="171608" marT="0" marB="0"/>
                </a:tc>
                <a:tc hMerge="1">
                  <a:txBody>
                    <a:bodyPr/>
                    <a:lstStyle/>
                    <a:p>
                      <a:endParaRPr lang="en-US"/>
                    </a:p>
                  </a:txBody>
                  <a:tcPr/>
                </a:tc>
                <a:extLst>
                  <a:ext uri="{0D108BD9-81ED-4DB2-BD59-A6C34878D82A}">
                    <a16:rowId xmlns:a16="http://schemas.microsoft.com/office/drawing/2014/main" val="4134410840"/>
                  </a:ext>
                </a:extLst>
              </a:tr>
              <a:tr h="478439">
                <a:tc>
                  <a:txBody>
                    <a:bodyPr/>
                    <a:lstStyle/>
                    <a:p>
                      <a:pPr marL="0" marR="0" algn="l" defTabSz="457200" rtl="0" eaLnBrk="1" latinLnBrk="0" hangingPunct="1">
                        <a:lnSpc>
                          <a:spcPct val="110000"/>
                        </a:lnSpc>
                        <a:spcAft>
                          <a:spcPts val="600"/>
                        </a:spcAft>
                        <a:buNone/>
                      </a:pPr>
                      <a:r>
                        <a:rPr lang="en-US" sz="2600" b="1" kern="1200">
                          <a:solidFill>
                            <a:schemeClr val="lt1"/>
                          </a:solidFill>
                          <a:effectLst/>
                          <a:latin typeface="+mn-lt"/>
                          <a:ea typeface="+mn-ea"/>
                          <a:cs typeface="+mn-cs"/>
                        </a:rPr>
                        <a:t>Test Case ID</a:t>
                      </a:r>
                    </a:p>
                  </a:txBody>
                  <a:tcPr marL="171608" marR="171608" marT="0" marB="0"/>
                </a:tc>
                <a:tc gridSpan="2">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TC-SFR5-MAN-01</a:t>
                      </a:r>
                    </a:p>
                  </a:txBody>
                  <a:tcPr marL="171608" marR="171608" marT="0" marB="0"/>
                </a:tc>
                <a:tc hMerge="1">
                  <a:txBody>
                    <a:bodyPr/>
                    <a:lstStyle/>
                    <a:p>
                      <a:endParaRPr lang="en-US"/>
                    </a:p>
                  </a:txBody>
                  <a:tcPr/>
                </a:tc>
                <a:extLst>
                  <a:ext uri="{0D108BD9-81ED-4DB2-BD59-A6C34878D82A}">
                    <a16:rowId xmlns:a16="http://schemas.microsoft.com/office/drawing/2014/main" val="167787619"/>
                  </a:ext>
                </a:extLst>
              </a:tr>
              <a:tr h="478439">
                <a:tc>
                  <a:txBody>
                    <a:bodyPr/>
                    <a:lstStyle/>
                    <a:p>
                      <a:pPr marL="0" marR="0" algn="l" defTabSz="457200" rtl="0" eaLnBrk="1" latinLnBrk="0" hangingPunct="1">
                        <a:lnSpc>
                          <a:spcPct val="110000"/>
                        </a:lnSpc>
                        <a:spcAft>
                          <a:spcPts val="600"/>
                        </a:spcAft>
                        <a:buNone/>
                      </a:pPr>
                      <a:r>
                        <a:rPr lang="en-US" sz="2600" b="1" kern="1200">
                          <a:solidFill>
                            <a:schemeClr val="lt1"/>
                          </a:solidFill>
                          <a:effectLst/>
                          <a:latin typeface="+mn-lt"/>
                          <a:ea typeface="+mn-ea"/>
                          <a:cs typeface="+mn-cs"/>
                        </a:rPr>
                        <a:t>What to Test</a:t>
                      </a:r>
                    </a:p>
                  </a:txBody>
                  <a:tcPr marL="171608" marR="171608" marT="0" marB="0"/>
                </a:tc>
                <a:tc gridSpan="2">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Keyboard-emulation outputs correct text to target app.</a:t>
                      </a:r>
                    </a:p>
                  </a:txBody>
                  <a:tcPr marL="171608" marR="171608" marT="0" marB="0"/>
                </a:tc>
                <a:tc hMerge="1">
                  <a:txBody>
                    <a:bodyPr/>
                    <a:lstStyle/>
                    <a:p>
                      <a:endParaRPr lang="en-US"/>
                    </a:p>
                  </a:txBody>
                  <a:tcPr/>
                </a:tc>
                <a:extLst>
                  <a:ext uri="{0D108BD9-81ED-4DB2-BD59-A6C34878D82A}">
                    <a16:rowId xmlns:a16="http://schemas.microsoft.com/office/drawing/2014/main" val="2441425630"/>
                  </a:ext>
                </a:extLst>
              </a:tr>
              <a:tr h="478439">
                <a:tc>
                  <a:txBody>
                    <a:bodyPr/>
                    <a:lstStyle/>
                    <a:p>
                      <a:pPr marL="0" marR="0" algn="l" defTabSz="457200" rtl="0" eaLnBrk="1" latinLnBrk="0" hangingPunct="1">
                        <a:lnSpc>
                          <a:spcPct val="110000"/>
                        </a:lnSpc>
                        <a:spcAft>
                          <a:spcPts val="600"/>
                        </a:spcAft>
                        <a:buNone/>
                      </a:pPr>
                      <a:r>
                        <a:rPr lang="en-US" sz="2600" b="1" kern="1200">
                          <a:solidFill>
                            <a:schemeClr val="lt1"/>
                          </a:solidFill>
                          <a:effectLst/>
                          <a:latin typeface="+mn-lt"/>
                          <a:ea typeface="+mn-ea"/>
                          <a:cs typeface="+mn-cs"/>
                        </a:rPr>
                        <a:t>Test Data Input</a:t>
                      </a:r>
                    </a:p>
                  </a:txBody>
                  <a:tcPr marL="171608" marR="171608" marT="0" marB="0"/>
                </a:tc>
                <a:tc gridSpan="2">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Live scan and notepad field in focus.</a:t>
                      </a:r>
                    </a:p>
                  </a:txBody>
                  <a:tcPr marL="171608" marR="171608" marT="0" marB="0"/>
                </a:tc>
                <a:tc hMerge="1">
                  <a:txBody>
                    <a:bodyPr/>
                    <a:lstStyle/>
                    <a:p>
                      <a:endParaRPr lang="en-US"/>
                    </a:p>
                  </a:txBody>
                  <a:tcPr/>
                </a:tc>
                <a:extLst>
                  <a:ext uri="{0D108BD9-81ED-4DB2-BD59-A6C34878D82A}">
                    <a16:rowId xmlns:a16="http://schemas.microsoft.com/office/drawing/2014/main" val="3179720608"/>
                  </a:ext>
                </a:extLst>
              </a:tr>
              <a:tr h="1088601">
                <a:tc>
                  <a:txBody>
                    <a:bodyPr/>
                    <a:lstStyle/>
                    <a:p>
                      <a:pPr marL="0" marR="0" algn="l" defTabSz="457200" rtl="0" eaLnBrk="1" latinLnBrk="0" hangingPunct="1">
                        <a:lnSpc>
                          <a:spcPct val="110000"/>
                        </a:lnSpc>
                        <a:spcAft>
                          <a:spcPts val="600"/>
                        </a:spcAft>
                        <a:buNone/>
                      </a:pPr>
                      <a:r>
                        <a:rPr lang="en-US" sz="2600" b="1" kern="1200">
                          <a:solidFill>
                            <a:schemeClr val="lt1"/>
                          </a:solidFill>
                          <a:effectLst/>
                          <a:latin typeface="+mn-lt"/>
                          <a:ea typeface="+mn-ea"/>
                          <a:cs typeface="+mn-cs"/>
                        </a:rPr>
                        <a:t>Expected</a:t>
                      </a:r>
                    </a:p>
                    <a:p>
                      <a:pPr marL="0" marR="0" algn="l" defTabSz="457200" rtl="0" eaLnBrk="1" latinLnBrk="0" hangingPunct="1">
                        <a:lnSpc>
                          <a:spcPct val="110000"/>
                        </a:lnSpc>
                        <a:spcAft>
                          <a:spcPts val="600"/>
                        </a:spcAft>
                        <a:buNone/>
                      </a:pPr>
                      <a:r>
                        <a:rPr lang="en-US" sz="2600" b="1" kern="1200">
                          <a:solidFill>
                            <a:schemeClr val="lt1"/>
                          </a:solidFill>
                          <a:effectLst/>
                          <a:latin typeface="+mn-lt"/>
                          <a:ea typeface="+mn-ea"/>
                          <a:cs typeface="+mn-cs"/>
                        </a:rPr>
                        <a:t>Result</a:t>
                      </a:r>
                    </a:p>
                  </a:txBody>
                  <a:tcPr marL="171608" marR="171608" marT="0" marB="0"/>
                </a:tc>
                <a:tc gridSpan="2">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Exactly correct keystroke output appears.</a:t>
                      </a:r>
                    </a:p>
                  </a:txBody>
                  <a:tcPr marL="171608" marR="171608" marT="0" marB="0"/>
                </a:tc>
                <a:tc hMerge="1">
                  <a:txBody>
                    <a:bodyPr/>
                    <a:lstStyle/>
                    <a:p>
                      <a:endParaRPr lang="en-US"/>
                    </a:p>
                  </a:txBody>
                  <a:tcPr/>
                </a:tc>
                <a:extLst>
                  <a:ext uri="{0D108BD9-81ED-4DB2-BD59-A6C34878D82A}">
                    <a16:rowId xmlns:a16="http://schemas.microsoft.com/office/drawing/2014/main" val="657547591"/>
                  </a:ext>
                </a:extLst>
              </a:tr>
              <a:tr h="478439">
                <a:tc rowSpan="3">
                  <a:txBody>
                    <a:bodyPr/>
                    <a:lstStyle/>
                    <a:p>
                      <a:pPr marL="0" marR="0" algn="l" defTabSz="457200" rtl="0" eaLnBrk="1" latinLnBrk="0" hangingPunct="1">
                        <a:lnSpc>
                          <a:spcPct val="110000"/>
                        </a:lnSpc>
                        <a:spcAft>
                          <a:spcPts val="600"/>
                        </a:spcAft>
                        <a:buNone/>
                      </a:pPr>
                      <a:r>
                        <a:rPr lang="en-US" sz="2600" b="1" kern="1200">
                          <a:solidFill>
                            <a:schemeClr val="lt1"/>
                          </a:solidFill>
                          <a:effectLst/>
                          <a:latin typeface="+mn-lt"/>
                          <a:ea typeface="+mn-ea"/>
                          <a:cs typeface="+mn-cs"/>
                        </a:rPr>
                        <a:t>Traceability</a:t>
                      </a:r>
                    </a:p>
                  </a:txBody>
                  <a:tcPr marL="171608" marR="171608" marT="0" marB="0"/>
                </a:tc>
                <a:tc>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Relevant User Req.(s)</a:t>
                      </a:r>
                    </a:p>
                  </a:txBody>
                  <a:tcPr marL="171608" marR="171608" marT="0" marB="0"/>
                </a:tc>
                <a:tc>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UFR9</a:t>
                      </a:r>
                    </a:p>
                  </a:txBody>
                  <a:tcPr marL="171608" marR="171608" marT="0" marB="0"/>
                </a:tc>
                <a:extLst>
                  <a:ext uri="{0D108BD9-81ED-4DB2-BD59-A6C34878D82A}">
                    <a16:rowId xmlns:a16="http://schemas.microsoft.com/office/drawing/2014/main" val="882546030"/>
                  </a:ext>
                </a:extLst>
              </a:tr>
              <a:tr h="478439">
                <a:tc vMerge="1">
                  <a:txBody>
                    <a:bodyPr/>
                    <a:lstStyle/>
                    <a:p>
                      <a:endParaRPr lang="en-US"/>
                    </a:p>
                  </a:txBody>
                  <a:tcPr/>
                </a:tc>
                <a:tc>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Relevant System Req.(s)</a:t>
                      </a:r>
                    </a:p>
                  </a:txBody>
                  <a:tcPr marL="171608" marR="171608" marT="0" marB="0"/>
                </a:tc>
                <a:tc>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SFR5, SFR18</a:t>
                      </a:r>
                    </a:p>
                  </a:txBody>
                  <a:tcPr marL="171608" marR="171608" marT="0" marB="0"/>
                </a:tc>
                <a:extLst>
                  <a:ext uri="{0D108BD9-81ED-4DB2-BD59-A6C34878D82A}">
                    <a16:rowId xmlns:a16="http://schemas.microsoft.com/office/drawing/2014/main" val="3322977739"/>
                  </a:ext>
                </a:extLst>
              </a:tr>
              <a:tr h="478439">
                <a:tc vMerge="1">
                  <a:txBody>
                    <a:bodyPr/>
                    <a:lstStyle/>
                    <a:p>
                      <a:endParaRPr lang="en-US"/>
                    </a:p>
                  </a:txBody>
                  <a:tcPr/>
                </a:tc>
                <a:tc>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Relevant Use Case.(s)</a:t>
                      </a:r>
                    </a:p>
                  </a:txBody>
                  <a:tcPr marL="171608" marR="171608" marT="0" marB="0"/>
                </a:tc>
                <a:tc>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UC-001</a:t>
                      </a:r>
                    </a:p>
                  </a:txBody>
                  <a:tcPr marL="171608" marR="171608" marT="0" marB="0"/>
                </a:tc>
                <a:extLst>
                  <a:ext uri="{0D108BD9-81ED-4DB2-BD59-A6C34878D82A}">
                    <a16:rowId xmlns:a16="http://schemas.microsoft.com/office/drawing/2014/main" val="1640595490"/>
                  </a:ext>
                </a:extLst>
              </a:tr>
            </a:tbl>
          </a:graphicData>
        </a:graphic>
      </p:graphicFrame>
    </p:spTree>
    <p:extLst>
      <p:ext uri="{BB962C8B-B14F-4D97-AF65-F5344CB8AC3E}">
        <p14:creationId xmlns:p14="http://schemas.microsoft.com/office/powerpoint/2010/main" val="24318140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7BCBFACB-0C91-EEA6-7D4A-99C603881530}"/>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DFB3CEA1-88D9-42FB-88ED-1E9807FE6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9A6C928E-4252-4F33-8C34-E50A12A31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Slide Number Placeholder 1">
            <a:extLst>
              <a:ext uri="{FF2B5EF4-FFF2-40B4-BE49-F238E27FC236}">
                <a16:creationId xmlns:a16="http://schemas.microsoft.com/office/drawing/2014/main" id="{09D0A2EA-60E0-3886-D1B8-EA5FCD2D25A1}"/>
              </a:ext>
            </a:extLst>
          </p:cNvPr>
          <p:cNvSpPr>
            <a:spLocks noGrp="1"/>
          </p:cNvSpPr>
          <p:nvPr>
            <p:ph type="sldNum" sz="quarter" idx="12"/>
          </p:nvPr>
        </p:nvSpPr>
        <p:spPr>
          <a:xfrm>
            <a:off x="10361612" y="-198553"/>
            <a:ext cx="838199" cy="767687"/>
          </a:xfrm>
        </p:spPr>
        <p:txBody>
          <a:bodyPr>
            <a:normAutofit/>
          </a:bodyPr>
          <a:lstStyle/>
          <a:p>
            <a:pPr>
              <a:spcAft>
                <a:spcPts val="600"/>
              </a:spcAft>
            </a:pPr>
            <a:fld id="{D57F1E4F-1CFF-5643-939E-02111984F565}" type="slidenum">
              <a:rPr lang="en-US">
                <a:solidFill>
                  <a:srgbClr val="FFFFFF"/>
                </a:solidFill>
              </a:rPr>
              <a:pPr>
                <a:spcAft>
                  <a:spcPts val="600"/>
                </a:spcAft>
              </a:pPr>
              <a:t>23</a:t>
            </a:fld>
            <a:endParaRPr lang="en-US">
              <a:solidFill>
                <a:srgbClr val="FFFFFF"/>
              </a:solidFill>
            </a:endParaRPr>
          </a:p>
        </p:txBody>
      </p:sp>
      <p:graphicFrame>
        <p:nvGraphicFramePr>
          <p:cNvPr id="3" name="Table 2">
            <a:extLst>
              <a:ext uri="{FF2B5EF4-FFF2-40B4-BE49-F238E27FC236}">
                <a16:creationId xmlns:a16="http://schemas.microsoft.com/office/drawing/2014/main" id="{9595F5EC-5608-F102-BF58-53BB0157AE19}"/>
              </a:ext>
            </a:extLst>
          </p:cNvPr>
          <p:cNvGraphicFramePr>
            <a:graphicFrameLocks noGrp="1"/>
          </p:cNvGraphicFramePr>
          <p:nvPr>
            <p:extLst>
              <p:ext uri="{D42A27DB-BD31-4B8C-83A1-F6EECF244321}">
                <p14:modId xmlns:p14="http://schemas.microsoft.com/office/powerpoint/2010/main" val="535027719"/>
              </p:ext>
            </p:extLst>
          </p:nvPr>
        </p:nvGraphicFramePr>
        <p:xfrm>
          <a:off x="672045" y="726977"/>
          <a:ext cx="10527766" cy="4910212"/>
        </p:xfrm>
        <a:graphic>
          <a:graphicData uri="http://schemas.openxmlformats.org/drawingml/2006/table">
            <a:tbl>
              <a:tblPr firstRow="1" firstCol="1" bandRow="1">
                <a:tableStyleId>{5C22544A-7EE6-4342-B048-85BDC9FD1C3A}</a:tableStyleId>
              </a:tblPr>
              <a:tblGrid>
                <a:gridCol w="2840208">
                  <a:extLst>
                    <a:ext uri="{9D8B030D-6E8A-4147-A177-3AD203B41FA5}">
                      <a16:colId xmlns:a16="http://schemas.microsoft.com/office/drawing/2014/main" val="1865285443"/>
                    </a:ext>
                  </a:extLst>
                </a:gridCol>
                <a:gridCol w="5258907">
                  <a:extLst>
                    <a:ext uri="{9D8B030D-6E8A-4147-A177-3AD203B41FA5}">
                      <a16:colId xmlns:a16="http://schemas.microsoft.com/office/drawing/2014/main" val="3420609050"/>
                    </a:ext>
                  </a:extLst>
                </a:gridCol>
                <a:gridCol w="2428651">
                  <a:extLst>
                    <a:ext uri="{9D8B030D-6E8A-4147-A177-3AD203B41FA5}">
                      <a16:colId xmlns:a16="http://schemas.microsoft.com/office/drawing/2014/main" val="1832875374"/>
                    </a:ext>
                  </a:extLst>
                </a:gridCol>
              </a:tblGrid>
              <a:tr h="483200">
                <a:tc>
                  <a:txBody>
                    <a:bodyPr/>
                    <a:lstStyle/>
                    <a:p>
                      <a:pPr marL="0" marR="0" algn="l" defTabSz="457200" rtl="0" eaLnBrk="1" latinLnBrk="0" hangingPunct="1">
                        <a:lnSpc>
                          <a:spcPct val="110000"/>
                        </a:lnSpc>
                        <a:spcAft>
                          <a:spcPts val="600"/>
                        </a:spcAft>
                        <a:buNone/>
                      </a:pPr>
                      <a:r>
                        <a:rPr lang="en-US" sz="2600" b="1" kern="1200">
                          <a:solidFill>
                            <a:schemeClr val="lt1"/>
                          </a:solidFill>
                          <a:effectLst/>
                          <a:latin typeface="+mn-lt"/>
                          <a:ea typeface="+mn-ea"/>
                          <a:cs typeface="+mn-cs"/>
                        </a:rPr>
                        <a:t>Project Name</a:t>
                      </a:r>
                    </a:p>
                  </a:txBody>
                  <a:tcPr marL="200110" marR="200110" marT="0" marB="0"/>
                </a:tc>
                <a:tc gridSpan="2">
                  <a:txBody>
                    <a:bodyPr/>
                    <a:lstStyle/>
                    <a:p>
                      <a:pPr marL="0" marR="0" algn="l" defTabSz="457200" rtl="0" eaLnBrk="1" latinLnBrk="0" hangingPunct="1">
                        <a:lnSpc>
                          <a:spcPct val="110000"/>
                        </a:lnSpc>
                        <a:spcAft>
                          <a:spcPts val="600"/>
                        </a:spcAft>
                        <a:buNone/>
                      </a:pPr>
                      <a:r>
                        <a:rPr lang="en-US" sz="2600" b="1" kern="1200">
                          <a:solidFill>
                            <a:schemeClr val="lt1"/>
                          </a:solidFill>
                          <a:effectLst/>
                          <a:latin typeface="+mn-lt"/>
                          <a:ea typeface="+mn-ea"/>
                          <a:cs typeface="+mn-cs"/>
                        </a:rPr>
                        <a:t>AIBI CV for Manufacturing</a:t>
                      </a:r>
                    </a:p>
                  </a:txBody>
                  <a:tcPr marL="200110" marR="200110" marT="0" marB="0"/>
                </a:tc>
                <a:tc hMerge="1">
                  <a:txBody>
                    <a:bodyPr/>
                    <a:lstStyle/>
                    <a:p>
                      <a:endParaRPr lang="en-US"/>
                    </a:p>
                  </a:txBody>
                  <a:tcPr/>
                </a:tc>
                <a:extLst>
                  <a:ext uri="{0D108BD9-81ED-4DB2-BD59-A6C34878D82A}">
                    <a16:rowId xmlns:a16="http://schemas.microsoft.com/office/drawing/2014/main" val="4196403228"/>
                  </a:ext>
                </a:extLst>
              </a:tr>
              <a:tr h="483200">
                <a:tc>
                  <a:txBody>
                    <a:bodyPr/>
                    <a:lstStyle/>
                    <a:p>
                      <a:pPr marL="0" marR="0" algn="l" defTabSz="457200" rtl="0" eaLnBrk="1" latinLnBrk="0" hangingPunct="1">
                        <a:lnSpc>
                          <a:spcPct val="110000"/>
                        </a:lnSpc>
                        <a:spcAft>
                          <a:spcPts val="600"/>
                        </a:spcAft>
                        <a:buNone/>
                      </a:pPr>
                      <a:r>
                        <a:rPr lang="en-US" sz="2600" b="1" kern="1200">
                          <a:solidFill>
                            <a:schemeClr val="lt1"/>
                          </a:solidFill>
                          <a:effectLst/>
                          <a:latin typeface="+mn-lt"/>
                          <a:ea typeface="+mn-ea"/>
                          <a:cs typeface="+mn-cs"/>
                        </a:rPr>
                        <a:t>Test Suite</a:t>
                      </a:r>
                    </a:p>
                  </a:txBody>
                  <a:tcPr marL="200110" marR="200110" marT="0" marB="0"/>
                </a:tc>
                <a:tc gridSpan="2">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System/Manual Functional</a:t>
                      </a:r>
                    </a:p>
                  </a:txBody>
                  <a:tcPr marL="200110" marR="200110" marT="0" marB="0"/>
                </a:tc>
                <a:tc hMerge="1">
                  <a:txBody>
                    <a:bodyPr/>
                    <a:lstStyle/>
                    <a:p>
                      <a:endParaRPr lang="en-US"/>
                    </a:p>
                  </a:txBody>
                  <a:tcPr/>
                </a:tc>
                <a:extLst>
                  <a:ext uri="{0D108BD9-81ED-4DB2-BD59-A6C34878D82A}">
                    <a16:rowId xmlns:a16="http://schemas.microsoft.com/office/drawing/2014/main" val="1942774560"/>
                  </a:ext>
                </a:extLst>
              </a:tr>
              <a:tr h="483200">
                <a:tc>
                  <a:txBody>
                    <a:bodyPr/>
                    <a:lstStyle/>
                    <a:p>
                      <a:pPr marL="0" marR="0" algn="l" defTabSz="457200" rtl="0" eaLnBrk="1" latinLnBrk="0" hangingPunct="1">
                        <a:lnSpc>
                          <a:spcPct val="110000"/>
                        </a:lnSpc>
                        <a:spcAft>
                          <a:spcPts val="600"/>
                        </a:spcAft>
                        <a:buNone/>
                      </a:pPr>
                      <a:r>
                        <a:rPr lang="en-US" sz="2600" b="1" kern="1200">
                          <a:solidFill>
                            <a:schemeClr val="lt1"/>
                          </a:solidFill>
                          <a:effectLst/>
                          <a:latin typeface="+mn-lt"/>
                          <a:ea typeface="+mn-ea"/>
                          <a:cs typeface="+mn-cs"/>
                        </a:rPr>
                        <a:t>Test Case ID</a:t>
                      </a:r>
                    </a:p>
                  </a:txBody>
                  <a:tcPr marL="200110" marR="200110" marT="0" marB="0"/>
                </a:tc>
                <a:tc gridSpan="2">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TC-SFR15-MAN-01</a:t>
                      </a:r>
                    </a:p>
                  </a:txBody>
                  <a:tcPr marL="200110" marR="200110" marT="0" marB="0"/>
                </a:tc>
                <a:tc hMerge="1">
                  <a:txBody>
                    <a:bodyPr/>
                    <a:lstStyle/>
                    <a:p>
                      <a:endParaRPr lang="en-US"/>
                    </a:p>
                  </a:txBody>
                  <a:tcPr/>
                </a:tc>
                <a:extLst>
                  <a:ext uri="{0D108BD9-81ED-4DB2-BD59-A6C34878D82A}">
                    <a16:rowId xmlns:a16="http://schemas.microsoft.com/office/drawing/2014/main" val="3508696712"/>
                  </a:ext>
                </a:extLst>
              </a:tr>
              <a:tr h="483200">
                <a:tc>
                  <a:txBody>
                    <a:bodyPr/>
                    <a:lstStyle/>
                    <a:p>
                      <a:pPr marL="0" marR="0" algn="l" defTabSz="457200" rtl="0" eaLnBrk="1" latinLnBrk="0" hangingPunct="1">
                        <a:lnSpc>
                          <a:spcPct val="110000"/>
                        </a:lnSpc>
                        <a:spcAft>
                          <a:spcPts val="600"/>
                        </a:spcAft>
                        <a:buNone/>
                      </a:pPr>
                      <a:r>
                        <a:rPr lang="en-US" sz="2600" b="1" kern="1200">
                          <a:solidFill>
                            <a:schemeClr val="lt1"/>
                          </a:solidFill>
                          <a:effectLst/>
                          <a:latin typeface="+mn-lt"/>
                          <a:ea typeface="+mn-ea"/>
                          <a:cs typeface="+mn-cs"/>
                        </a:rPr>
                        <a:t>What to Test</a:t>
                      </a:r>
                    </a:p>
                  </a:txBody>
                  <a:tcPr marL="200110" marR="200110" marT="0" marB="0"/>
                </a:tc>
                <a:tc gridSpan="2">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Live multi-code decoding in typical lighting.</a:t>
                      </a:r>
                    </a:p>
                  </a:txBody>
                  <a:tcPr marL="200110" marR="200110" marT="0" marB="0"/>
                </a:tc>
                <a:tc hMerge="1">
                  <a:txBody>
                    <a:bodyPr/>
                    <a:lstStyle/>
                    <a:p>
                      <a:endParaRPr lang="en-US"/>
                    </a:p>
                  </a:txBody>
                  <a:tcPr/>
                </a:tc>
                <a:extLst>
                  <a:ext uri="{0D108BD9-81ED-4DB2-BD59-A6C34878D82A}">
                    <a16:rowId xmlns:a16="http://schemas.microsoft.com/office/drawing/2014/main" val="3255583394"/>
                  </a:ext>
                </a:extLst>
              </a:tr>
              <a:tr h="483200">
                <a:tc>
                  <a:txBody>
                    <a:bodyPr/>
                    <a:lstStyle/>
                    <a:p>
                      <a:pPr marL="0" marR="0" algn="l" defTabSz="457200" rtl="0" eaLnBrk="1" latinLnBrk="0" hangingPunct="1">
                        <a:lnSpc>
                          <a:spcPct val="110000"/>
                        </a:lnSpc>
                        <a:spcAft>
                          <a:spcPts val="600"/>
                        </a:spcAft>
                        <a:buNone/>
                      </a:pPr>
                      <a:r>
                        <a:rPr lang="en-US" sz="2600" b="1" kern="1200">
                          <a:solidFill>
                            <a:schemeClr val="lt1"/>
                          </a:solidFill>
                          <a:effectLst/>
                          <a:latin typeface="+mn-lt"/>
                          <a:ea typeface="+mn-ea"/>
                          <a:cs typeface="+mn-cs"/>
                        </a:rPr>
                        <a:t>Test Data Input</a:t>
                      </a:r>
                    </a:p>
                  </a:txBody>
                  <a:tcPr marL="200110" marR="200110" marT="0" marB="0"/>
                </a:tc>
                <a:tc gridSpan="2">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Printed QR sheet with known values</a:t>
                      </a:r>
                    </a:p>
                  </a:txBody>
                  <a:tcPr marL="200110" marR="200110" marT="0" marB="0"/>
                </a:tc>
                <a:tc hMerge="1">
                  <a:txBody>
                    <a:bodyPr/>
                    <a:lstStyle/>
                    <a:p>
                      <a:endParaRPr lang="en-US"/>
                    </a:p>
                  </a:txBody>
                  <a:tcPr/>
                </a:tc>
                <a:extLst>
                  <a:ext uri="{0D108BD9-81ED-4DB2-BD59-A6C34878D82A}">
                    <a16:rowId xmlns:a16="http://schemas.microsoft.com/office/drawing/2014/main" val="840336466"/>
                  </a:ext>
                </a:extLst>
              </a:tr>
              <a:tr h="1044612">
                <a:tc>
                  <a:txBody>
                    <a:bodyPr/>
                    <a:lstStyle/>
                    <a:p>
                      <a:pPr marL="0" marR="0" algn="l" defTabSz="457200" rtl="0" eaLnBrk="1" latinLnBrk="0" hangingPunct="1">
                        <a:lnSpc>
                          <a:spcPct val="110000"/>
                        </a:lnSpc>
                        <a:spcAft>
                          <a:spcPts val="600"/>
                        </a:spcAft>
                        <a:buNone/>
                      </a:pPr>
                      <a:r>
                        <a:rPr lang="en-US" sz="2600" b="1" kern="1200">
                          <a:solidFill>
                            <a:schemeClr val="lt1"/>
                          </a:solidFill>
                          <a:effectLst/>
                          <a:latin typeface="+mn-lt"/>
                          <a:ea typeface="+mn-ea"/>
                          <a:cs typeface="+mn-cs"/>
                        </a:rPr>
                        <a:t>Expected</a:t>
                      </a:r>
                    </a:p>
                    <a:p>
                      <a:pPr marL="0" marR="0" algn="l" defTabSz="457200" rtl="0" eaLnBrk="1" latinLnBrk="0" hangingPunct="1">
                        <a:lnSpc>
                          <a:spcPct val="110000"/>
                        </a:lnSpc>
                        <a:spcAft>
                          <a:spcPts val="600"/>
                        </a:spcAft>
                        <a:buNone/>
                      </a:pPr>
                      <a:r>
                        <a:rPr lang="en-US" sz="2600" b="1" kern="1200">
                          <a:solidFill>
                            <a:schemeClr val="lt1"/>
                          </a:solidFill>
                          <a:effectLst/>
                          <a:latin typeface="+mn-lt"/>
                          <a:ea typeface="+mn-ea"/>
                          <a:cs typeface="+mn-cs"/>
                        </a:rPr>
                        <a:t>Result</a:t>
                      </a:r>
                    </a:p>
                  </a:txBody>
                  <a:tcPr marL="200110" marR="200110" marT="0" marB="0"/>
                </a:tc>
                <a:tc gridSpan="2">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Al codes decode correctly.</a:t>
                      </a:r>
                    </a:p>
                  </a:txBody>
                  <a:tcPr marL="200110" marR="200110" marT="0" marB="0"/>
                </a:tc>
                <a:tc hMerge="1">
                  <a:txBody>
                    <a:bodyPr/>
                    <a:lstStyle/>
                    <a:p>
                      <a:endParaRPr lang="en-US"/>
                    </a:p>
                  </a:txBody>
                  <a:tcPr/>
                </a:tc>
                <a:extLst>
                  <a:ext uri="{0D108BD9-81ED-4DB2-BD59-A6C34878D82A}">
                    <a16:rowId xmlns:a16="http://schemas.microsoft.com/office/drawing/2014/main" val="2541687859"/>
                  </a:ext>
                </a:extLst>
              </a:tr>
              <a:tr h="483200">
                <a:tc rowSpan="3">
                  <a:txBody>
                    <a:bodyPr/>
                    <a:lstStyle/>
                    <a:p>
                      <a:pPr marL="0" marR="0" algn="l" defTabSz="457200" rtl="0" eaLnBrk="1" latinLnBrk="0" hangingPunct="1">
                        <a:lnSpc>
                          <a:spcPct val="110000"/>
                        </a:lnSpc>
                        <a:spcAft>
                          <a:spcPts val="600"/>
                        </a:spcAft>
                        <a:buNone/>
                      </a:pPr>
                      <a:r>
                        <a:rPr lang="en-US" sz="2600" b="1" kern="1200">
                          <a:solidFill>
                            <a:schemeClr val="lt1"/>
                          </a:solidFill>
                          <a:effectLst/>
                          <a:latin typeface="+mn-lt"/>
                          <a:ea typeface="+mn-ea"/>
                          <a:cs typeface="+mn-cs"/>
                        </a:rPr>
                        <a:t>Traceability</a:t>
                      </a:r>
                    </a:p>
                  </a:txBody>
                  <a:tcPr marL="200110" marR="200110" marT="0" marB="0"/>
                </a:tc>
                <a:tc>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Relevant User Req.(s)</a:t>
                      </a:r>
                    </a:p>
                  </a:txBody>
                  <a:tcPr marL="200110" marR="200110" marT="0" marB="0"/>
                </a:tc>
                <a:tc>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UFR1</a:t>
                      </a:r>
                    </a:p>
                  </a:txBody>
                  <a:tcPr marL="200110" marR="200110" marT="0" marB="0"/>
                </a:tc>
                <a:extLst>
                  <a:ext uri="{0D108BD9-81ED-4DB2-BD59-A6C34878D82A}">
                    <a16:rowId xmlns:a16="http://schemas.microsoft.com/office/drawing/2014/main" val="3339802030"/>
                  </a:ext>
                </a:extLst>
              </a:tr>
              <a:tr h="483200">
                <a:tc vMerge="1">
                  <a:txBody>
                    <a:bodyPr/>
                    <a:lstStyle/>
                    <a:p>
                      <a:endParaRPr lang="en-US"/>
                    </a:p>
                  </a:txBody>
                  <a:tcPr/>
                </a:tc>
                <a:tc>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Relevant System Req.(s)</a:t>
                      </a:r>
                    </a:p>
                  </a:txBody>
                  <a:tcPr marL="200110" marR="200110" marT="0" marB="0"/>
                </a:tc>
                <a:tc>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SFR15</a:t>
                      </a:r>
                    </a:p>
                  </a:txBody>
                  <a:tcPr marL="200110" marR="200110" marT="0" marB="0"/>
                </a:tc>
                <a:extLst>
                  <a:ext uri="{0D108BD9-81ED-4DB2-BD59-A6C34878D82A}">
                    <a16:rowId xmlns:a16="http://schemas.microsoft.com/office/drawing/2014/main" val="660964462"/>
                  </a:ext>
                </a:extLst>
              </a:tr>
              <a:tr h="483200">
                <a:tc vMerge="1">
                  <a:txBody>
                    <a:bodyPr/>
                    <a:lstStyle/>
                    <a:p>
                      <a:endParaRPr lang="en-US"/>
                    </a:p>
                  </a:txBody>
                  <a:tcPr/>
                </a:tc>
                <a:tc>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Relevant Use Case.(s)</a:t>
                      </a:r>
                    </a:p>
                  </a:txBody>
                  <a:tcPr marL="200110" marR="200110" marT="0" marB="0"/>
                </a:tc>
                <a:tc>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UC-001</a:t>
                      </a:r>
                    </a:p>
                  </a:txBody>
                  <a:tcPr marL="200110" marR="200110" marT="0" marB="0"/>
                </a:tc>
                <a:extLst>
                  <a:ext uri="{0D108BD9-81ED-4DB2-BD59-A6C34878D82A}">
                    <a16:rowId xmlns:a16="http://schemas.microsoft.com/office/drawing/2014/main" val="3782282265"/>
                  </a:ext>
                </a:extLst>
              </a:tr>
            </a:tbl>
          </a:graphicData>
        </a:graphic>
      </p:graphicFrame>
    </p:spTree>
    <p:extLst>
      <p:ext uri="{BB962C8B-B14F-4D97-AF65-F5344CB8AC3E}">
        <p14:creationId xmlns:p14="http://schemas.microsoft.com/office/powerpoint/2010/main" val="17288640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A3E4F62D-112A-792E-993D-DB2378063AB1}"/>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DFB3CEA1-88D9-42FB-88ED-1E9807FE6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9A6C928E-4252-4F33-8C34-E50A12A31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Slide Number Placeholder 1">
            <a:extLst>
              <a:ext uri="{FF2B5EF4-FFF2-40B4-BE49-F238E27FC236}">
                <a16:creationId xmlns:a16="http://schemas.microsoft.com/office/drawing/2014/main" id="{F4D43DED-A9DF-72A3-E199-D36DFA2F2E72}"/>
              </a:ext>
            </a:extLst>
          </p:cNvPr>
          <p:cNvSpPr>
            <a:spLocks noGrp="1"/>
          </p:cNvSpPr>
          <p:nvPr>
            <p:ph type="sldNum" sz="quarter" idx="12"/>
          </p:nvPr>
        </p:nvSpPr>
        <p:spPr>
          <a:xfrm>
            <a:off x="10361612" y="-196187"/>
            <a:ext cx="838199" cy="767687"/>
          </a:xfrm>
        </p:spPr>
        <p:txBody>
          <a:bodyPr>
            <a:normAutofit/>
          </a:bodyPr>
          <a:lstStyle/>
          <a:p>
            <a:pPr>
              <a:spcAft>
                <a:spcPts val="600"/>
              </a:spcAft>
            </a:pPr>
            <a:fld id="{D57F1E4F-1CFF-5643-939E-02111984F565}" type="slidenum">
              <a:rPr lang="en-US">
                <a:solidFill>
                  <a:srgbClr val="FFFFFF"/>
                </a:solidFill>
              </a:rPr>
              <a:pPr>
                <a:spcAft>
                  <a:spcPts val="600"/>
                </a:spcAft>
              </a:pPr>
              <a:t>24</a:t>
            </a:fld>
            <a:endParaRPr lang="en-US">
              <a:solidFill>
                <a:srgbClr val="FFFFFF"/>
              </a:solidFill>
            </a:endParaRPr>
          </a:p>
        </p:txBody>
      </p:sp>
      <p:graphicFrame>
        <p:nvGraphicFramePr>
          <p:cNvPr id="3" name="Table 2">
            <a:extLst>
              <a:ext uri="{FF2B5EF4-FFF2-40B4-BE49-F238E27FC236}">
                <a16:creationId xmlns:a16="http://schemas.microsoft.com/office/drawing/2014/main" id="{7F2A0362-6BC4-4F1F-F53B-D50EB8A5FA2E}"/>
              </a:ext>
            </a:extLst>
          </p:cNvPr>
          <p:cNvGraphicFramePr>
            <a:graphicFrameLocks noGrp="1"/>
          </p:cNvGraphicFramePr>
          <p:nvPr>
            <p:extLst>
              <p:ext uri="{D42A27DB-BD31-4B8C-83A1-F6EECF244321}">
                <p14:modId xmlns:p14="http://schemas.microsoft.com/office/powerpoint/2010/main" val="881032958"/>
              </p:ext>
            </p:extLst>
          </p:nvPr>
        </p:nvGraphicFramePr>
        <p:xfrm>
          <a:off x="703796" y="674852"/>
          <a:ext cx="10762636" cy="4572124"/>
        </p:xfrm>
        <a:graphic>
          <a:graphicData uri="http://schemas.openxmlformats.org/drawingml/2006/table">
            <a:tbl>
              <a:tblPr firstRow="1" firstCol="1" bandRow="1">
                <a:tableStyleId>{5C22544A-7EE6-4342-B048-85BDC9FD1C3A}</a:tableStyleId>
              </a:tblPr>
              <a:tblGrid>
                <a:gridCol w="2802694">
                  <a:extLst>
                    <a:ext uri="{9D8B030D-6E8A-4147-A177-3AD203B41FA5}">
                      <a16:colId xmlns:a16="http://schemas.microsoft.com/office/drawing/2014/main" val="769676903"/>
                    </a:ext>
                  </a:extLst>
                </a:gridCol>
                <a:gridCol w="5262456">
                  <a:extLst>
                    <a:ext uri="{9D8B030D-6E8A-4147-A177-3AD203B41FA5}">
                      <a16:colId xmlns:a16="http://schemas.microsoft.com/office/drawing/2014/main" val="616012370"/>
                    </a:ext>
                  </a:extLst>
                </a:gridCol>
                <a:gridCol w="2697486">
                  <a:extLst>
                    <a:ext uri="{9D8B030D-6E8A-4147-A177-3AD203B41FA5}">
                      <a16:colId xmlns:a16="http://schemas.microsoft.com/office/drawing/2014/main" val="862021701"/>
                    </a:ext>
                  </a:extLst>
                </a:gridCol>
              </a:tblGrid>
              <a:tr h="449809">
                <a:tc>
                  <a:txBody>
                    <a:bodyPr/>
                    <a:lstStyle/>
                    <a:p>
                      <a:pPr marL="0" marR="0" algn="l" defTabSz="457200" rtl="0" eaLnBrk="1" latinLnBrk="0" hangingPunct="1">
                        <a:lnSpc>
                          <a:spcPct val="110000"/>
                        </a:lnSpc>
                        <a:spcAft>
                          <a:spcPts val="600"/>
                        </a:spcAft>
                        <a:buNone/>
                      </a:pPr>
                      <a:r>
                        <a:rPr lang="en-US" sz="2600" b="1" kern="1200">
                          <a:solidFill>
                            <a:schemeClr val="lt1"/>
                          </a:solidFill>
                          <a:effectLst/>
                          <a:latin typeface="+mn-lt"/>
                          <a:ea typeface="+mn-ea"/>
                          <a:cs typeface="+mn-cs"/>
                        </a:rPr>
                        <a:t>Project Name</a:t>
                      </a:r>
                    </a:p>
                  </a:txBody>
                  <a:tcPr marL="181353" marR="181353" marT="0" marB="0"/>
                </a:tc>
                <a:tc gridSpan="2">
                  <a:txBody>
                    <a:bodyPr/>
                    <a:lstStyle/>
                    <a:p>
                      <a:pPr marL="0" marR="0" algn="l" defTabSz="457200" rtl="0" eaLnBrk="1" latinLnBrk="0" hangingPunct="1">
                        <a:lnSpc>
                          <a:spcPct val="110000"/>
                        </a:lnSpc>
                        <a:spcAft>
                          <a:spcPts val="600"/>
                        </a:spcAft>
                        <a:buNone/>
                      </a:pPr>
                      <a:r>
                        <a:rPr lang="en-US" sz="2600" b="1" kern="1200">
                          <a:solidFill>
                            <a:schemeClr val="lt1"/>
                          </a:solidFill>
                          <a:effectLst/>
                          <a:latin typeface="+mn-lt"/>
                          <a:ea typeface="+mn-ea"/>
                          <a:cs typeface="+mn-cs"/>
                        </a:rPr>
                        <a:t>AIBI CV for Manufacturing</a:t>
                      </a:r>
                    </a:p>
                  </a:txBody>
                  <a:tcPr marL="181353" marR="181353" marT="0" marB="0"/>
                </a:tc>
                <a:tc hMerge="1">
                  <a:txBody>
                    <a:bodyPr/>
                    <a:lstStyle/>
                    <a:p>
                      <a:endParaRPr lang="en-US"/>
                    </a:p>
                  </a:txBody>
                  <a:tcPr/>
                </a:tc>
                <a:extLst>
                  <a:ext uri="{0D108BD9-81ED-4DB2-BD59-A6C34878D82A}">
                    <a16:rowId xmlns:a16="http://schemas.microsoft.com/office/drawing/2014/main" val="2248719039"/>
                  </a:ext>
                </a:extLst>
              </a:tr>
              <a:tr h="449809">
                <a:tc>
                  <a:txBody>
                    <a:bodyPr/>
                    <a:lstStyle/>
                    <a:p>
                      <a:pPr marL="0" marR="0" algn="l" defTabSz="457200" rtl="0" eaLnBrk="1" latinLnBrk="0" hangingPunct="1">
                        <a:lnSpc>
                          <a:spcPct val="110000"/>
                        </a:lnSpc>
                        <a:spcAft>
                          <a:spcPts val="600"/>
                        </a:spcAft>
                        <a:buNone/>
                      </a:pPr>
                      <a:r>
                        <a:rPr lang="en-US" sz="2600" b="1" kern="1200">
                          <a:solidFill>
                            <a:schemeClr val="lt1"/>
                          </a:solidFill>
                          <a:effectLst/>
                          <a:latin typeface="+mn-lt"/>
                          <a:ea typeface="+mn-ea"/>
                          <a:cs typeface="+mn-cs"/>
                        </a:rPr>
                        <a:t>Test Suite</a:t>
                      </a:r>
                    </a:p>
                  </a:txBody>
                  <a:tcPr marL="181353" marR="181353" marT="0" marB="0"/>
                </a:tc>
                <a:tc gridSpan="2">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System/Manual Functional</a:t>
                      </a:r>
                    </a:p>
                  </a:txBody>
                  <a:tcPr marL="181353" marR="181353" marT="0" marB="0"/>
                </a:tc>
                <a:tc hMerge="1">
                  <a:txBody>
                    <a:bodyPr/>
                    <a:lstStyle/>
                    <a:p>
                      <a:endParaRPr lang="en-US"/>
                    </a:p>
                  </a:txBody>
                  <a:tcPr/>
                </a:tc>
                <a:extLst>
                  <a:ext uri="{0D108BD9-81ED-4DB2-BD59-A6C34878D82A}">
                    <a16:rowId xmlns:a16="http://schemas.microsoft.com/office/drawing/2014/main" val="1867120685"/>
                  </a:ext>
                </a:extLst>
              </a:tr>
              <a:tr h="449809">
                <a:tc>
                  <a:txBody>
                    <a:bodyPr/>
                    <a:lstStyle/>
                    <a:p>
                      <a:pPr marL="0" marR="0" algn="l" defTabSz="457200" rtl="0" eaLnBrk="1" latinLnBrk="0" hangingPunct="1">
                        <a:lnSpc>
                          <a:spcPct val="110000"/>
                        </a:lnSpc>
                        <a:spcAft>
                          <a:spcPts val="600"/>
                        </a:spcAft>
                        <a:buNone/>
                      </a:pPr>
                      <a:r>
                        <a:rPr lang="en-US" sz="2600" b="1" kern="1200">
                          <a:solidFill>
                            <a:schemeClr val="lt1"/>
                          </a:solidFill>
                          <a:effectLst/>
                          <a:latin typeface="+mn-lt"/>
                          <a:ea typeface="+mn-ea"/>
                          <a:cs typeface="+mn-cs"/>
                        </a:rPr>
                        <a:t>Test Case ID</a:t>
                      </a:r>
                    </a:p>
                  </a:txBody>
                  <a:tcPr marL="181353" marR="181353" marT="0" marB="0"/>
                </a:tc>
                <a:tc gridSpan="2">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TC-SFR16-MAN-01</a:t>
                      </a:r>
                    </a:p>
                  </a:txBody>
                  <a:tcPr marL="181353" marR="181353" marT="0" marB="0"/>
                </a:tc>
                <a:tc hMerge="1">
                  <a:txBody>
                    <a:bodyPr/>
                    <a:lstStyle/>
                    <a:p>
                      <a:endParaRPr lang="en-US"/>
                    </a:p>
                  </a:txBody>
                  <a:tcPr/>
                </a:tc>
                <a:extLst>
                  <a:ext uri="{0D108BD9-81ED-4DB2-BD59-A6C34878D82A}">
                    <a16:rowId xmlns:a16="http://schemas.microsoft.com/office/drawing/2014/main" val="3855881235"/>
                  </a:ext>
                </a:extLst>
              </a:tr>
              <a:tr h="449809">
                <a:tc>
                  <a:txBody>
                    <a:bodyPr/>
                    <a:lstStyle/>
                    <a:p>
                      <a:pPr marL="0" marR="0" algn="l" defTabSz="457200" rtl="0" eaLnBrk="1" latinLnBrk="0" hangingPunct="1">
                        <a:lnSpc>
                          <a:spcPct val="110000"/>
                        </a:lnSpc>
                        <a:spcAft>
                          <a:spcPts val="600"/>
                        </a:spcAft>
                        <a:buNone/>
                      </a:pPr>
                      <a:r>
                        <a:rPr lang="en-US" sz="2600" b="1" kern="1200">
                          <a:solidFill>
                            <a:schemeClr val="lt1"/>
                          </a:solidFill>
                          <a:effectLst/>
                          <a:latin typeface="+mn-lt"/>
                          <a:ea typeface="+mn-ea"/>
                          <a:cs typeface="+mn-cs"/>
                        </a:rPr>
                        <a:t>What to Test</a:t>
                      </a:r>
                    </a:p>
                  </a:txBody>
                  <a:tcPr marL="181353" marR="181353" marT="0" marB="0"/>
                </a:tc>
                <a:tc gridSpan="2">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Output includes all visible QRs</a:t>
                      </a:r>
                    </a:p>
                  </a:txBody>
                  <a:tcPr marL="181353" marR="181353" marT="0" marB="0"/>
                </a:tc>
                <a:tc hMerge="1">
                  <a:txBody>
                    <a:bodyPr/>
                    <a:lstStyle/>
                    <a:p>
                      <a:endParaRPr lang="en-US"/>
                    </a:p>
                  </a:txBody>
                  <a:tcPr/>
                </a:tc>
                <a:extLst>
                  <a:ext uri="{0D108BD9-81ED-4DB2-BD59-A6C34878D82A}">
                    <a16:rowId xmlns:a16="http://schemas.microsoft.com/office/drawing/2014/main" val="3260029198"/>
                  </a:ext>
                </a:extLst>
              </a:tr>
              <a:tr h="449809">
                <a:tc>
                  <a:txBody>
                    <a:bodyPr/>
                    <a:lstStyle/>
                    <a:p>
                      <a:pPr marL="0" marR="0" algn="l" defTabSz="457200" rtl="0" eaLnBrk="1" latinLnBrk="0" hangingPunct="1">
                        <a:lnSpc>
                          <a:spcPct val="110000"/>
                        </a:lnSpc>
                        <a:spcAft>
                          <a:spcPts val="600"/>
                        </a:spcAft>
                        <a:buNone/>
                      </a:pPr>
                      <a:r>
                        <a:rPr lang="en-US" sz="2600" b="1" kern="1200">
                          <a:solidFill>
                            <a:schemeClr val="lt1"/>
                          </a:solidFill>
                          <a:effectLst/>
                          <a:latin typeface="+mn-lt"/>
                          <a:ea typeface="+mn-ea"/>
                          <a:cs typeface="+mn-cs"/>
                        </a:rPr>
                        <a:t>Test Data Input</a:t>
                      </a:r>
                    </a:p>
                  </a:txBody>
                  <a:tcPr marL="181353" marR="181353" marT="0" marB="0"/>
                </a:tc>
                <a:tc gridSpan="2">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Live multi-code scan.</a:t>
                      </a:r>
                    </a:p>
                  </a:txBody>
                  <a:tcPr marL="181353" marR="181353" marT="0" marB="0"/>
                </a:tc>
                <a:tc hMerge="1">
                  <a:txBody>
                    <a:bodyPr/>
                    <a:lstStyle/>
                    <a:p>
                      <a:endParaRPr lang="en-US"/>
                    </a:p>
                  </a:txBody>
                  <a:tcPr/>
                </a:tc>
                <a:extLst>
                  <a:ext uri="{0D108BD9-81ED-4DB2-BD59-A6C34878D82A}">
                    <a16:rowId xmlns:a16="http://schemas.microsoft.com/office/drawing/2014/main" val="3011032974"/>
                  </a:ext>
                </a:extLst>
              </a:tr>
              <a:tr h="973652">
                <a:tc>
                  <a:txBody>
                    <a:bodyPr/>
                    <a:lstStyle/>
                    <a:p>
                      <a:pPr marL="0" marR="0" algn="l" defTabSz="457200" rtl="0" eaLnBrk="1" latinLnBrk="0" hangingPunct="1">
                        <a:lnSpc>
                          <a:spcPct val="110000"/>
                        </a:lnSpc>
                        <a:spcAft>
                          <a:spcPts val="600"/>
                        </a:spcAft>
                        <a:buNone/>
                      </a:pPr>
                      <a:r>
                        <a:rPr lang="en-US" sz="2600" b="1" kern="1200">
                          <a:solidFill>
                            <a:schemeClr val="lt1"/>
                          </a:solidFill>
                          <a:effectLst/>
                          <a:latin typeface="+mn-lt"/>
                          <a:ea typeface="+mn-ea"/>
                          <a:cs typeface="+mn-cs"/>
                        </a:rPr>
                        <a:t>Expected</a:t>
                      </a:r>
                    </a:p>
                    <a:p>
                      <a:pPr marL="0" marR="0" algn="l" defTabSz="457200" rtl="0" eaLnBrk="1" latinLnBrk="0" hangingPunct="1">
                        <a:lnSpc>
                          <a:spcPct val="110000"/>
                        </a:lnSpc>
                        <a:spcAft>
                          <a:spcPts val="600"/>
                        </a:spcAft>
                        <a:buNone/>
                      </a:pPr>
                      <a:r>
                        <a:rPr lang="en-US" sz="2600" b="1" kern="1200">
                          <a:solidFill>
                            <a:schemeClr val="lt1"/>
                          </a:solidFill>
                          <a:effectLst/>
                          <a:latin typeface="+mn-lt"/>
                          <a:ea typeface="+mn-ea"/>
                          <a:cs typeface="+mn-cs"/>
                        </a:rPr>
                        <a:t>Result</a:t>
                      </a:r>
                    </a:p>
                  </a:txBody>
                  <a:tcPr marL="181353" marR="181353" marT="0" marB="0"/>
                </a:tc>
                <a:tc gridSpan="2">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Output matches count and content of visible QRs</a:t>
                      </a:r>
                    </a:p>
                  </a:txBody>
                  <a:tcPr marL="181353" marR="181353" marT="0" marB="0"/>
                </a:tc>
                <a:tc hMerge="1">
                  <a:txBody>
                    <a:bodyPr/>
                    <a:lstStyle/>
                    <a:p>
                      <a:endParaRPr lang="en-US"/>
                    </a:p>
                  </a:txBody>
                  <a:tcPr/>
                </a:tc>
                <a:extLst>
                  <a:ext uri="{0D108BD9-81ED-4DB2-BD59-A6C34878D82A}">
                    <a16:rowId xmlns:a16="http://schemas.microsoft.com/office/drawing/2014/main" val="4140645406"/>
                  </a:ext>
                </a:extLst>
              </a:tr>
              <a:tr h="449809">
                <a:tc rowSpan="3">
                  <a:txBody>
                    <a:bodyPr/>
                    <a:lstStyle/>
                    <a:p>
                      <a:pPr marL="0" marR="0" algn="l" defTabSz="457200" rtl="0" eaLnBrk="1" latinLnBrk="0" hangingPunct="1">
                        <a:lnSpc>
                          <a:spcPct val="110000"/>
                        </a:lnSpc>
                        <a:spcAft>
                          <a:spcPts val="600"/>
                        </a:spcAft>
                        <a:buNone/>
                      </a:pPr>
                      <a:r>
                        <a:rPr lang="en-US" sz="2600" b="1" kern="1200">
                          <a:solidFill>
                            <a:schemeClr val="lt1"/>
                          </a:solidFill>
                          <a:effectLst/>
                          <a:latin typeface="+mn-lt"/>
                          <a:ea typeface="+mn-ea"/>
                          <a:cs typeface="+mn-cs"/>
                        </a:rPr>
                        <a:t>Traceability</a:t>
                      </a:r>
                    </a:p>
                  </a:txBody>
                  <a:tcPr marL="181353" marR="181353" marT="0" marB="0"/>
                </a:tc>
                <a:tc>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Relevant User Req.(s)</a:t>
                      </a:r>
                    </a:p>
                  </a:txBody>
                  <a:tcPr marL="181353" marR="181353" marT="0" marB="0"/>
                </a:tc>
                <a:tc>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UFR1</a:t>
                      </a:r>
                    </a:p>
                  </a:txBody>
                  <a:tcPr marL="181353" marR="181353" marT="0" marB="0"/>
                </a:tc>
                <a:extLst>
                  <a:ext uri="{0D108BD9-81ED-4DB2-BD59-A6C34878D82A}">
                    <a16:rowId xmlns:a16="http://schemas.microsoft.com/office/drawing/2014/main" val="3236683801"/>
                  </a:ext>
                </a:extLst>
              </a:tr>
              <a:tr h="449809">
                <a:tc vMerge="1">
                  <a:txBody>
                    <a:bodyPr/>
                    <a:lstStyle/>
                    <a:p>
                      <a:endParaRPr lang="en-US"/>
                    </a:p>
                  </a:txBody>
                  <a:tcPr/>
                </a:tc>
                <a:tc>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Relevant System Req.(s)</a:t>
                      </a:r>
                    </a:p>
                  </a:txBody>
                  <a:tcPr marL="181353" marR="181353" marT="0" marB="0"/>
                </a:tc>
                <a:tc>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SFR16</a:t>
                      </a:r>
                    </a:p>
                  </a:txBody>
                  <a:tcPr marL="181353" marR="181353" marT="0" marB="0"/>
                </a:tc>
                <a:extLst>
                  <a:ext uri="{0D108BD9-81ED-4DB2-BD59-A6C34878D82A}">
                    <a16:rowId xmlns:a16="http://schemas.microsoft.com/office/drawing/2014/main" val="2217857029"/>
                  </a:ext>
                </a:extLst>
              </a:tr>
              <a:tr h="449809">
                <a:tc vMerge="1">
                  <a:txBody>
                    <a:bodyPr/>
                    <a:lstStyle/>
                    <a:p>
                      <a:endParaRPr lang="en-US"/>
                    </a:p>
                  </a:txBody>
                  <a:tcPr/>
                </a:tc>
                <a:tc>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Relevant Use Case.(s)</a:t>
                      </a:r>
                    </a:p>
                  </a:txBody>
                  <a:tcPr marL="181353" marR="181353" marT="0" marB="0"/>
                </a:tc>
                <a:tc>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UC-001</a:t>
                      </a:r>
                    </a:p>
                  </a:txBody>
                  <a:tcPr marL="181353" marR="181353" marT="0" marB="0"/>
                </a:tc>
                <a:extLst>
                  <a:ext uri="{0D108BD9-81ED-4DB2-BD59-A6C34878D82A}">
                    <a16:rowId xmlns:a16="http://schemas.microsoft.com/office/drawing/2014/main" val="2613494456"/>
                  </a:ext>
                </a:extLst>
              </a:tr>
            </a:tbl>
          </a:graphicData>
        </a:graphic>
      </p:graphicFrame>
    </p:spTree>
    <p:extLst>
      <p:ext uri="{BB962C8B-B14F-4D97-AF65-F5344CB8AC3E}">
        <p14:creationId xmlns:p14="http://schemas.microsoft.com/office/powerpoint/2010/main" val="41924535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70472482-984F-4DBD-CD5A-6F7EA49C3B17}"/>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DFB3CEA1-88D9-42FB-88ED-1E9807FE6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A6C928E-4252-4F33-8C34-E50A12A31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Slide Number Placeholder 1">
            <a:extLst>
              <a:ext uri="{FF2B5EF4-FFF2-40B4-BE49-F238E27FC236}">
                <a16:creationId xmlns:a16="http://schemas.microsoft.com/office/drawing/2014/main" id="{B6DEEA21-B87C-6E50-8A88-F854186CA64D}"/>
              </a:ext>
            </a:extLst>
          </p:cNvPr>
          <p:cNvSpPr>
            <a:spLocks noGrp="1"/>
          </p:cNvSpPr>
          <p:nvPr>
            <p:ph type="sldNum" sz="quarter" idx="12"/>
          </p:nvPr>
        </p:nvSpPr>
        <p:spPr>
          <a:xfrm>
            <a:off x="10361612" y="-178410"/>
            <a:ext cx="838199" cy="767687"/>
          </a:xfrm>
        </p:spPr>
        <p:txBody>
          <a:bodyPr>
            <a:normAutofit/>
          </a:bodyPr>
          <a:lstStyle/>
          <a:p>
            <a:pPr>
              <a:spcAft>
                <a:spcPts val="600"/>
              </a:spcAft>
            </a:pPr>
            <a:fld id="{D57F1E4F-1CFF-5643-939E-02111984F565}" type="slidenum">
              <a:rPr lang="en-US">
                <a:solidFill>
                  <a:srgbClr val="FFFFFF"/>
                </a:solidFill>
              </a:rPr>
              <a:pPr>
                <a:spcAft>
                  <a:spcPts val="600"/>
                </a:spcAft>
              </a:pPr>
              <a:t>25</a:t>
            </a:fld>
            <a:endParaRPr lang="en-US">
              <a:solidFill>
                <a:srgbClr val="FFFFFF"/>
              </a:solidFill>
            </a:endParaRPr>
          </a:p>
        </p:txBody>
      </p:sp>
      <p:sp>
        <p:nvSpPr>
          <p:cNvPr id="4" name="Rectangle 1">
            <a:extLst>
              <a:ext uri="{FF2B5EF4-FFF2-40B4-BE49-F238E27FC236}">
                <a16:creationId xmlns:a16="http://schemas.microsoft.com/office/drawing/2014/main" id="{AAF939A4-8047-A192-E458-6BDEC7C2B121}"/>
              </a:ext>
            </a:extLst>
          </p:cNvPr>
          <p:cNvSpPr>
            <a:spLocks noChangeArrowheads="1"/>
          </p:cNvSpPr>
          <p:nvPr/>
        </p:nvSpPr>
        <p:spPr bwMode="auto">
          <a:xfrm>
            <a:off x="1293813" y="32512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3" name="Table 2">
            <a:extLst>
              <a:ext uri="{FF2B5EF4-FFF2-40B4-BE49-F238E27FC236}">
                <a16:creationId xmlns:a16="http://schemas.microsoft.com/office/drawing/2014/main" id="{589DBD7A-991C-C1C9-C1B3-1C6DC4AA0E2B}"/>
              </a:ext>
            </a:extLst>
          </p:cNvPr>
          <p:cNvGraphicFramePr>
            <a:graphicFrameLocks noGrp="1"/>
          </p:cNvGraphicFramePr>
          <p:nvPr>
            <p:extLst>
              <p:ext uri="{D42A27DB-BD31-4B8C-83A1-F6EECF244321}">
                <p14:modId xmlns:p14="http://schemas.microsoft.com/office/powerpoint/2010/main" val="1883204689"/>
              </p:ext>
            </p:extLst>
          </p:nvPr>
        </p:nvGraphicFramePr>
        <p:xfrm>
          <a:off x="677293" y="672974"/>
          <a:ext cx="10837413" cy="4710511"/>
        </p:xfrm>
        <a:graphic>
          <a:graphicData uri="http://schemas.openxmlformats.org/drawingml/2006/table">
            <a:tbl>
              <a:tblPr firstRow="1" firstCol="1" bandRow="1">
                <a:tableStyleId>{5C22544A-7EE6-4342-B048-85BDC9FD1C3A}</a:tableStyleId>
              </a:tblPr>
              <a:tblGrid>
                <a:gridCol w="2739650">
                  <a:extLst>
                    <a:ext uri="{9D8B030D-6E8A-4147-A177-3AD203B41FA5}">
                      <a16:colId xmlns:a16="http://schemas.microsoft.com/office/drawing/2014/main" val="328191814"/>
                    </a:ext>
                  </a:extLst>
                </a:gridCol>
                <a:gridCol w="4019722">
                  <a:extLst>
                    <a:ext uri="{9D8B030D-6E8A-4147-A177-3AD203B41FA5}">
                      <a16:colId xmlns:a16="http://schemas.microsoft.com/office/drawing/2014/main" val="4290626934"/>
                    </a:ext>
                  </a:extLst>
                </a:gridCol>
                <a:gridCol w="4078041">
                  <a:extLst>
                    <a:ext uri="{9D8B030D-6E8A-4147-A177-3AD203B41FA5}">
                      <a16:colId xmlns:a16="http://schemas.microsoft.com/office/drawing/2014/main" val="2492031561"/>
                    </a:ext>
                  </a:extLst>
                </a:gridCol>
              </a:tblGrid>
              <a:tr h="417725">
                <a:tc>
                  <a:txBody>
                    <a:bodyPr/>
                    <a:lstStyle/>
                    <a:p>
                      <a:pPr marL="0" marR="0" algn="l" defTabSz="457200" rtl="0" eaLnBrk="1" latinLnBrk="0" hangingPunct="1">
                        <a:lnSpc>
                          <a:spcPct val="110000"/>
                        </a:lnSpc>
                        <a:spcAft>
                          <a:spcPts val="600"/>
                        </a:spcAft>
                        <a:buNone/>
                      </a:pPr>
                      <a:r>
                        <a:rPr lang="en-US" sz="2600" b="1" kern="1200">
                          <a:solidFill>
                            <a:schemeClr val="lt1"/>
                          </a:solidFill>
                          <a:effectLst/>
                          <a:latin typeface="+mn-lt"/>
                          <a:ea typeface="+mn-ea"/>
                          <a:cs typeface="+mn-cs"/>
                        </a:rPr>
                        <a:t>Project Name</a:t>
                      </a:r>
                    </a:p>
                  </a:txBody>
                  <a:tcPr marL="149831" marR="149831" marT="0" marB="0"/>
                </a:tc>
                <a:tc gridSpan="2">
                  <a:txBody>
                    <a:bodyPr/>
                    <a:lstStyle/>
                    <a:p>
                      <a:pPr marL="0" marR="0" algn="l" defTabSz="457200" rtl="0" eaLnBrk="1" latinLnBrk="0" hangingPunct="1">
                        <a:lnSpc>
                          <a:spcPct val="110000"/>
                        </a:lnSpc>
                        <a:spcAft>
                          <a:spcPts val="600"/>
                        </a:spcAft>
                        <a:buNone/>
                      </a:pPr>
                      <a:r>
                        <a:rPr lang="en-US" sz="2600" b="1" kern="1200">
                          <a:solidFill>
                            <a:schemeClr val="lt1"/>
                          </a:solidFill>
                          <a:effectLst/>
                          <a:latin typeface="+mn-lt"/>
                          <a:ea typeface="+mn-ea"/>
                          <a:cs typeface="+mn-cs"/>
                        </a:rPr>
                        <a:t>AIBI CV for Manufacturing</a:t>
                      </a:r>
                    </a:p>
                  </a:txBody>
                  <a:tcPr marL="149831" marR="149831" marT="0" marB="0"/>
                </a:tc>
                <a:tc hMerge="1">
                  <a:txBody>
                    <a:bodyPr/>
                    <a:lstStyle/>
                    <a:p>
                      <a:endParaRPr lang="en-US"/>
                    </a:p>
                  </a:txBody>
                  <a:tcPr/>
                </a:tc>
                <a:extLst>
                  <a:ext uri="{0D108BD9-81ED-4DB2-BD59-A6C34878D82A}">
                    <a16:rowId xmlns:a16="http://schemas.microsoft.com/office/drawing/2014/main" val="1102038967"/>
                  </a:ext>
                </a:extLst>
              </a:tr>
              <a:tr h="417725">
                <a:tc>
                  <a:txBody>
                    <a:bodyPr/>
                    <a:lstStyle/>
                    <a:p>
                      <a:pPr marL="0" marR="0" algn="l" defTabSz="457200" rtl="0" eaLnBrk="1" latinLnBrk="0" hangingPunct="1">
                        <a:lnSpc>
                          <a:spcPct val="110000"/>
                        </a:lnSpc>
                        <a:spcAft>
                          <a:spcPts val="600"/>
                        </a:spcAft>
                        <a:buNone/>
                      </a:pPr>
                      <a:r>
                        <a:rPr lang="en-US" sz="2600" b="1" kern="1200">
                          <a:solidFill>
                            <a:schemeClr val="lt1"/>
                          </a:solidFill>
                          <a:effectLst/>
                          <a:latin typeface="+mn-lt"/>
                          <a:ea typeface="+mn-ea"/>
                          <a:cs typeface="+mn-cs"/>
                        </a:rPr>
                        <a:t>Test Suite</a:t>
                      </a:r>
                    </a:p>
                  </a:txBody>
                  <a:tcPr marL="149831" marR="149831" marT="0" marB="0"/>
                </a:tc>
                <a:tc gridSpan="2">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Automated Functional</a:t>
                      </a:r>
                    </a:p>
                  </a:txBody>
                  <a:tcPr marL="149831" marR="149831" marT="0" marB="0"/>
                </a:tc>
                <a:tc hMerge="1">
                  <a:txBody>
                    <a:bodyPr/>
                    <a:lstStyle/>
                    <a:p>
                      <a:endParaRPr lang="en-US"/>
                    </a:p>
                  </a:txBody>
                  <a:tcPr/>
                </a:tc>
                <a:extLst>
                  <a:ext uri="{0D108BD9-81ED-4DB2-BD59-A6C34878D82A}">
                    <a16:rowId xmlns:a16="http://schemas.microsoft.com/office/drawing/2014/main" val="2705865936"/>
                  </a:ext>
                </a:extLst>
              </a:tr>
              <a:tr h="417725">
                <a:tc>
                  <a:txBody>
                    <a:bodyPr/>
                    <a:lstStyle/>
                    <a:p>
                      <a:pPr marL="0" marR="0" algn="l" defTabSz="457200" rtl="0" eaLnBrk="1" latinLnBrk="0" hangingPunct="1">
                        <a:lnSpc>
                          <a:spcPct val="110000"/>
                        </a:lnSpc>
                        <a:spcAft>
                          <a:spcPts val="600"/>
                        </a:spcAft>
                        <a:buNone/>
                      </a:pPr>
                      <a:r>
                        <a:rPr lang="en-US" sz="2600" b="1" kern="1200">
                          <a:solidFill>
                            <a:schemeClr val="lt1"/>
                          </a:solidFill>
                          <a:effectLst/>
                          <a:latin typeface="+mn-lt"/>
                          <a:ea typeface="+mn-ea"/>
                          <a:cs typeface="+mn-cs"/>
                        </a:rPr>
                        <a:t>Test Case ID</a:t>
                      </a:r>
                    </a:p>
                  </a:txBody>
                  <a:tcPr marL="149831" marR="149831" marT="0" marB="0"/>
                </a:tc>
                <a:tc gridSpan="2">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TC-SFR1-AUTO-01</a:t>
                      </a:r>
                    </a:p>
                  </a:txBody>
                  <a:tcPr marL="149831" marR="149831" marT="0" marB="0"/>
                </a:tc>
                <a:tc hMerge="1">
                  <a:txBody>
                    <a:bodyPr/>
                    <a:lstStyle/>
                    <a:p>
                      <a:endParaRPr lang="en-US"/>
                    </a:p>
                  </a:txBody>
                  <a:tcPr/>
                </a:tc>
                <a:extLst>
                  <a:ext uri="{0D108BD9-81ED-4DB2-BD59-A6C34878D82A}">
                    <a16:rowId xmlns:a16="http://schemas.microsoft.com/office/drawing/2014/main" val="1747780026"/>
                  </a:ext>
                </a:extLst>
              </a:tr>
              <a:tr h="417725">
                <a:tc>
                  <a:txBody>
                    <a:bodyPr/>
                    <a:lstStyle/>
                    <a:p>
                      <a:pPr marL="0" marR="0" algn="l" defTabSz="457200" rtl="0" eaLnBrk="1" latinLnBrk="0" hangingPunct="1">
                        <a:lnSpc>
                          <a:spcPct val="110000"/>
                        </a:lnSpc>
                        <a:spcAft>
                          <a:spcPts val="600"/>
                        </a:spcAft>
                        <a:buNone/>
                      </a:pPr>
                      <a:r>
                        <a:rPr lang="en-US" sz="2600" b="1" kern="1200">
                          <a:solidFill>
                            <a:schemeClr val="lt1"/>
                          </a:solidFill>
                          <a:effectLst/>
                          <a:latin typeface="+mn-lt"/>
                          <a:ea typeface="+mn-ea"/>
                          <a:cs typeface="+mn-cs"/>
                        </a:rPr>
                        <a:t>What to Test</a:t>
                      </a:r>
                    </a:p>
                  </a:txBody>
                  <a:tcPr marL="149831" marR="149831" marT="0" marB="0"/>
                </a:tc>
                <a:tc gridSpan="2">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QR detection returns all codes in a static image.</a:t>
                      </a:r>
                    </a:p>
                  </a:txBody>
                  <a:tcPr marL="149831" marR="149831" marT="0" marB="0"/>
                </a:tc>
                <a:tc hMerge="1">
                  <a:txBody>
                    <a:bodyPr/>
                    <a:lstStyle/>
                    <a:p>
                      <a:endParaRPr lang="en-US"/>
                    </a:p>
                  </a:txBody>
                  <a:tcPr/>
                </a:tc>
                <a:extLst>
                  <a:ext uri="{0D108BD9-81ED-4DB2-BD59-A6C34878D82A}">
                    <a16:rowId xmlns:a16="http://schemas.microsoft.com/office/drawing/2014/main" val="1624194895"/>
                  </a:ext>
                </a:extLst>
              </a:tr>
              <a:tr h="417725">
                <a:tc>
                  <a:txBody>
                    <a:bodyPr/>
                    <a:lstStyle/>
                    <a:p>
                      <a:pPr marL="0" marR="0" algn="l" defTabSz="457200" rtl="0" eaLnBrk="1" latinLnBrk="0" hangingPunct="1">
                        <a:lnSpc>
                          <a:spcPct val="110000"/>
                        </a:lnSpc>
                        <a:spcAft>
                          <a:spcPts val="600"/>
                        </a:spcAft>
                        <a:buNone/>
                      </a:pPr>
                      <a:r>
                        <a:rPr lang="en-US" sz="2600" b="1" kern="1200">
                          <a:solidFill>
                            <a:schemeClr val="lt1"/>
                          </a:solidFill>
                          <a:effectLst/>
                          <a:latin typeface="+mn-lt"/>
                          <a:ea typeface="+mn-ea"/>
                          <a:cs typeface="+mn-cs"/>
                        </a:rPr>
                        <a:t>Test Data Input</a:t>
                      </a:r>
                    </a:p>
                  </a:txBody>
                  <a:tcPr marL="149831" marR="149831" marT="0" marB="0"/>
                </a:tc>
                <a:tc gridSpan="2">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Multi-QR test image with N known codes.</a:t>
                      </a:r>
                    </a:p>
                  </a:txBody>
                  <a:tcPr marL="149831" marR="149831" marT="0" marB="0"/>
                </a:tc>
                <a:tc hMerge="1">
                  <a:txBody>
                    <a:bodyPr/>
                    <a:lstStyle/>
                    <a:p>
                      <a:endParaRPr lang="en-US"/>
                    </a:p>
                  </a:txBody>
                  <a:tcPr/>
                </a:tc>
                <a:extLst>
                  <a:ext uri="{0D108BD9-81ED-4DB2-BD59-A6C34878D82A}">
                    <a16:rowId xmlns:a16="http://schemas.microsoft.com/office/drawing/2014/main" val="315952208"/>
                  </a:ext>
                </a:extLst>
              </a:tr>
              <a:tr h="950458">
                <a:tc>
                  <a:txBody>
                    <a:bodyPr/>
                    <a:lstStyle/>
                    <a:p>
                      <a:pPr marL="0" marR="0" algn="l" defTabSz="457200" rtl="0" eaLnBrk="1" latinLnBrk="0" hangingPunct="1">
                        <a:lnSpc>
                          <a:spcPct val="110000"/>
                        </a:lnSpc>
                        <a:spcAft>
                          <a:spcPts val="600"/>
                        </a:spcAft>
                        <a:buNone/>
                      </a:pPr>
                      <a:r>
                        <a:rPr lang="en-US" sz="2600" b="1" kern="1200">
                          <a:solidFill>
                            <a:schemeClr val="lt1"/>
                          </a:solidFill>
                          <a:effectLst/>
                          <a:latin typeface="+mn-lt"/>
                          <a:ea typeface="+mn-ea"/>
                          <a:cs typeface="+mn-cs"/>
                        </a:rPr>
                        <a:t>Expected</a:t>
                      </a:r>
                    </a:p>
                    <a:p>
                      <a:pPr marL="0" marR="0" algn="l" defTabSz="457200" rtl="0" eaLnBrk="1" latinLnBrk="0" hangingPunct="1">
                        <a:lnSpc>
                          <a:spcPct val="110000"/>
                        </a:lnSpc>
                        <a:spcAft>
                          <a:spcPts val="600"/>
                        </a:spcAft>
                        <a:buNone/>
                      </a:pPr>
                      <a:r>
                        <a:rPr lang="en-US" sz="2600" b="1" kern="1200">
                          <a:solidFill>
                            <a:schemeClr val="lt1"/>
                          </a:solidFill>
                          <a:effectLst/>
                          <a:latin typeface="+mn-lt"/>
                          <a:ea typeface="+mn-ea"/>
                          <a:cs typeface="+mn-cs"/>
                        </a:rPr>
                        <a:t>Result</a:t>
                      </a:r>
                    </a:p>
                  </a:txBody>
                  <a:tcPr marL="149831" marR="149831" marT="0" marB="0"/>
                </a:tc>
                <a:tc gridSpan="2">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detect_qr_codes() returns N codes; payloads match ground truth.</a:t>
                      </a:r>
                    </a:p>
                  </a:txBody>
                  <a:tcPr marL="149831" marR="149831" marT="0" marB="0"/>
                </a:tc>
                <a:tc hMerge="1">
                  <a:txBody>
                    <a:bodyPr/>
                    <a:lstStyle/>
                    <a:p>
                      <a:endParaRPr lang="en-US"/>
                    </a:p>
                  </a:txBody>
                  <a:tcPr/>
                </a:tc>
                <a:extLst>
                  <a:ext uri="{0D108BD9-81ED-4DB2-BD59-A6C34878D82A}">
                    <a16:rowId xmlns:a16="http://schemas.microsoft.com/office/drawing/2014/main" val="350071788"/>
                  </a:ext>
                </a:extLst>
              </a:tr>
              <a:tr h="417725">
                <a:tc rowSpan="3">
                  <a:txBody>
                    <a:bodyPr/>
                    <a:lstStyle/>
                    <a:p>
                      <a:pPr marL="0" marR="0" algn="l" defTabSz="457200" rtl="0" eaLnBrk="1" latinLnBrk="0" hangingPunct="1">
                        <a:lnSpc>
                          <a:spcPct val="110000"/>
                        </a:lnSpc>
                        <a:spcAft>
                          <a:spcPts val="600"/>
                        </a:spcAft>
                        <a:buNone/>
                      </a:pPr>
                      <a:r>
                        <a:rPr lang="en-US" sz="2600" b="1" kern="1200">
                          <a:solidFill>
                            <a:schemeClr val="lt1"/>
                          </a:solidFill>
                          <a:effectLst/>
                          <a:latin typeface="+mn-lt"/>
                          <a:ea typeface="+mn-ea"/>
                          <a:cs typeface="+mn-cs"/>
                        </a:rPr>
                        <a:t>Traceability</a:t>
                      </a:r>
                    </a:p>
                  </a:txBody>
                  <a:tcPr marL="149831" marR="149831" marT="0" marB="0"/>
                </a:tc>
                <a:tc>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Relevant User Req.(s)</a:t>
                      </a:r>
                    </a:p>
                  </a:txBody>
                  <a:tcPr marL="149831" marR="149831" marT="0" marB="0"/>
                </a:tc>
                <a:tc>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UFR1</a:t>
                      </a:r>
                    </a:p>
                  </a:txBody>
                  <a:tcPr marL="149831" marR="149831" marT="0" marB="0"/>
                </a:tc>
                <a:extLst>
                  <a:ext uri="{0D108BD9-81ED-4DB2-BD59-A6C34878D82A}">
                    <a16:rowId xmlns:a16="http://schemas.microsoft.com/office/drawing/2014/main" val="3609918090"/>
                  </a:ext>
                </a:extLst>
              </a:tr>
              <a:tr h="417725">
                <a:tc vMerge="1">
                  <a:txBody>
                    <a:bodyPr/>
                    <a:lstStyle/>
                    <a:p>
                      <a:endParaRPr lang="en-US"/>
                    </a:p>
                  </a:txBody>
                  <a:tcPr/>
                </a:tc>
                <a:tc>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Relevant System Req.(s)</a:t>
                      </a:r>
                    </a:p>
                  </a:txBody>
                  <a:tcPr marL="149831" marR="149831" marT="0" marB="0"/>
                </a:tc>
                <a:tc>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SFR1, SFR15, SFR16</a:t>
                      </a:r>
                    </a:p>
                  </a:txBody>
                  <a:tcPr marL="149831" marR="149831" marT="0" marB="0"/>
                </a:tc>
                <a:extLst>
                  <a:ext uri="{0D108BD9-81ED-4DB2-BD59-A6C34878D82A}">
                    <a16:rowId xmlns:a16="http://schemas.microsoft.com/office/drawing/2014/main" val="4179355707"/>
                  </a:ext>
                </a:extLst>
              </a:tr>
              <a:tr h="417725">
                <a:tc vMerge="1">
                  <a:txBody>
                    <a:bodyPr/>
                    <a:lstStyle/>
                    <a:p>
                      <a:endParaRPr lang="en-US"/>
                    </a:p>
                  </a:txBody>
                  <a:tcPr/>
                </a:tc>
                <a:tc>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Relevant Use Case.(s)</a:t>
                      </a:r>
                    </a:p>
                  </a:txBody>
                  <a:tcPr marL="149831" marR="149831" marT="0" marB="0"/>
                </a:tc>
                <a:tc>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UC-001</a:t>
                      </a:r>
                    </a:p>
                  </a:txBody>
                  <a:tcPr marL="149831" marR="149831" marT="0" marB="0"/>
                </a:tc>
                <a:extLst>
                  <a:ext uri="{0D108BD9-81ED-4DB2-BD59-A6C34878D82A}">
                    <a16:rowId xmlns:a16="http://schemas.microsoft.com/office/drawing/2014/main" val="1499208140"/>
                  </a:ext>
                </a:extLst>
              </a:tr>
            </a:tbl>
          </a:graphicData>
        </a:graphic>
      </p:graphicFrame>
    </p:spTree>
    <p:extLst>
      <p:ext uri="{BB962C8B-B14F-4D97-AF65-F5344CB8AC3E}">
        <p14:creationId xmlns:p14="http://schemas.microsoft.com/office/powerpoint/2010/main" val="34852396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C8EE8C7E-9297-BFF7-D157-EB81AA71E45D}"/>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DFB3CEA1-88D9-42FB-88ED-1E9807FE6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A6C928E-4252-4F33-8C34-E50A12A31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Slide Number Placeholder 1">
            <a:extLst>
              <a:ext uri="{FF2B5EF4-FFF2-40B4-BE49-F238E27FC236}">
                <a16:creationId xmlns:a16="http://schemas.microsoft.com/office/drawing/2014/main" id="{64280AA5-ECC8-F5B3-08E0-C08A4E4A8AAA}"/>
              </a:ext>
            </a:extLst>
          </p:cNvPr>
          <p:cNvSpPr>
            <a:spLocks noGrp="1"/>
          </p:cNvSpPr>
          <p:nvPr>
            <p:ph type="sldNum" sz="quarter" idx="12"/>
          </p:nvPr>
        </p:nvSpPr>
        <p:spPr>
          <a:xfrm>
            <a:off x="10361612" y="-191589"/>
            <a:ext cx="838199" cy="767687"/>
          </a:xfrm>
        </p:spPr>
        <p:txBody>
          <a:bodyPr>
            <a:normAutofit/>
          </a:bodyPr>
          <a:lstStyle/>
          <a:p>
            <a:pPr>
              <a:spcAft>
                <a:spcPts val="600"/>
              </a:spcAft>
            </a:pPr>
            <a:fld id="{D57F1E4F-1CFF-5643-939E-02111984F565}" type="slidenum">
              <a:rPr lang="en-US">
                <a:solidFill>
                  <a:srgbClr val="FFFFFF"/>
                </a:solidFill>
              </a:rPr>
              <a:pPr>
                <a:spcAft>
                  <a:spcPts val="600"/>
                </a:spcAft>
              </a:pPr>
              <a:t>26</a:t>
            </a:fld>
            <a:endParaRPr lang="en-US">
              <a:solidFill>
                <a:srgbClr val="FFFFFF"/>
              </a:solidFill>
            </a:endParaRPr>
          </a:p>
        </p:txBody>
      </p:sp>
      <p:graphicFrame>
        <p:nvGraphicFramePr>
          <p:cNvPr id="3" name="Table 2">
            <a:extLst>
              <a:ext uri="{FF2B5EF4-FFF2-40B4-BE49-F238E27FC236}">
                <a16:creationId xmlns:a16="http://schemas.microsoft.com/office/drawing/2014/main" id="{341C1074-07EE-DC7D-B515-910EAF19E217}"/>
              </a:ext>
            </a:extLst>
          </p:cNvPr>
          <p:cNvGraphicFramePr>
            <a:graphicFrameLocks noGrp="1"/>
          </p:cNvGraphicFramePr>
          <p:nvPr>
            <p:extLst>
              <p:ext uri="{D42A27DB-BD31-4B8C-83A1-F6EECF244321}">
                <p14:modId xmlns:p14="http://schemas.microsoft.com/office/powerpoint/2010/main" val="2163524458"/>
              </p:ext>
            </p:extLst>
          </p:nvPr>
        </p:nvGraphicFramePr>
        <p:xfrm>
          <a:off x="643466" y="672136"/>
          <a:ext cx="10555209" cy="5514998"/>
        </p:xfrm>
        <a:graphic>
          <a:graphicData uri="http://schemas.openxmlformats.org/drawingml/2006/table">
            <a:tbl>
              <a:tblPr firstRow="1" firstCol="1" bandRow="1">
                <a:tableStyleId>{5C22544A-7EE6-4342-B048-85BDC9FD1C3A}</a:tableStyleId>
              </a:tblPr>
              <a:tblGrid>
                <a:gridCol w="2773132">
                  <a:extLst>
                    <a:ext uri="{9D8B030D-6E8A-4147-A177-3AD203B41FA5}">
                      <a16:colId xmlns:a16="http://schemas.microsoft.com/office/drawing/2014/main" val="2313734593"/>
                    </a:ext>
                  </a:extLst>
                </a:gridCol>
                <a:gridCol w="4505390">
                  <a:extLst>
                    <a:ext uri="{9D8B030D-6E8A-4147-A177-3AD203B41FA5}">
                      <a16:colId xmlns:a16="http://schemas.microsoft.com/office/drawing/2014/main" val="2482509450"/>
                    </a:ext>
                  </a:extLst>
                </a:gridCol>
                <a:gridCol w="3276687">
                  <a:extLst>
                    <a:ext uri="{9D8B030D-6E8A-4147-A177-3AD203B41FA5}">
                      <a16:colId xmlns:a16="http://schemas.microsoft.com/office/drawing/2014/main" val="881248651"/>
                    </a:ext>
                  </a:extLst>
                </a:gridCol>
              </a:tblGrid>
              <a:tr h="464398">
                <a:tc>
                  <a:txBody>
                    <a:bodyPr/>
                    <a:lstStyle/>
                    <a:p>
                      <a:pPr marL="0" marR="0" algn="l" defTabSz="457200" rtl="0" eaLnBrk="1" latinLnBrk="0" hangingPunct="1">
                        <a:lnSpc>
                          <a:spcPct val="110000"/>
                        </a:lnSpc>
                        <a:spcAft>
                          <a:spcPts val="600"/>
                        </a:spcAft>
                        <a:buNone/>
                      </a:pPr>
                      <a:r>
                        <a:rPr lang="en-US" sz="2600" b="1" kern="1200">
                          <a:solidFill>
                            <a:schemeClr val="lt1"/>
                          </a:solidFill>
                          <a:effectLst/>
                          <a:latin typeface="+mn-lt"/>
                          <a:ea typeface="+mn-ea"/>
                          <a:cs typeface="+mn-cs"/>
                        </a:rPr>
                        <a:t>Project Name</a:t>
                      </a:r>
                    </a:p>
                  </a:txBody>
                  <a:tcPr marL="166572" marR="166572" marT="0" marB="0"/>
                </a:tc>
                <a:tc gridSpan="2">
                  <a:txBody>
                    <a:bodyPr/>
                    <a:lstStyle/>
                    <a:p>
                      <a:pPr marL="0" marR="0" algn="l" defTabSz="457200" rtl="0" eaLnBrk="1" latinLnBrk="0" hangingPunct="1">
                        <a:lnSpc>
                          <a:spcPct val="110000"/>
                        </a:lnSpc>
                        <a:spcAft>
                          <a:spcPts val="600"/>
                        </a:spcAft>
                        <a:buNone/>
                      </a:pPr>
                      <a:r>
                        <a:rPr lang="en-US" sz="2600" b="1" kern="1200">
                          <a:solidFill>
                            <a:schemeClr val="lt1"/>
                          </a:solidFill>
                          <a:effectLst/>
                          <a:latin typeface="+mn-lt"/>
                          <a:ea typeface="+mn-ea"/>
                          <a:cs typeface="+mn-cs"/>
                        </a:rPr>
                        <a:t>AIBI CV for Manufacturing</a:t>
                      </a:r>
                    </a:p>
                  </a:txBody>
                  <a:tcPr marL="166572" marR="166572" marT="0" marB="0"/>
                </a:tc>
                <a:tc hMerge="1">
                  <a:txBody>
                    <a:bodyPr/>
                    <a:lstStyle/>
                    <a:p>
                      <a:endParaRPr lang="en-US"/>
                    </a:p>
                  </a:txBody>
                  <a:tcPr/>
                </a:tc>
                <a:extLst>
                  <a:ext uri="{0D108BD9-81ED-4DB2-BD59-A6C34878D82A}">
                    <a16:rowId xmlns:a16="http://schemas.microsoft.com/office/drawing/2014/main" val="3387460660"/>
                  </a:ext>
                </a:extLst>
              </a:tr>
              <a:tr h="464398">
                <a:tc>
                  <a:txBody>
                    <a:bodyPr/>
                    <a:lstStyle/>
                    <a:p>
                      <a:pPr marL="0" marR="0" algn="l" defTabSz="457200" rtl="0" eaLnBrk="1" latinLnBrk="0" hangingPunct="1">
                        <a:lnSpc>
                          <a:spcPct val="110000"/>
                        </a:lnSpc>
                        <a:spcAft>
                          <a:spcPts val="600"/>
                        </a:spcAft>
                        <a:buNone/>
                      </a:pPr>
                      <a:r>
                        <a:rPr lang="en-US" sz="2600" b="1" kern="1200">
                          <a:solidFill>
                            <a:schemeClr val="lt1"/>
                          </a:solidFill>
                          <a:effectLst/>
                          <a:latin typeface="+mn-lt"/>
                          <a:ea typeface="+mn-ea"/>
                          <a:cs typeface="+mn-cs"/>
                        </a:rPr>
                        <a:t>Test Suite</a:t>
                      </a:r>
                    </a:p>
                  </a:txBody>
                  <a:tcPr marL="166572" marR="166572" marT="0" marB="0"/>
                </a:tc>
                <a:tc gridSpan="2">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Automated Functional</a:t>
                      </a:r>
                    </a:p>
                  </a:txBody>
                  <a:tcPr marL="166572" marR="166572" marT="0" marB="0"/>
                </a:tc>
                <a:tc hMerge="1">
                  <a:txBody>
                    <a:bodyPr/>
                    <a:lstStyle/>
                    <a:p>
                      <a:endParaRPr lang="en-US"/>
                    </a:p>
                  </a:txBody>
                  <a:tcPr/>
                </a:tc>
                <a:extLst>
                  <a:ext uri="{0D108BD9-81ED-4DB2-BD59-A6C34878D82A}">
                    <a16:rowId xmlns:a16="http://schemas.microsoft.com/office/drawing/2014/main" val="4179530129"/>
                  </a:ext>
                </a:extLst>
              </a:tr>
              <a:tr h="464398">
                <a:tc>
                  <a:txBody>
                    <a:bodyPr/>
                    <a:lstStyle/>
                    <a:p>
                      <a:pPr marL="0" marR="0" algn="l" defTabSz="457200" rtl="0" eaLnBrk="1" latinLnBrk="0" hangingPunct="1">
                        <a:lnSpc>
                          <a:spcPct val="110000"/>
                        </a:lnSpc>
                        <a:spcAft>
                          <a:spcPts val="600"/>
                        </a:spcAft>
                        <a:buNone/>
                      </a:pPr>
                      <a:r>
                        <a:rPr lang="en-US" sz="2600" b="1" kern="1200">
                          <a:solidFill>
                            <a:schemeClr val="lt1"/>
                          </a:solidFill>
                          <a:effectLst/>
                          <a:latin typeface="+mn-lt"/>
                          <a:ea typeface="+mn-ea"/>
                          <a:cs typeface="+mn-cs"/>
                        </a:rPr>
                        <a:t>Test Case ID</a:t>
                      </a:r>
                    </a:p>
                  </a:txBody>
                  <a:tcPr marL="166572" marR="166572" marT="0" marB="0"/>
                </a:tc>
                <a:tc gridSpan="2">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TC-SFR2-AUTO-01</a:t>
                      </a:r>
                    </a:p>
                  </a:txBody>
                  <a:tcPr marL="166572" marR="166572" marT="0" marB="0"/>
                </a:tc>
                <a:tc hMerge="1">
                  <a:txBody>
                    <a:bodyPr/>
                    <a:lstStyle/>
                    <a:p>
                      <a:endParaRPr lang="en-US"/>
                    </a:p>
                  </a:txBody>
                  <a:tcPr/>
                </a:tc>
                <a:extLst>
                  <a:ext uri="{0D108BD9-81ED-4DB2-BD59-A6C34878D82A}">
                    <a16:rowId xmlns:a16="http://schemas.microsoft.com/office/drawing/2014/main" val="1549990490"/>
                  </a:ext>
                </a:extLst>
              </a:tr>
              <a:tr h="464398">
                <a:tc>
                  <a:txBody>
                    <a:bodyPr/>
                    <a:lstStyle/>
                    <a:p>
                      <a:pPr marL="0" marR="0" algn="l" defTabSz="457200" rtl="0" eaLnBrk="1" latinLnBrk="0" hangingPunct="1">
                        <a:lnSpc>
                          <a:spcPct val="110000"/>
                        </a:lnSpc>
                        <a:spcAft>
                          <a:spcPts val="600"/>
                        </a:spcAft>
                        <a:buNone/>
                      </a:pPr>
                      <a:r>
                        <a:rPr lang="en-US" sz="2600" b="1" kern="1200">
                          <a:solidFill>
                            <a:schemeClr val="lt1"/>
                          </a:solidFill>
                          <a:effectLst/>
                          <a:latin typeface="+mn-lt"/>
                          <a:ea typeface="+mn-ea"/>
                          <a:cs typeface="+mn-cs"/>
                        </a:rPr>
                        <a:t>What to Test</a:t>
                      </a:r>
                    </a:p>
                  </a:txBody>
                  <a:tcPr marL="166572" marR="166572" marT="0" marB="0"/>
                </a:tc>
                <a:tc gridSpan="2">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Field mapping assigns decoded values to logical fields.</a:t>
                      </a:r>
                    </a:p>
                  </a:txBody>
                  <a:tcPr marL="166572" marR="166572" marT="0" marB="0"/>
                </a:tc>
                <a:tc hMerge="1">
                  <a:txBody>
                    <a:bodyPr/>
                    <a:lstStyle/>
                    <a:p>
                      <a:endParaRPr lang="en-US"/>
                    </a:p>
                  </a:txBody>
                  <a:tcPr/>
                </a:tc>
                <a:extLst>
                  <a:ext uri="{0D108BD9-81ED-4DB2-BD59-A6C34878D82A}">
                    <a16:rowId xmlns:a16="http://schemas.microsoft.com/office/drawing/2014/main" val="2481383787"/>
                  </a:ext>
                </a:extLst>
              </a:tr>
              <a:tr h="464398">
                <a:tc>
                  <a:txBody>
                    <a:bodyPr/>
                    <a:lstStyle/>
                    <a:p>
                      <a:pPr marL="0" marR="0" algn="l" defTabSz="457200" rtl="0" eaLnBrk="1" latinLnBrk="0" hangingPunct="1">
                        <a:lnSpc>
                          <a:spcPct val="110000"/>
                        </a:lnSpc>
                        <a:spcAft>
                          <a:spcPts val="600"/>
                        </a:spcAft>
                        <a:buNone/>
                      </a:pPr>
                      <a:r>
                        <a:rPr lang="en-US" sz="2600" b="1" kern="1200">
                          <a:solidFill>
                            <a:schemeClr val="lt1"/>
                          </a:solidFill>
                          <a:effectLst/>
                          <a:latin typeface="+mn-lt"/>
                          <a:ea typeface="+mn-ea"/>
                          <a:cs typeface="+mn-cs"/>
                        </a:rPr>
                        <a:t>Test Data Input</a:t>
                      </a:r>
                    </a:p>
                  </a:txBody>
                  <a:tcPr marL="166572" marR="166572" marT="0" marB="0"/>
                </a:tc>
                <a:tc gridSpan="2">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Decoded QR list + workstation mapping config.</a:t>
                      </a:r>
                    </a:p>
                  </a:txBody>
                  <a:tcPr marL="166572" marR="166572" marT="0" marB="0"/>
                </a:tc>
                <a:tc hMerge="1">
                  <a:txBody>
                    <a:bodyPr/>
                    <a:lstStyle/>
                    <a:p>
                      <a:endParaRPr lang="en-US"/>
                    </a:p>
                  </a:txBody>
                  <a:tcPr/>
                </a:tc>
                <a:extLst>
                  <a:ext uri="{0D108BD9-81ED-4DB2-BD59-A6C34878D82A}">
                    <a16:rowId xmlns:a16="http://schemas.microsoft.com/office/drawing/2014/main" val="3760079237"/>
                  </a:ext>
                </a:extLst>
              </a:tr>
              <a:tr h="1056654">
                <a:tc>
                  <a:txBody>
                    <a:bodyPr/>
                    <a:lstStyle/>
                    <a:p>
                      <a:pPr marL="0" marR="0" algn="l" defTabSz="457200" rtl="0" eaLnBrk="1" latinLnBrk="0" hangingPunct="1">
                        <a:lnSpc>
                          <a:spcPct val="110000"/>
                        </a:lnSpc>
                        <a:spcAft>
                          <a:spcPts val="600"/>
                        </a:spcAft>
                        <a:buNone/>
                      </a:pPr>
                      <a:r>
                        <a:rPr lang="en-US" sz="2600" b="1" kern="1200">
                          <a:solidFill>
                            <a:schemeClr val="lt1"/>
                          </a:solidFill>
                          <a:effectLst/>
                          <a:latin typeface="+mn-lt"/>
                          <a:ea typeface="+mn-ea"/>
                          <a:cs typeface="+mn-cs"/>
                        </a:rPr>
                        <a:t>Expected</a:t>
                      </a:r>
                    </a:p>
                    <a:p>
                      <a:pPr marL="0" marR="0" algn="l" defTabSz="457200" rtl="0" eaLnBrk="1" latinLnBrk="0" hangingPunct="1">
                        <a:lnSpc>
                          <a:spcPct val="110000"/>
                        </a:lnSpc>
                        <a:spcAft>
                          <a:spcPts val="600"/>
                        </a:spcAft>
                        <a:buNone/>
                      </a:pPr>
                      <a:r>
                        <a:rPr lang="en-US" sz="2600" b="1" kern="1200">
                          <a:solidFill>
                            <a:schemeClr val="lt1"/>
                          </a:solidFill>
                          <a:effectLst/>
                          <a:latin typeface="+mn-lt"/>
                          <a:ea typeface="+mn-ea"/>
                          <a:cs typeface="+mn-cs"/>
                        </a:rPr>
                        <a:t>Result</a:t>
                      </a:r>
                    </a:p>
                  </a:txBody>
                  <a:tcPr marL="166572" marR="166572" marT="0" marB="0"/>
                </a:tc>
                <a:tc gridSpan="2">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Mapped JSON contains correct field-value assignments.</a:t>
                      </a:r>
                    </a:p>
                  </a:txBody>
                  <a:tcPr marL="166572" marR="166572" marT="0" marB="0"/>
                </a:tc>
                <a:tc hMerge="1">
                  <a:txBody>
                    <a:bodyPr/>
                    <a:lstStyle/>
                    <a:p>
                      <a:endParaRPr lang="en-US"/>
                    </a:p>
                  </a:txBody>
                  <a:tcPr/>
                </a:tc>
                <a:extLst>
                  <a:ext uri="{0D108BD9-81ED-4DB2-BD59-A6C34878D82A}">
                    <a16:rowId xmlns:a16="http://schemas.microsoft.com/office/drawing/2014/main" val="2619415920"/>
                  </a:ext>
                </a:extLst>
              </a:tr>
              <a:tr h="464398">
                <a:tc rowSpan="3">
                  <a:txBody>
                    <a:bodyPr/>
                    <a:lstStyle/>
                    <a:p>
                      <a:pPr marL="0" marR="0" algn="l" defTabSz="457200" rtl="0" eaLnBrk="1" latinLnBrk="0" hangingPunct="1">
                        <a:lnSpc>
                          <a:spcPct val="110000"/>
                        </a:lnSpc>
                        <a:spcAft>
                          <a:spcPts val="600"/>
                        </a:spcAft>
                        <a:buNone/>
                      </a:pPr>
                      <a:r>
                        <a:rPr lang="en-US" sz="2600" b="1" kern="1200">
                          <a:solidFill>
                            <a:schemeClr val="lt1"/>
                          </a:solidFill>
                          <a:effectLst/>
                          <a:latin typeface="+mn-lt"/>
                          <a:ea typeface="+mn-ea"/>
                          <a:cs typeface="+mn-cs"/>
                        </a:rPr>
                        <a:t>Traceability</a:t>
                      </a:r>
                    </a:p>
                  </a:txBody>
                  <a:tcPr marL="166572" marR="166572" marT="0" marB="0"/>
                </a:tc>
                <a:tc>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Relevant User Req.(s)</a:t>
                      </a:r>
                    </a:p>
                  </a:txBody>
                  <a:tcPr marL="166572" marR="166572" marT="0" marB="0"/>
                </a:tc>
                <a:tc>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UFR2</a:t>
                      </a:r>
                    </a:p>
                  </a:txBody>
                  <a:tcPr marL="166572" marR="166572" marT="0" marB="0"/>
                </a:tc>
                <a:extLst>
                  <a:ext uri="{0D108BD9-81ED-4DB2-BD59-A6C34878D82A}">
                    <a16:rowId xmlns:a16="http://schemas.microsoft.com/office/drawing/2014/main" val="2437106696"/>
                  </a:ext>
                </a:extLst>
              </a:tr>
              <a:tr h="464398">
                <a:tc vMerge="1">
                  <a:txBody>
                    <a:bodyPr/>
                    <a:lstStyle/>
                    <a:p>
                      <a:endParaRPr lang="en-US"/>
                    </a:p>
                  </a:txBody>
                  <a:tcPr/>
                </a:tc>
                <a:tc>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Relevant System Req.(s)</a:t>
                      </a:r>
                    </a:p>
                  </a:txBody>
                  <a:tcPr marL="166572" marR="166572" marT="0" marB="0"/>
                </a:tc>
                <a:tc>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SFR2, SFR4</a:t>
                      </a:r>
                    </a:p>
                  </a:txBody>
                  <a:tcPr marL="166572" marR="166572" marT="0" marB="0"/>
                </a:tc>
                <a:extLst>
                  <a:ext uri="{0D108BD9-81ED-4DB2-BD59-A6C34878D82A}">
                    <a16:rowId xmlns:a16="http://schemas.microsoft.com/office/drawing/2014/main" val="3000355730"/>
                  </a:ext>
                </a:extLst>
              </a:tr>
              <a:tr h="464398">
                <a:tc vMerge="1">
                  <a:txBody>
                    <a:bodyPr/>
                    <a:lstStyle/>
                    <a:p>
                      <a:endParaRPr lang="en-US"/>
                    </a:p>
                  </a:txBody>
                  <a:tcPr/>
                </a:tc>
                <a:tc>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Relevant Use Case.(s)</a:t>
                      </a:r>
                    </a:p>
                  </a:txBody>
                  <a:tcPr marL="166572" marR="166572" marT="0" marB="0"/>
                </a:tc>
                <a:tc>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UC-001</a:t>
                      </a:r>
                    </a:p>
                  </a:txBody>
                  <a:tcPr marL="166572" marR="166572" marT="0" marB="0"/>
                </a:tc>
                <a:extLst>
                  <a:ext uri="{0D108BD9-81ED-4DB2-BD59-A6C34878D82A}">
                    <a16:rowId xmlns:a16="http://schemas.microsoft.com/office/drawing/2014/main" val="408612456"/>
                  </a:ext>
                </a:extLst>
              </a:tr>
            </a:tbl>
          </a:graphicData>
        </a:graphic>
      </p:graphicFrame>
    </p:spTree>
    <p:extLst>
      <p:ext uri="{BB962C8B-B14F-4D97-AF65-F5344CB8AC3E}">
        <p14:creationId xmlns:p14="http://schemas.microsoft.com/office/powerpoint/2010/main" val="17642883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AAA2A0C9-A7E4-2EE1-2B6A-9412C4B92980}"/>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DFB3CEA1-88D9-42FB-88ED-1E9807FE6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9A6C928E-4252-4F33-8C34-E50A12A31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Slide Number Placeholder 1">
            <a:extLst>
              <a:ext uri="{FF2B5EF4-FFF2-40B4-BE49-F238E27FC236}">
                <a16:creationId xmlns:a16="http://schemas.microsoft.com/office/drawing/2014/main" id="{8FB754D3-9BCA-3323-3626-793F369CEC03}"/>
              </a:ext>
            </a:extLst>
          </p:cNvPr>
          <p:cNvSpPr>
            <a:spLocks noGrp="1"/>
          </p:cNvSpPr>
          <p:nvPr>
            <p:ph type="sldNum" sz="quarter" idx="12"/>
          </p:nvPr>
        </p:nvSpPr>
        <p:spPr>
          <a:xfrm>
            <a:off x="10361612" y="-45025"/>
            <a:ext cx="838199" cy="767687"/>
          </a:xfrm>
        </p:spPr>
        <p:txBody>
          <a:bodyPr>
            <a:normAutofit/>
          </a:bodyPr>
          <a:lstStyle/>
          <a:p>
            <a:pPr>
              <a:spcAft>
                <a:spcPts val="600"/>
              </a:spcAft>
            </a:pPr>
            <a:fld id="{D57F1E4F-1CFF-5643-939E-02111984F565}" type="slidenum">
              <a:rPr lang="en-US">
                <a:solidFill>
                  <a:srgbClr val="FFFFFF"/>
                </a:solidFill>
              </a:rPr>
              <a:pPr>
                <a:spcAft>
                  <a:spcPts val="600"/>
                </a:spcAft>
              </a:pPr>
              <a:t>27</a:t>
            </a:fld>
            <a:endParaRPr lang="en-US">
              <a:solidFill>
                <a:srgbClr val="FFFFFF"/>
              </a:solidFill>
            </a:endParaRPr>
          </a:p>
        </p:txBody>
      </p:sp>
      <p:graphicFrame>
        <p:nvGraphicFramePr>
          <p:cNvPr id="3" name="Table 2">
            <a:extLst>
              <a:ext uri="{FF2B5EF4-FFF2-40B4-BE49-F238E27FC236}">
                <a16:creationId xmlns:a16="http://schemas.microsoft.com/office/drawing/2014/main" id="{4EF6763E-588E-6BB2-3E64-EB9D9D6CF94A}"/>
              </a:ext>
            </a:extLst>
          </p:cNvPr>
          <p:cNvGraphicFramePr>
            <a:graphicFrameLocks noGrp="1"/>
          </p:cNvGraphicFramePr>
          <p:nvPr>
            <p:extLst>
              <p:ext uri="{D42A27DB-BD31-4B8C-83A1-F6EECF244321}">
                <p14:modId xmlns:p14="http://schemas.microsoft.com/office/powerpoint/2010/main" val="2178013947"/>
              </p:ext>
            </p:extLst>
          </p:nvPr>
        </p:nvGraphicFramePr>
        <p:xfrm>
          <a:off x="717487" y="722662"/>
          <a:ext cx="10757026" cy="4927473"/>
        </p:xfrm>
        <a:graphic>
          <a:graphicData uri="http://schemas.openxmlformats.org/drawingml/2006/table">
            <a:tbl>
              <a:tblPr firstRow="1" firstCol="1" bandRow="1">
                <a:tableStyleId>{5C22544A-7EE6-4342-B048-85BDC9FD1C3A}</a:tableStyleId>
              </a:tblPr>
              <a:tblGrid>
                <a:gridCol w="3132170">
                  <a:extLst>
                    <a:ext uri="{9D8B030D-6E8A-4147-A177-3AD203B41FA5}">
                      <a16:colId xmlns:a16="http://schemas.microsoft.com/office/drawing/2014/main" val="1780187825"/>
                    </a:ext>
                  </a:extLst>
                </a:gridCol>
                <a:gridCol w="5255133">
                  <a:extLst>
                    <a:ext uri="{9D8B030D-6E8A-4147-A177-3AD203B41FA5}">
                      <a16:colId xmlns:a16="http://schemas.microsoft.com/office/drawing/2014/main" val="2625068195"/>
                    </a:ext>
                  </a:extLst>
                </a:gridCol>
                <a:gridCol w="2369723">
                  <a:extLst>
                    <a:ext uri="{9D8B030D-6E8A-4147-A177-3AD203B41FA5}">
                      <a16:colId xmlns:a16="http://schemas.microsoft.com/office/drawing/2014/main" val="471844383"/>
                    </a:ext>
                  </a:extLst>
                </a:gridCol>
              </a:tblGrid>
              <a:tr h="485013">
                <a:tc>
                  <a:txBody>
                    <a:bodyPr/>
                    <a:lstStyle/>
                    <a:p>
                      <a:pPr marL="0" marR="0" algn="l" defTabSz="457200" rtl="0" eaLnBrk="1" latinLnBrk="0" hangingPunct="1">
                        <a:lnSpc>
                          <a:spcPct val="110000"/>
                        </a:lnSpc>
                        <a:spcAft>
                          <a:spcPts val="600"/>
                        </a:spcAft>
                        <a:buNone/>
                      </a:pPr>
                      <a:r>
                        <a:rPr lang="en-US" sz="2600" b="1" kern="1200">
                          <a:solidFill>
                            <a:schemeClr val="lt1"/>
                          </a:solidFill>
                          <a:effectLst/>
                          <a:latin typeface="+mn-lt"/>
                          <a:ea typeface="+mn-ea"/>
                          <a:cs typeface="+mn-cs"/>
                        </a:rPr>
                        <a:t>Project Name</a:t>
                      </a:r>
                    </a:p>
                  </a:txBody>
                  <a:tcPr marL="204010" marR="204010" marT="0" marB="0"/>
                </a:tc>
                <a:tc gridSpan="2">
                  <a:txBody>
                    <a:bodyPr/>
                    <a:lstStyle/>
                    <a:p>
                      <a:pPr marL="0" marR="0" algn="l" defTabSz="457200" rtl="0" eaLnBrk="1" latinLnBrk="0" hangingPunct="1">
                        <a:lnSpc>
                          <a:spcPct val="110000"/>
                        </a:lnSpc>
                        <a:spcAft>
                          <a:spcPts val="600"/>
                        </a:spcAft>
                        <a:buNone/>
                      </a:pPr>
                      <a:r>
                        <a:rPr lang="en-US" sz="2600" b="1" kern="1200">
                          <a:solidFill>
                            <a:schemeClr val="lt1"/>
                          </a:solidFill>
                          <a:effectLst/>
                          <a:latin typeface="+mn-lt"/>
                          <a:ea typeface="+mn-ea"/>
                          <a:cs typeface="+mn-cs"/>
                        </a:rPr>
                        <a:t>AIBI CV for Manufacturing</a:t>
                      </a:r>
                    </a:p>
                  </a:txBody>
                  <a:tcPr marL="204010" marR="204010" marT="0" marB="0"/>
                </a:tc>
                <a:tc hMerge="1">
                  <a:txBody>
                    <a:bodyPr/>
                    <a:lstStyle/>
                    <a:p>
                      <a:endParaRPr lang="en-US"/>
                    </a:p>
                  </a:txBody>
                  <a:tcPr/>
                </a:tc>
                <a:extLst>
                  <a:ext uri="{0D108BD9-81ED-4DB2-BD59-A6C34878D82A}">
                    <a16:rowId xmlns:a16="http://schemas.microsoft.com/office/drawing/2014/main" val="2161839095"/>
                  </a:ext>
                </a:extLst>
              </a:tr>
              <a:tr h="485013">
                <a:tc>
                  <a:txBody>
                    <a:bodyPr/>
                    <a:lstStyle/>
                    <a:p>
                      <a:pPr marL="0" marR="0" algn="l" defTabSz="457200" rtl="0" eaLnBrk="1" latinLnBrk="0" hangingPunct="1">
                        <a:lnSpc>
                          <a:spcPct val="110000"/>
                        </a:lnSpc>
                        <a:spcAft>
                          <a:spcPts val="600"/>
                        </a:spcAft>
                        <a:buNone/>
                      </a:pPr>
                      <a:r>
                        <a:rPr lang="en-US" sz="2600" b="1" kern="1200">
                          <a:solidFill>
                            <a:schemeClr val="lt1"/>
                          </a:solidFill>
                          <a:effectLst/>
                          <a:latin typeface="+mn-lt"/>
                          <a:ea typeface="+mn-ea"/>
                          <a:cs typeface="+mn-cs"/>
                        </a:rPr>
                        <a:t>Test Suite</a:t>
                      </a:r>
                    </a:p>
                  </a:txBody>
                  <a:tcPr marL="204010" marR="204010" marT="0" marB="0"/>
                </a:tc>
                <a:tc gridSpan="2">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Automated Functional</a:t>
                      </a:r>
                    </a:p>
                  </a:txBody>
                  <a:tcPr marL="204010" marR="204010" marT="0" marB="0"/>
                </a:tc>
                <a:tc hMerge="1">
                  <a:txBody>
                    <a:bodyPr/>
                    <a:lstStyle/>
                    <a:p>
                      <a:endParaRPr lang="en-US"/>
                    </a:p>
                  </a:txBody>
                  <a:tcPr/>
                </a:tc>
                <a:extLst>
                  <a:ext uri="{0D108BD9-81ED-4DB2-BD59-A6C34878D82A}">
                    <a16:rowId xmlns:a16="http://schemas.microsoft.com/office/drawing/2014/main" val="2168836737"/>
                  </a:ext>
                </a:extLst>
              </a:tr>
              <a:tr h="485013">
                <a:tc>
                  <a:txBody>
                    <a:bodyPr/>
                    <a:lstStyle/>
                    <a:p>
                      <a:pPr marL="0" marR="0" algn="l" defTabSz="457200" rtl="0" eaLnBrk="1" latinLnBrk="0" hangingPunct="1">
                        <a:lnSpc>
                          <a:spcPct val="110000"/>
                        </a:lnSpc>
                        <a:spcAft>
                          <a:spcPts val="600"/>
                        </a:spcAft>
                        <a:buNone/>
                      </a:pPr>
                      <a:r>
                        <a:rPr lang="en-US" sz="2600" b="1" kern="1200">
                          <a:solidFill>
                            <a:schemeClr val="lt1"/>
                          </a:solidFill>
                          <a:effectLst/>
                          <a:latin typeface="+mn-lt"/>
                          <a:ea typeface="+mn-ea"/>
                          <a:cs typeface="+mn-cs"/>
                        </a:rPr>
                        <a:t>Test Case ID</a:t>
                      </a:r>
                    </a:p>
                  </a:txBody>
                  <a:tcPr marL="204010" marR="204010" marT="0" marB="0"/>
                </a:tc>
                <a:tc gridSpan="2">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TC-SFR11-AUTO-01</a:t>
                      </a:r>
                    </a:p>
                  </a:txBody>
                  <a:tcPr marL="204010" marR="204010" marT="0" marB="0"/>
                </a:tc>
                <a:tc hMerge="1">
                  <a:txBody>
                    <a:bodyPr/>
                    <a:lstStyle/>
                    <a:p>
                      <a:endParaRPr lang="en-US"/>
                    </a:p>
                  </a:txBody>
                  <a:tcPr/>
                </a:tc>
                <a:extLst>
                  <a:ext uri="{0D108BD9-81ED-4DB2-BD59-A6C34878D82A}">
                    <a16:rowId xmlns:a16="http://schemas.microsoft.com/office/drawing/2014/main" val="1661335869"/>
                  </a:ext>
                </a:extLst>
              </a:tr>
              <a:tr h="485013">
                <a:tc>
                  <a:txBody>
                    <a:bodyPr/>
                    <a:lstStyle/>
                    <a:p>
                      <a:pPr marL="0" marR="0" algn="l" defTabSz="457200" rtl="0" eaLnBrk="1" latinLnBrk="0" hangingPunct="1">
                        <a:lnSpc>
                          <a:spcPct val="110000"/>
                        </a:lnSpc>
                        <a:spcAft>
                          <a:spcPts val="600"/>
                        </a:spcAft>
                        <a:buNone/>
                      </a:pPr>
                      <a:r>
                        <a:rPr lang="en-US" sz="2600" b="1" kern="1200">
                          <a:solidFill>
                            <a:schemeClr val="lt1"/>
                          </a:solidFill>
                          <a:effectLst/>
                          <a:latin typeface="+mn-lt"/>
                          <a:ea typeface="+mn-ea"/>
                          <a:cs typeface="+mn-cs"/>
                        </a:rPr>
                        <a:t>What to Test</a:t>
                      </a:r>
                    </a:p>
                  </a:txBody>
                  <a:tcPr marL="204010" marR="204010" marT="0" marB="0"/>
                </a:tc>
                <a:tc gridSpan="2">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JSON output matches published schema.</a:t>
                      </a:r>
                    </a:p>
                  </a:txBody>
                  <a:tcPr marL="204010" marR="204010" marT="0" marB="0"/>
                </a:tc>
                <a:tc hMerge="1">
                  <a:txBody>
                    <a:bodyPr/>
                    <a:lstStyle/>
                    <a:p>
                      <a:endParaRPr lang="en-US"/>
                    </a:p>
                  </a:txBody>
                  <a:tcPr/>
                </a:tc>
                <a:extLst>
                  <a:ext uri="{0D108BD9-81ED-4DB2-BD59-A6C34878D82A}">
                    <a16:rowId xmlns:a16="http://schemas.microsoft.com/office/drawing/2014/main" val="3779728505"/>
                  </a:ext>
                </a:extLst>
              </a:tr>
              <a:tr h="485013">
                <a:tc>
                  <a:txBody>
                    <a:bodyPr/>
                    <a:lstStyle/>
                    <a:p>
                      <a:pPr marL="0" marR="0" algn="l" defTabSz="457200" rtl="0" eaLnBrk="1" latinLnBrk="0" hangingPunct="1">
                        <a:lnSpc>
                          <a:spcPct val="110000"/>
                        </a:lnSpc>
                        <a:spcAft>
                          <a:spcPts val="600"/>
                        </a:spcAft>
                        <a:buNone/>
                      </a:pPr>
                      <a:r>
                        <a:rPr lang="en-US" sz="2600" b="1" kern="1200">
                          <a:solidFill>
                            <a:schemeClr val="lt1"/>
                          </a:solidFill>
                          <a:effectLst/>
                          <a:latin typeface="+mn-lt"/>
                          <a:ea typeface="+mn-ea"/>
                          <a:cs typeface="+mn-cs"/>
                        </a:rPr>
                        <a:t>Test Data Input</a:t>
                      </a:r>
                    </a:p>
                  </a:txBody>
                  <a:tcPr marL="204010" marR="204010" marT="0" marB="0"/>
                </a:tc>
                <a:tc gridSpan="2">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JSON outputs from multiple workflows.</a:t>
                      </a:r>
                    </a:p>
                  </a:txBody>
                  <a:tcPr marL="204010" marR="204010" marT="0" marB="0"/>
                </a:tc>
                <a:tc hMerge="1">
                  <a:txBody>
                    <a:bodyPr/>
                    <a:lstStyle/>
                    <a:p>
                      <a:endParaRPr lang="en-US"/>
                    </a:p>
                  </a:txBody>
                  <a:tcPr/>
                </a:tc>
                <a:extLst>
                  <a:ext uri="{0D108BD9-81ED-4DB2-BD59-A6C34878D82A}">
                    <a16:rowId xmlns:a16="http://schemas.microsoft.com/office/drawing/2014/main" val="1666773954"/>
                  </a:ext>
                </a:extLst>
              </a:tr>
              <a:tr h="1047369">
                <a:tc>
                  <a:txBody>
                    <a:bodyPr/>
                    <a:lstStyle/>
                    <a:p>
                      <a:pPr marL="0" marR="0" algn="l" defTabSz="457200" rtl="0" eaLnBrk="1" latinLnBrk="0" hangingPunct="1">
                        <a:lnSpc>
                          <a:spcPct val="110000"/>
                        </a:lnSpc>
                        <a:spcAft>
                          <a:spcPts val="600"/>
                        </a:spcAft>
                        <a:buNone/>
                      </a:pPr>
                      <a:r>
                        <a:rPr lang="en-US" sz="2600" b="1" kern="1200">
                          <a:solidFill>
                            <a:schemeClr val="lt1"/>
                          </a:solidFill>
                          <a:effectLst/>
                          <a:latin typeface="+mn-lt"/>
                          <a:ea typeface="+mn-ea"/>
                          <a:cs typeface="+mn-cs"/>
                        </a:rPr>
                        <a:t>Expected</a:t>
                      </a:r>
                    </a:p>
                    <a:p>
                      <a:pPr marL="0" marR="0" algn="l" defTabSz="457200" rtl="0" eaLnBrk="1" latinLnBrk="0" hangingPunct="1">
                        <a:lnSpc>
                          <a:spcPct val="110000"/>
                        </a:lnSpc>
                        <a:spcAft>
                          <a:spcPts val="600"/>
                        </a:spcAft>
                        <a:buNone/>
                      </a:pPr>
                      <a:r>
                        <a:rPr lang="en-US" sz="2600" b="1" kern="1200">
                          <a:solidFill>
                            <a:schemeClr val="lt1"/>
                          </a:solidFill>
                          <a:effectLst/>
                          <a:latin typeface="+mn-lt"/>
                          <a:ea typeface="+mn-ea"/>
                          <a:cs typeface="+mn-cs"/>
                        </a:rPr>
                        <a:t>Result</a:t>
                      </a:r>
                    </a:p>
                  </a:txBody>
                  <a:tcPr marL="204010" marR="204010" marT="0" marB="0"/>
                </a:tc>
                <a:tc gridSpan="2">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All outputs validate against schema.</a:t>
                      </a:r>
                    </a:p>
                  </a:txBody>
                  <a:tcPr marL="204010" marR="204010" marT="0" marB="0"/>
                </a:tc>
                <a:tc hMerge="1">
                  <a:txBody>
                    <a:bodyPr/>
                    <a:lstStyle/>
                    <a:p>
                      <a:endParaRPr lang="en-US"/>
                    </a:p>
                  </a:txBody>
                  <a:tcPr/>
                </a:tc>
                <a:extLst>
                  <a:ext uri="{0D108BD9-81ED-4DB2-BD59-A6C34878D82A}">
                    <a16:rowId xmlns:a16="http://schemas.microsoft.com/office/drawing/2014/main" val="500749405"/>
                  </a:ext>
                </a:extLst>
              </a:tr>
              <a:tr h="485013">
                <a:tc rowSpan="3">
                  <a:txBody>
                    <a:bodyPr/>
                    <a:lstStyle/>
                    <a:p>
                      <a:pPr marL="0" marR="0" algn="l" defTabSz="457200" rtl="0" eaLnBrk="1" latinLnBrk="0" hangingPunct="1">
                        <a:lnSpc>
                          <a:spcPct val="110000"/>
                        </a:lnSpc>
                        <a:spcAft>
                          <a:spcPts val="600"/>
                        </a:spcAft>
                        <a:buNone/>
                      </a:pPr>
                      <a:r>
                        <a:rPr lang="en-US" sz="2600" b="1" kern="1200">
                          <a:solidFill>
                            <a:schemeClr val="lt1"/>
                          </a:solidFill>
                          <a:effectLst/>
                          <a:latin typeface="+mn-lt"/>
                          <a:ea typeface="+mn-ea"/>
                          <a:cs typeface="+mn-cs"/>
                        </a:rPr>
                        <a:t>Traceability</a:t>
                      </a:r>
                    </a:p>
                  </a:txBody>
                  <a:tcPr marL="204010" marR="204010" marT="0" marB="0"/>
                </a:tc>
                <a:tc>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Relevant User Req.(s)</a:t>
                      </a:r>
                    </a:p>
                  </a:txBody>
                  <a:tcPr marL="204010" marR="204010" marT="0" marB="0"/>
                </a:tc>
                <a:tc>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UFR7</a:t>
                      </a:r>
                    </a:p>
                  </a:txBody>
                  <a:tcPr marL="204010" marR="204010" marT="0" marB="0"/>
                </a:tc>
                <a:extLst>
                  <a:ext uri="{0D108BD9-81ED-4DB2-BD59-A6C34878D82A}">
                    <a16:rowId xmlns:a16="http://schemas.microsoft.com/office/drawing/2014/main" val="503018335"/>
                  </a:ext>
                </a:extLst>
              </a:tr>
              <a:tr h="485013">
                <a:tc vMerge="1">
                  <a:txBody>
                    <a:bodyPr/>
                    <a:lstStyle/>
                    <a:p>
                      <a:endParaRPr lang="en-US"/>
                    </a:p>
                  </a:txBody>
                  <a:tcPr/>
                </a:tc>
                <a:tc>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Relevant System Req.(s)</a:t>
                      </a:r>
                    </a:p>
                  </a:txBody>
                  <a:tcPr marL="204010" marR="204010" marT="0" marB="0"/>
                </a:tc>
                <a:tc>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SFR11</a:t>
                      </a:r>
                    </a:p>
                  </a:txBody>
                  <a:tcPr marL="204010" marR="204010" marT="0" marB="0"/>
                </a:tc>
                <a:extLst>
                  <a:ext uri="{0D108BD9-81ED-4DB2-BD59-A6C34878D82A}">
                    <a16:rowId xmlns:a16="http://schemas.microsoft.com/office/drawing/2014/main" val="4145966044"/>
                  </a:ext>
                </a:extLst>
              </a:tr>
              <a:tr h="485013">
                <a:tc vMerge="1">
                  <a:txBody>
                    <a:bodyPr/>
                    <a:lstStyle/>
                    <a:p>
                      <a:endParaRPr lang="en-US"/>
                    </a:p>
                  </a:txBody>
                  <a:tcPr/>
                </a:tc>
                <a:tc>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Relevant Use Case.(s)</a:t>
                      </a:r>
                    </a:p>
                  </a:txBody>
                  <a:tcPr marL="204010" marR="204010" marT="0" marB="0"/>
                </a:tc>
                <a:tc>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UC-001</a:t>
                      </a:r>
                    </a:p>
                  </a:txBody>
                  <a:tcPr marL="204010" marR="204010" marT="0" marB="0"/>
                </a:tc>
                <a:extLst>
                  <a:ext uri="{0D108BD9-81ED-4DB2-BD59-A6C34878D82A}">
                    <a16:rowId xmlns:a16="http://schemas.microsoft.com/office/drawing/2014/main" val="1643264799"/>
                  </a:ext>
                </a:extLst>
              </a:tr>
            </a:tbl>
          </a:graphicData>
        </a:graphic>
      </p:graphicFrame>
    </p:spTree>
    <p:extLst>
      <p:ext uri="{BB962C8B-B14F-4D97-AF65-F5344CB8AC3E}">
        <p14:creationId xmlns:p14="http://schemas.microsoft.com/office/powerpoint/2010/main" val="22893232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86EB6D29-036A-0322-0F2D-0C0E32DC7C80}"/>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DFB3CEA1-88D9-42FB-88ED-1E9807FE6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9A6C928E-4252-4F33-8C34-E50A12A31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Slide Number Placeholder 1">
            <a:extLst>
              <a:ext uri="{FF2B5EF4-FFF2-40B4-BE49-F238E27FC236}">
                <a16:creationId xmlns:a16="http://schemas.microsoft.com/office/drawing/2014/main" id="{A0069DA6-0F1D-3E16-D39B-DCA98D58A3A9}"/>
              </a:ext>
            </a:extLst>
          </p:cNvPr>
          <p:cNvSpPr>
            <a:spLocks noGrp="1"/>
          </p:cNvSpPr>
          <p:nvPr>
            <p:ph type="sldNum" sz="quarter" idx="12"/>
          </p:nvPr>
        </p:nvSpPr>
        <p:spPr>
          <a:xfrm>
            <a:off x="10361612" y="-196212"/>
            <a:ext cx="838199" cy="767687"/>
          </a:xfrm>
        </p:spPr>
        <p:txBody>
          <a:bodyPr>
            <a:normAutofit/>
          </a:bodyPr>
          <a:lstStyle/>
          <a:p>
            <a:pPr>
              <a:spcAft>
                <a:spcPts val="600"/>
              </a:spcAft>
            </a:pPr>
            <a:fld id="{D57F1E4F-1CFF-5643-939E-02111984F565}" type="slidenum">
              <a:rPr lang="en-US">
                <a:solidFill>
                  <a:srgbClr val="FFFFFF"/>
                </a:solidFill>
              </a:rPr>
              <a:pPr>
                <a:spcAft>
                  <a:spcPts val="600"/>
                </a:spcAft>
              </a:pPr>
              <a:t>28</a:t>
            </a:fld>
            <a:endParaRPr lang="en-US">
              <a:solidFill>
                <a:srgbClr val="FFFFFF"/>
              </a:solidFill>
            </a:endParaRPr>
          </a:p>
        </p:txBody>
      </p:sp>
      <p:graphicFrame>
        <p:nvGraphicFramePr>
          <p:cNvPr id="3" name="Table 2">
            <a:extLst>
              <a:ext uri="{FF2B5EF4-FFF2-40B4-BE49-F238E27FC236}">
                <a16:creationId xmlns:a16="http://schemas.microsoft.com/office/drawing/2014/main" id="{54E2831B-9E7D-E4BB-81A7-315713D81907}"/>
              </a:ext>
            </a:extLst>
          </p:cNvPr>
          <p:cNvGraphicFramePr>
            <a:graphicFrameLocks noGrp="1"/>
          </p:cNvGraphicFramePr>
          <p:nvPr>
            <p:extLst>
              <p:ext uri="{D42A27DB-BD31-4B8C-83A1-F6EECF244321}">
                <p14:modId xmlns:p14="http://schemas.microsoft.com/office/powerpoint/2010/main" val="2070159380"/>
              </p:ext>
            </p:extLst>
          </p:nvPr>
        </p:nvGraphicFramePr>
        <p:xfrm>
          <a:off x="643466" y="662890"/>
          <a:ext cx="10905067" cy="4857306"/>
        </p:xfrm>
        <a:graphic>
          <a:graphicData uri="http://schemas.openxmlformats.org/drawingml/2006/table">
            <a:tbl>
              <a:tblPr firstRow="1" firstCol="1" bandRow="1">
                <a:tableStyleId>{5C22544A-7EE6-4342-B048-85BDC9FD1C3A}</a:tableStyleId>
              </a:tblPr>
              <a:tblGrid>
                <a:gridCol w="2882072">
                  <a:extLst>
                    <a:ext uri="{9D8B030D-6E8A-4147-A177-3AD203B41FA5}">
                      <a16:colId xmlns:a16="http://schemas.microsoft.com/office/drawing/2014/main" val="1322165385"/>
                    </a:ext>
                  </a:extLst>
                </a:gridCol>
                <a:gridCol w="4799855">
                  <a:extLst>
                    <a:ext uri="{9D8B030D-6E8A-4147-A177-3AD203B41FA5}">
                      <a16:colId xmlns:a16="http://schemas.microsoft.com/office/drawing/2014/main" val="2899397655"/>
                    </a:ext>
                  </a:extLst>
                </a:gridCol>
                <a:gridCol w="3223140">
                  <a:extLst>
                    <a:ext uri="{9D8B030D-6E8A-4147-A177-3AD203B41FA5}">
                      <a16:colId xmlns:a16="http://schemas.microsoft.com/office/drawing/2014/main" val="2212593922"/>
                    </a:ext>
                  </a:extLst>
                </a:gridCol>
              </a:tblGrid>
              <a:tr h="438658">
                <a:tc>
                  <a:txBody>
                    <a:bodyPr/>
                    <a:lstStyle/>
                    <a:p>
                      <a:pPr marL="0" marR="0" algn="l" defTabSz="457200" rtl="0" eaLnBrk="1" latinLnBrk="0" hangingPunct="1">
                        <a:lnSpc>
                          <a:spcPct val="110000"/>
                        </a:lnSpc>
                        <a:spcAft>
                          <a:spcPts val="600"/>
                        </a:spcAft>
                        <a:buNone/>
                      </a:pPr>
                      <a:r>
                        <a:rPr lang="en-US" sz="2600" b="1" kern="1200">
                          <a:solidFill>
                            <a:schemeClr val="lt1"/>
                          </a:solidFill>
                          <a:effectLst/>
                          <a:latin typeface="+mn-lt"/>
                          <a:ea typeface="+mn-ea"/>
                          <a:cs typeface="+mn-cs"/>
                        </a:rPr>
                        <a:t>Project Name</a:t>
                      </a:r>
                    </a:p>
                  </a:txBody>
                  <a:tcPr marL="179248" marR="179248" marT="0" marB="0"/>
                </a:tc>
                <a:tc gridSpan="2">
                  <a:txBody>
                    <a:bodyPr/>
                    <a:lstStyle/>
                    <a:p>
                      <a:pPr marL="0" marR="0" algn="l" defTabSz="457200" rtl="0" eaLnBrk="1" latinLnBrk="0" hangingPunct="1">
                        <a:lnSpc>
                          <a:spcPct val="110000"/>
                        </a:lnSpc>
                        <a:spcAft>
                          <a:spcPts val="600"/>
                        </a:spcAft>
                        <a:buNone/>
                      </a:pPr>
                      <a:r>
                        <a:rPr lang="en-US" sz="2600" b="1" kern="1200">
                          <a:solidFill>
                            <a:schemeClr val="lt1"/>
                          </a:solidFill>
                          <a:effectLst/>
                          <a:latin typeface="+mn-lt"/>
                          <a:ea typeface="+mn-ea"/>
                          <a:cs typeface="+mn-cs"/>
                        </a:rPr>
                        <a:t>AIBI CV for Manufacturing</a:t>
                      </a:r>
                    </a:p>
                  </a:txBody>
                  <a:tcPr marL="179248" marR="179248" marT="0" marB="0"/>
                </a:tc>
                <a:tc hMerge="1">
                  <a:txBody>
                    <a:bodyPr/>
                    <a:lstStyle/>
                    <a:p>
                      <a:endParaRPr lang="en-US"/>
                    </a:p>
                  </a:txBody>
                  <a:tcPr/>
                </a:tc>
                <a:extLst>
                  <a:ext uri="{0D108BD9-81ED-4DB2-BD59-A6C34878D82A}">
                    <a16:rowId xmlns:a16="http://schemas.microsoft.com/office/drawing/2014/main" val="451412504"/>
                  </a:ext>
                </a:extLst>
              </a:tr>
              <a:tr h="438658">
                <a:tc>
                  <a:txBody>
                    <a:bodyPr/>
                    <a:lstStyle/>
                    <a:p>
                      <a:pPr marL="0" marR="0" algn="l" defTabSz="457200" rtl="0" eaLnBrk="1" latinLnBrk="0" hangingPunct="1">
                        <a:lnSpc>
                          <a:spcPct val="110000"/>
                        </a:lnSpc>
                        <a:spcAft>
                          <a:spcPts val="600"/>
                        </a:spcAft>
                        <a:buNone/>
                      </a:pPr>
                      <a:r>
                        <a:rPr lang="en-US" sz="2600" b="1" kern="1200">
                          <a:solidFill>
                            <a:schemeClr val="lt1"/>
                          </a:solidFill>
                          <a:effectLst/>
                          <a:latin typeface="+mn-lt"/>
                          <a:ea typeface="+mn-ea"/>
                          <a:cs typeface="+mn-cs"/>
                        </a:rPr>
                        <a:t>Test Suite</a:t>
                      </a:r>
                    </a:p>
                  </a:txBody>
                  <a:tcPr marL="179248" marR="179248" marT="0" marB="0"/>
                </a:tc>
                <a:tc gridSpan="2">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Automated Non-Functional</a:t>
                      </a:r>
                    </a:p>
                  </a:txBody>
                  <a:tcPr marL="179248" marR="179248" marT="0" marB="0"/>
                </a:tc>
                <a:tc hMerge="1">
                  <a:txBody>
                    <a:bodyPr/>
                    <a:lstStyle/>
                    <a:p>
                      <a:endParaRPr lang="en-US"/>
                    </a:p>
                  </a:txBody>
                  <a:tcPr/>
                </a:tc>
                <a:extLst>
                  <a:ext uri="{0D108BD9-81ED-4DB2-BD59-A6C34878D82A}">
                    <a16:rowId xmlns:a16="http://schemas.microsoft.com/office/drawing/2014/main" val="2419825801"/>
                  </a:ext>
                </a:extLst>
              </a:tr>
              <a:tr h="438658">
                <a:tc>
                  <a:txBody>
                    <a:bodyPr/>
                    <a:lstStyle/>
                    <a:p>
                      <a:pPr marL="0" marR="0" algn="l" defTabSz="457200" rtl="0" eaLnBrk="1" latinLnBrk="0" hangingPunct="1">
                        <a:lnSpc>
                          <a:spcPct val="110000"/>
                        </a:lnSpc>
                        <a:spcAft>
                          <a:spcPts val="600"/>
                        </a:spcAft>
                        <a:buNone/>
                      </a:pPr>
                      <a:r>
                        <a:rPr lang="en-US" sz="2600" b="1" kern="1200">
                          <a:solidFill>
                            <a:schemeClr val="lt1"/>
                          </a:solidFill>
                          <a:effectLst/>
                          <a:latin typeface="+mn-lt"/>
                          <a:ea typeface="+mn-ea"/>
                          <a:cs typeface="+mn-cs"/>
                        </a:rPr>
                        <a:t>Test Case ID</a:t>
                      </a:r>
                    </a:p>
                  </a:txBody>
                  <a:tcPr marL="179248" marR="179248" marT="0" marB="0"/>
                </a:tc>
                <a:tc gridSpan="2">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TC-PDSR1-AUTO-01</a:t>
                      </a:r>
                    </a:p>
                  </a:txBody>
                  <a:tcPr marL="179248" marR="179248" marT="0" marB="0"/>
                </a:tc>
                <a:tc hMerge="1">
                  <a:txBody>
                    <a:bodyPr/>
                    <a:lstStyle/>
                    <a:p>
                      <a:endParaRPr lang="en-US"/>
                    </a:p>
                  </a:txBody>
                  <a:tcPr/>
                </a:tc>
                <a:extLst>
                  <a:ext uri="{0D108BD9-81ED-4DB2-BD59-A6C34878D82A}">
                    <a16:rowId xmlns:a16="http://schemas.microsoft.com/office/drawing/2014/main" val="3252698292"/>
                  </a:ext>
                </a:extLst>
              </a:tr>
              <a:tr h="438658">
                <a:tc>
                  <a:txBody>
                    <a:bodyPr/>
                    <a:lstStyle/>
                    <a:p>
                      <a:pPr marL="0" marR="0" algn="l" defTabSz="457200" rtl="0" eaLnBrk="1" latinLnBrk="0" hangingPunct="1">
                        <a:lnSpc>
                          <a:spcPct val="110000"/>
                        </a:lnSpc>
                        <a:spcAft>
                          <a:spcPts val="600"/>
                        </a:spcAft>
                        <a:buNone/>
                      </a:pPr>
                      <a:r>
                        <a:rPr lang="en-US" sz="2600" b="1" kern="1200">
                          <a:solidFill>
                            <a:schemeClr val="lt1"/>
                          </a:solidFill>
                          <a:effectLst/>
                          <a:latin typeface="+mn-lt"/>
                          <a:ea typeface="+mn-ea"/>
                          <a:cs typeface="+mn-cs"/>
                        </a:rPr>
                        <a:t>What to Test</a:t>
                      </a:r>
                    </a:p>
                  </a:txBody>
                  <a:tcPr marL="179248" marR="179248" marT="0" marB="0"/>
                </a:tc>
                <a:tc gridSpan="2">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System stores data locally (no external endpoints).</a:t>
                      </a:r>
                    </a:p>
                  </a:txBody>
                  <a:tcPr marL="179248" marR="179248" marT="0" marB="0"/>
                </a:tc>
                <a:tc hMerge="1">
                  <a:txBody>
                    <a:bodyPr/>
                    <a:lstStyle/>
                    <a:p>
                      <a:endParaRPr lang="en-US"/>
                    </a:p>
                  </a:txBody>
                  <a:tcPr/>
                </a:tc>
                <a:extLst>
                  <a:ext uri="{0D108BD9-81ED-4DB2-BD59-A6C34878D82A}">
                    <a16:rowId xmlns:a16="http://schemas.microsoft.com/office/drawing/2014/main" val="4114618683"/>
                  </a:ext>
                </a:extLst>
              </a:tr>
              <a:tr h="438658">
                <a:tc>
                  <a:txBody>
                    <a:bodyPr/>
                    <a:lstStyle/>
                    <a:p>
                      <a:pPr marL="0" marR="0" algn="l" defTabSz="457200" rtl="0" eaLnBrk="1" latinLnBrk="0" hangingPunct="1">
                        <a:lnSpc>
                          <a:spcPct val="110000"/>
                        </a:lnSpc>
                        <a:spcAft>
                          <a:spcPts val="600"/>
                        </a:spcAft>
                        <a:buNone/>
                      </a:pPr>
                      <a:r>
                        <a:rPr lang="en-US" sz="2600" b="1" kern="1200">
                          <a:solidFill>
                            <a:schemeClr val="lt1"/>
                          </a:solidFill>
                          <a:effectLst/>
                          <a:latin typeface="+mn-lt"/>
                          <a:ea typeface="+mn-ea"/>
                          <a:cs typeface="+mn-cs"/>
                        </a:rPr>
                        <a:t>Test Data Input</a:t>
                      </a:r>
                    </a:p>
                  </a:txBody>
                  <a:tcPr marL="179248" marR="179248" marT="0" marB="0"/>
                </a:tc>
                <a:tc gridSpan="2">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Config inspection script.</a:t>
                      </a:r>
                    </a:p>
                  </a:txBody>
                  <a:tcPr marL="179248" marR="179248" marT="0" marB="0"/>
                </a:tc>
                <a:tc hMerge="1">
                  <a:txBody>
                    <a:bodyPr/>
                    <a:lstStyle/>
                    <a:p>
                      <a:endParaRPr lang="en-US"/>
                    </a:p>
                  </a:txBody>
                  <a:tcPr/>
                </a:tc>
                <a:extLst>
                  <a:ext uri="{0D108BD9-81ED-4DB2-BD59-A6C34878D82A}">
                    <a16:rowId xmlns:a16="http://schemas.microsoft.com/office/drawing/2014/main" val="2515736390"/>
                  </a:ext>
                </a:extLst>
              </a:tr>
              <a:tr h="950722">
                <a:tc>
                  <a:txBody>
                    <a:bodyPr/>
                    <a:lstStyle/>
                    <a:p>
                      <a:pPr marL="0" marR="0" algn="l" defTabSz="457200" rtl="0" eaLnBrk="1" latinLnBrk="0" hangingPunct="1">
                        <a:lnSpc>
                          <a:spcPct val="110000"/>
                        </a:lnSpc>
                        <a:spcAft>
                          <a:spcPts val="600"/>
                        </a:spcAft>
                        <a:buNone/>
                      </a:pPr>
                      <a:r>
                        <a:rPr lang="en-US" sz="2600" b="1" kern="1200">
                          <a:solidFill>
                            <a:schemeClr val="lt1"/>
                          </a:solidFill>
                          <a:effectLst/>
                          <a:latin typeface="+mn-lt"/>
                          <a:ea typeface="+mn-ea"/>
                          <a:cs typeface="+mn-cs"/>
                        </a:rPr>
                        <a:t>Expected</a:t>
                      </a:r>
                    </a:p>
                    <a:p>
                      <a:pPr marL="0" marR="0" algn="l" defTabSz="457200" rtl="0" eaLnBrk="1" latinLnBrk="0" hangingPunct="1">
                        <a:lnSpc>
                          <a:spcPct val="110000"/>
                        </a:lnSpc>
                        <a:spcAft>
                          <a:spcPts val="600"/>
                        </a:spcAft>
                        <a:buNone/>
                      </a:pPr>
                      <a:r>
                        <a:rPr lang="en-US" sz="2600" b="1" kern="1200">
                          <a:solidFill>
                            <a:schemeClr val="lt1"/>
                          </a:solidFill>
                          <a:effectLst/>
                          <a:latin typeface="+mn-lt"/>
                          <a:ea typeface="+mn-ea"/>
                          <a:cs typeface="+mn-cs"/>
                        </a:rPr>
                        <a:t>Result</a:t>
                      </a:r>
                    </a:p>
                  </a:txBody>
                  <a:tcPr marL="179248" marR="179248" marT="0" marB="0"/>
                </a:tc>
                <a:tc gridSpan="2">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All endpoints local; no external URLs.</a:t>
                      </a:r>
                    </a:p>
                  </a:txBody>
                  <a:tcPr marL="179248" marR="179248" marT="0" marB="0"/>
                </a:tc>
                <a:tc hMerge="1">
                  <a:txBody>
                    <a:bodyPr/>
                    <a:lstStyle/>
                    <a:p>
                      <a:endParaRPr lang="en-US"/>
                    </a:p>
                  </a:txBody>
                  <a:tcPr/>
                </a:tc>
                <a:extLst>
                  <a:ext uri="{0D108BD9-81ED-4DB2-BD59-A6C34878D82A}">
                    <a16:rowId xmlns:a16="http://schemas.microsoft.com/office/drawing/2014/main" val="375549505"/>
                  </a:ext>
                </a:extLst>
              </a:tr>
              <a:tr h="438658">
                <a:tc rowSpan="3">
                  <a:txBody>
                    <a:bodyPr/>
                    <a:lstStyle/>
                    <a:p>
                      <a:pPr marL="0" marR="0" algn="l" defTabSz="457200" rtl="0" eaLnBrk="1" latinLnBrk="0" hangingPunct="1">
                        <a:lnSpc>
                          <a:spcPct val="110000"/>
                        </a:lnSpc>
                        <a:spcAft>
                          <a:spcPts val="600"/>
                        </a:spcAft>
                        <a:buNone/>
                      </a:pPr>
                      <a:r>
                        <a:rPr lang="en-US" sz="2600" b="1" kern="1200">
                          <a:solidFill>
                            <a:schemeClr val="lt1"/>
                          </a:solidFill>
                          <a:effectLst/>
                          <a:latin typeface="+mn-lt"/>
                          <a:ea typeface="+mn-ea"/>
                          <a:cs typeface="+mn-cs"/>
                        </a:rPr>
                        <a:t>Traceability</a:t>
                      </a:r>
                    </a:p>
                  </a:txBody>
                  <a:tcPr marL="179248" marR="179248" marT="0" marB="0"/>
                </a:tc>
                <a:tc>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Relevant User Req.(s)</a:t>
                      </a:r>
                    </a:p>
                  </a:txBody>
                  <a:tcPr marL="179248" marR="179248" marT="0" marB="0"/>
                </a:tc>
                <a:tc>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UFR10, UFR7</a:t>
                      </a:r>
                    </a:p>
                  </a:txBody>
                  <a:tcPr marL="179248" marR="179248" marT="0" marB="0"/>
                </a:tc>
                <a:extLst>
                  <a:ext uri="{0D108BD9-81ED-4DB2-BD59-A6C34878D82A}">
                    <a16:rowId xmlns:a16="http://schemas.microsoft.com/office/drawing/2014/main" val="1439478039"/>
                  </a:ext>
                </a:extLst>
              </a:tr>
              <a:tr h="438658">
                <a:tc vMerge="1">
                  <a:txBody>
                    <a:bodyPr/>
                    <a:lstStyle/>
                    <a:p>
                      <a:endParaRPr lang="en-US"/>
                    </a:p>
                  </a:txBody>
                  <a:tcPr/>
                </a:tc>
                <a:tc>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Relevant System Req.(s)</a:t>
                      </a:r>
                    </a:p>
                  </a:txBody>
                  <a:tcPr marL="179248" marR="179248" marT="0" marB="0"/>
                </a:tc>
                <a:tc>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PDSR1</a:t>
                      </a:r>
                    </a:p>
                  </a:txBody>
                  <a:tcPr marL="179248" marR="179248" marT="0" marB="0"/>
                </a:tc>
                <a:extLst>
                  <a:ext uri="{0D108BD9-81ED-4DB2-BD59-A6C34878D82A}">
                    <a16:rowId xmlns:a16="http://schemas.microsoft.com/office/drawing/2014/main" val="4075141022"/>
                  </a:ext>
                </a:extLst>
              </a:tr>
              <a:tr h="438658">
                <a:tc vMerge="1">
                  <a:txBody>
                    <a:bodyPr/>
                    <a:lstStyle/>
                    <a:p>
                      <a:endParaRPr lang="en-US"/>
                    </a:p>
                  </a:txBody>
                  <a:tcPr/>
                </a:tc>
                <a:tc>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Relevant Use Case.(s)</a:t>
                      </a:r>
                    </a:p>
                  </a:txBody>
                  <a:tcPr marL="179248" marR="179248" marT="0" marB="0"/>
                </a:tc>
                <a:tc>
                  <a:txBody>
                    <a:bodyPr/>
                    <a:lstStyle/>
                    <a:p>
                      <a:pPr marL="0" marR="0" algn="l" defTabSz="457200" rtl="0" eaLnBrk="1" latinLnBrk="0" hangingPunct="1">
                        <a:lnSpc>
                          <a:spcPct val="110000"/>
                        </a:lnSpc>
                        <a:spcAft>
                          <a:spcPts val="600"/>
                        </a:spcAft>
                        <a:buNone/>
                      </a:pPr>
                      <a:r>
                        <a:rPr lang="en-US" sz="2600" kern="1200">
                          <a:solidFill>
                            <a:schemeClr val="dk1"/>
                          </a:solidFill>
                          <a:effectLst/>
                          <a:latin typeface="+mn-lt"/>
                          <a:ea typeface="+mn-ea"/>
                          <a:cs typeface="+mn-cs"/>
                        </a:rPr>
                        <a:t>UC-002</a:t>
                      </a:r>
                    </a:p>
                  </a:txBody>
                  <a:tcPr marL="179248" marR="179248" marT="0" marB="0"/>
                </a:tc>
                <a:extLst>
                  <a:ext uri="{0D108BD9-81ED-4DB2-BD59-A6C34878D82A}">
                    <a16:rowId xmlns:a16="http://schemas.microsoft.com/office/drawing/2014/main" val="926846515"/>
                  </a:ext>
                </a:extLst>
              </a:tr>
            </a:tbl>
          </a:graphicData>
        </a:graphic>
      </p:graphicFrame>
    </p:spTree>
    <p:extLst>
      <p:ext uri="{BB962C8B-B14F-4D97-AF65-F5344CB8AC3E}">
        <p14:creationId xmlns:p14="http://schemas.microsoft.com/office/powerpoint/2010/main" val="368132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785ECC98-0149-F832-EACF-0B5BD64BCA64}"/>
            </a:ext>
          </a:extLst>
        </p:cNvPr>
        <p:cNvGrpSpPr/>
        <p:nvPr/>
      </p:nvGrpSpPr>
      <p:grpSpPr>
        <a:xfrm>
          <a:off x="0" y="0"/>
          <a:ext cx="0" cy="0"/>
          <a:chOff x="0" y="0"/>
          <a:chExt cx="0" cy="0"/>
        </a:xfrm>
      </p:grpSpPr>
      <p:pic>
        <p:nvPicPr>
          <p:cNvPr id="27" name="Picture 26">
            <a:extLst>
              <a:ext uri="{FF2B5EF4-FFF2-40B4-BE49-F238E27FC236}">
                <a16:creationId xmlns:a16="http://schemas.microsoft.com/office/drawing/2014/main" id="{91B28F63-CF00-448F-B141-FE33C33B18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1" name="Picture 10">
            <a:extLst>
              <a:ext uri="{FF2B5EF4-FFF2-40B4-BE49-F238E27FC236}">
                <a16:creationId xmlns:a16="http://schemas.microsoft.com/office/drawing/2014/main" id="{2AE609E2-8522-44E4-9077-980E5BCF3E1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3" name="Oval 12">
            <a:extLst>
              <a:ext uri="{FF2B5EF4-FFF2-40B4-BE49-F238E27FC236}">
                <a16:creationId xmlns:a16="http://schemas.microsoft.com/office/drawing/2014/main" id="{4FA533C5-33E3-4611-AF9F-72811D8B26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5" name="Picture 14">
            <a:extLst>
              <a:ext uri="{FF2B5EF4-FFF2-40B4-BE49-F238E27FC236}">
                <a16:creationId xmlns:a16="http://schemas.microsoft.com/office/drawing/2014/main" id="{8949AD42-25FD-4C3D-9EEE-B7FEC580998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7" name="Picture 16">
            <a:extLst>
              <a:ext uri="{FF2B5EF4-FFF2-40B4-BE49-F238E27FC236}">
                <a16:creationId xmlns:a16="http://schemas.microsoft.com/office/drawing/2014/main" id="{6AC7D913-60B7-4603-881B-831DA5D3A94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9" name="Rectangle 18">
            <a:extLst>
              <a:ext uri="{FF2B5EF4-FFF2-40B4-BE49-F238E27FC236}">
                <a16:creationId xmlns:a16="http://schemas.microsoft.com/office/drawing/2014/main" id="{87F0FDC4-AD8C-47D9-9131-623C98ADB0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1" name="Rectangle 20">
            <a:extLst>
              <a:ext uri="{FF2B5EF4-FFF2-40B4-BE49-F238E27FC236}">
                <a16:creationId xmlns:a16="http://schemas.microsoft.com/office/drawing/2014/main" id="{E6A222EB-A81E-4238-B08D-AAB1828C8E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E014676C-074B-475A-8346-9C901C86CB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Slide Number Placeholder 2">
            <a:extLst>
              <a:ext uri="{FF2B5EF4-FFF2-40B4-BE49-F238E27FC236}">
                <a16:creationId xmlns:a16="http://schemas.microsoft.com/office/drawing/2014/main" id="{D2BF74E6-F7A0-6C4B-078F-6038B93CBD6F}"/>
              </a:ext>
            </a:extLst>
          </p:cNvPr>
          <p:cNvSpPr>
            <a:spLocks noGrp="1"/>
          </p:cNvSpPr>
          <p:nvPr>
            <p:ph type="sldNum" sz="quarter" idx="12"/>
          </p:nvPr>
        </p:nvSpPr>
        <p:spPr>
          <a:xfrm>
            <a:off x="10352540" y="295729"/>
            <a:ext cx="838199" cy="767687"/>
          </a:xfrm>
        </p:spPr>
        <p:txBody>
          <a:bodyPr vert="horz" lIns="91440" tIns="45720" rIns="91440" bIns="45720" rtlCol="0" anchor="b">
            <a:normAutofit/>
          </a:bodyPr>
          <a:lstStyle/>
          <a:p>
            <a:pPr defTabSz="457200">
              <a:spcAft>
                <a:spcPts val="600"/>
              </a:spcAft>
            </a:pPr>
            <a:fld id="{D57F1E4F-1CFF-5643-939E-02111984F565}" type="slidenum">
              <a:rPr lang="en-US" b="0" i="0" kern="1200">
                <a:solidFill>
                  <a:srgbClr val="FFFFFF"/>
                </a:solidFill>
                <a:latin typeface="+mn-lt"/>
                <a:ea typeface="+mn-ea"/>
                <a:cs typeface="+mn-cs"/>
              </a:rPr>
              <a:pPr defTabSz="457200">
                <a:spcAft>
                  <a:spcPts val="600"/>
                </a:spcAft>
              </a:pPr>
              <a:t>29</a:t>
            </a:fld>
            <a:endParaRPr lang="en-US" b="0" i="0" kern="1200">
              <a:solidFill>
                <a:srgbClr val="FFFFFF"/>
              </a:solidFill>
              <a:latin typeface="+mn-lt"/>
              <a:ea typeface="+mn-ea"/>
              <a:cs typeface="+mn-cs"/>
            </a:endParaRPr>
          </a:p>
        </p:txBody>
      </p:sp>
      <p:cxnSp>
        <p:nvCxnSpPr>
          <p:cNvPr id="25" name="Straight Connector 24">
            <a:extLst>
              <a:ext uri="{FF2B5EF4-FFF2-40B4-BE49-F238E27FC236}">
                <a16:creationId xmlns:a16="http://schemas.microsoft.com/office/drawing/2014/main" id="{179C4C8E-197B-4679-AE96-B5147F971C9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56687" y="1930986"/>
            <a:ext cx="0" cy="3200400"/>
          </a:xfrm>
          <a:prstGeom prst="line">
            <a:avLst/>
          </a:prstGeom>
          <a:ln w="15875" cap="sq">
            <a:solidFill>
              <a:schemeClr val="tx2">
                <a:alpha val="70000"/>
              </a:schemeClr>
            </a:solidFill>
            <a:miter lim="800000"/>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67AA6FA-3064-E374-BBA9-ADCA0C012465}"/>
              </a:ext>
            </a:extLst>
          </p:cNvPr>
          <p:cNvSpPr>
            <a:spLocks noGrp="1"/>
          </p:cNvSpPr>
          <p:nvPr>
            <p:ph type="title"/>
          </p:nvPr>
        </p:nvSpPr>
        <p:spPr>
          <a:xfrm>
            <a:off x="4654295" y="1266958"/>
            <a:ext cx="6808362" cy="4528457"/>
          </a:xfrm>
        </p:spPr>
        <p:txBody>
          <a:bodyPr vert="horz" lIns="91440" tIns="45720" rIns="91440" bIns="45720" rtlCol="0" anchor="ctr">
            <a:normAutofit/>
          </a:bodyPr>
          <a:lstStyle/>
          <a:p>
            <a:r>
              <a:rPr lang="en-US" sz="7200" b="0" i="0" kern="1200">
                <a:solidFill>
                  <a:schemeClr val="tx2"/>
                </a:solidFill>
                <a:latin typeface="+mj-lt"/>
                <a:ea typeface="+mj-ea"/>
                <a:cs typeface="+mj-cs"/>
              </a:rPr>
              <a:t>Challenges</a:t>
            </a:r>
          </a:p>
        </p:txBody>
      </p:sp>
      <p:sp>
        <p:nvSpPr>
          <p:cNvPr id="4" name="AutoShape 2" descr="uv - pip killer or yet another package manager?">
            <a:extLst>
              <a:ext uri="{FF2B5EF4-FFF2-40B4-BE49-F238E27FC236}">
                <a16:creationId xmlns:a16="http://schemas.microsoft.com/office/drawing/2014/main" id="{D7C36DA5-AF3B-C1F2-02C9-473A8B4A67A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6142995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C4890-371A-F6AE-FE68-68074022C6BB}"/>
              </a:ext>
            </a:extLst>
          </p:cNvPr>
          <p:cNvSpPr>
            <a:spLocks noGrp="1"/>
          </p:cNvSpPr>
          <p:nvPr>
            <p:ph type="title"/>
          </p:nvPr>
        </p:nvSpPr>
        <p:spPr/>
        <p:txBody>
          <a:bodyPr/>
          <a:lstStyle/>
          <a:p>
            <a:r>
              <a:rPr lang="en-US"/>
              <a:t>Challenges</a:t>
            </a:r>
          </a:p>
        </p:txBody>
      </p:sp>
      <p:sp>
        <p:nvSpPr>
          <p:cNvPr id="3" name="Content Placeholder 2">
            <a:extLst>
              <a:ext uri="{FF2B5EF4-FFF2-40B4-BE49-F238E27FC236}">
                <a16:creationId xmlns:a16="http://schemas.microsoft.com/office/drawing/2014/main" id="{2B65DC22-8409-25A8-A8A0-926408665F72}"/>
              </a:ext>
            </a:extLst>
          </p:cNvPr>
          <p:cNvSpPr>
            <a:spLocks noGrp="1"/>
          </p:cNvSpPr>
          <p:nvPr>
            <p:ph idx="1"/>
          </p:nvPr>
        </p:nvSpPr>
        <p:spPr>
          <a:xfrm>
            <a:off x="1103312" y="2052918"/>
            <a:ext cx="10095062" cy="4195481"/>
          </a:xfrm>
        </p:spPr>
        <p:txBody>
          <a:bodyPr vert="horz" lIns="91440" tIns="45720" rIns="91440" bIns="45720" rtlCol="0" anchor="t">
            <a:normAutofit/>
          </a:bodyPr>
          <a:lstStyle/>
          <a:p>
            <a:r>
              <a:rPr lang="en-US"/>
              <a:t>Production facility has tight security restraints</a:t>
            </a:r>
          </a:p>
          <a:p>
            <a:pPr lvl="1"/>
            <a:r>
              <a:rPr lang="en-US"/>
              <a:t>Difficulty retrieving images from within the facility to use for future model training</a:t>
            </a:r>
          </a:p>
          <a:p>
            <a:pPr lvl="1">
              <a:buClr>
                <a:srgbClr val="8AD0D6"/>
              </a:buClr>
            </a:pPr>
            <a:r>
              <a:rPr lang="en-US"/>
              <a:t>Some information is unable to be shared publicly</a:t>
            </a:r>
          </a:p>
          <a:p>
            <a:pPr lvl="1">
              <a:buClr>
                <a:srgbClr val="8AD0D6"/>
              </a:buClr>
            </a:pPr>
            <a:endParaRPr lang="en-US"/>
          </a:p>
          <a:p>
            <a:pPr>
              <a:buClr>
                <a:srgbClr val="8AD0D6"/>
              </a:buClr>
            </a:pPr>
            <a:r>
              <a:rPr lang="en-US"/>
              <a:t>Second half of project (worker step tracking) is likely to take much longer</a:t>
            </a:r>
          </a:p>
          <a:p>
            <a:pPr lvl="1">
              <a:buClr>
                <a:srgbClr val="8AD0D6"/>
              </a:buClr>
            </a:pPr>
            <a:r>
              <a:rPr lang="en-US"/>
              <a:t>Difficulties obtaining training data</a:t>
            </a:r>
          </a:p>
          <a:p>
            <a:pPr lvl="1">
              <a:buClr>
                <a:srgbClr val="8AD0D6"/>
              </a:buClr>
            </a:pPr>
            <a:r>
              <a:rPr lang="en-US"/>
              <a:t>Inconsistencies in environment could cause issues with our model</a:t>
            </a:r>
          </a:p>
          <a:p>
            <a:pPr lvl="1">
              <a:buClr>
                <a:srgbClr val="8AD0D6"/>
              </a:buClr>
            </a:pPr>
            <a:r>
              <a:rPr lang="en-US"/>
              <a:t>Other potential issues which we will dive into in the next presentations</a:t>
            </a:r>
          </a:p>
          <a:p>
            <a:pPr lvl="1">
              <a:buClr>
                <a:srgbClr val="8AD0D6"/>
              </a:buClr>
            </a:pPr>
            <a:endParaRPr lang="en-US" sz="1400"/>
          </a:p>
          <a:p>
            <a:pPr>
              <a:buClr>
                <a:srgbClr val="8AD0D6"/>
              </a:buClr>
            </a:pPr>
            <a:endParaRPr lang="en-US" sz="1600"/>
          </a:p>
        </p:txBody>
      </p:sp>
      <p:sp>
        <p:nvSpPr>
          <p:cNvPr id="4" name="Slide Number Placeholder 3">
            <a:extLst>
              <a:ext uri="{FF2B5EF4-FFF2-40B4-BE49-F238E27FC236}">
                <a16:creationId xmlns:a16="http://schemas.microsoft.com/office/drawing/2014/main" id="{C6641F41-8D54-F64E-DF36-91895DF747CD}"/>
              </a:ext>
            </a:extLst>
          </p:cNvPr>
          <p:cNvSpPr>
            <a:spLocks noGrp="1"/>
          </p:cNvSpPr>
          <p:nvPr>
            <p:ph type="sldNum" sz="quarter" idx="12"/>
          </p:nvPr>
        </p:nvSpPr>
        <p:spPr/>
        <p:txBody>
          <a:bodyPr/>
          <a:lstStyle/>
          <a:p>
            <a:fld id="{D57F1E4F-1CFF-5643-939E-02111984F565}" type="slidenum">
              <a:rPr lang="en-US" dirty="0"/>
              <a:t>30</a:t>
            </a:fld>
            <a:endParaRPr lang="en-US"/>
          </a:p>
        </p:txBody>
      </p:sp>
    </p:spTree>
    <p:extLst>
      <p:ext uri="{BB962C8B-B14F-4D97-AF65-F5344CB8AC3E}">
        <p14:creationId xmlns:p14="http://schemas.microsoft.com/office/powerpoint/2010/main" val="36095322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2332794A-27CE-282D-1C11-5B08F750D074}"/>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91B28F63-CF00-448F-B141-FE33C33B18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0" name="Picture 9">
            <a:extLst>
              <a:ext uri="{FF2B5EF4-FFF2-40B4-BE49-F238E27FC236}">
                <a16:creationId xmlns:a16="http://schemas.microsoft.com/office/drawing/2014/main" id="{2AE609E2-8522-44E4-9077-980E5BCF3E1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2" name="Oval 11">
            <a:extLst>
              <a:ext uri="{FF2B5EF4-FFF2-40B4-BE49-F238E27FC236}">
                <a16:creationId xmlns:a16="http://schemas.microsoft.com/office/drawing/2014/main" id="{4FA533C5-33E3-4611-AF9F-72811D8B26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4" name="Picture 13">
            <a:extLst>
              <a:ext uri="{FF2B5EF4-FFF2-40B4-BE49-F238E27FC236}">
                <a16:creationId xmlns:a16="http://schemas.microsoft.com/office/drawing/2014/main" id="{8949AD42-25FD-4C3D-9EEE-B7FEC580998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6" name="Picture 15">
            <a:extLst>
              <a:ext uri="{FF2B5EF4-FFF2-40B4-BE49-F238E27FC236}">
                <a16:creationId xmlns:a16="http://schemas.microsoft.com/office/drawing/2014/main" id="{6AC7D913-60B7-4603-881B-831DA5D3A94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8" name="Rectangle 17">
            <a:extLst>
              <a:ext uri="{FF2B5EF4-FFF2-40B4-BE49-F238E27FC236}">
                <a16:creationId xmlns:a16="http://schemas.microsoft.com/office/drawing/2014/main" id="{87F0FDC4-AD8C-47D9-9131-623C98ADB0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0" name="Rectangle 19">
            <a:extLst>
              <a:ext uri="{FF2B5EF4-FFF2-40B4-BE49-F238E27FC236}">
                <a16:creationId xmlns:a16="http://schemas.microsoft.com/office/drawing/2014/main" id="{E6A222EB-A81E-4238-B08D-AAB1828C8E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E014676C-074B-475A-8346-9C901C86CB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Slide Number Placeholder 2">
            <a:extLst>
              <a:ext uri="{FF2B5EF4-FFF2-40B4-BE49-F238E27FC236}">
                <a16:creationId xmlns:a16="http://schemas.microsoft.com/office/drawing/2014/main" id="{A3A893F5-AF23-51CE-813A-D849355DA462}"/>
              </a:ext>
            </a:extLst>
          </p:cNvPr>
          <p:cNvSpPr>
            <a:spLocks noGrp="1"/>
          </p:cNvSpPr>
          <p:nvPr>
            <p:ph type="sldNum" sz="quarter" idx="12"/>
          </p:nvPr>
        </p:nvSpPr>
        <p:spPr>
          <a:xfrm>
            <a:off x="10352540" y="295729"/>
            <a:ext cx="838199" cy="767687"/>
          </a:xfrm>
        </p:spPr>
        <p:txBody>
          <a:bodyPr vert="horz" lIns="91440" tIns="45720" rIns="91440" bIns="45720" rtlCol="0" anchor="b">
            <a:normAutofit/>
          </a:bodyPr>
          <a:lstStyle/>
          <a:p>
            <a:pPr defTabSz="457200">
              <a:spcAft>
                <a:spcPts val="600"/>
              </a:spcAft>
            </a:pPr>
            <a:fld id="{D57F1E4F-1CFF-5643-939E-02111984F565}" type="slidenum">
              <a:rPr lang="en-US" b="0" i="0" kern="1200">
                <a:solidFill>
                  <a:srgbClr val="FFFFFF"/>
                </a:solidFill>
                <a:latin typeface="+mn-lt"/>
                <a:ea typeface="+mn-ea"/>
                <a:cs typeface="+mn-cs"/>
              </a:rPr>
              <a:pPr defTabSz="457200">
                <a:spcAft>
                  <a:spcPts val="600"/>
                </a:spcAft>
              </a:pPr>
              <a:t>31</a:t>
            </a:fld>
            <a:endParaRPr lang="en-US" b="0" i="0" kern="1200">
              <a:solidFill>
                <a:srgbClr val="FFFFFF"/>
              </a:solidFill>
              <a:latin typeface="+mn-lt"/>
              <a:ea typeface="+mn-ea"/>
              <a:cs typeface="+mn-cs"/>
            </a:endParaRPr>
          </a:p>
        </p:txBody>
      </p:sp>
      <p:cxnSp>
        <p:nvCxnSpPr>
          <p:cNvPr id="24" name="Straight Connector 23">
            <a:extLst>
              <a:ext uri="{FF2B5EF4-FFF2-40B4-BE49-F238E27FC236}">
                <a16:creationId xmlns:a16="http://schemas.microsoft.com/office/drawing/2014/main" id="{179C4C8E-197B-4679-AE96-B5147F971C9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56687" y="1930986"/>
            <a:ext cx="0" cy="3200400"/>
          </a:xfrm>
          <a:prstGeom prst="line">
            <a:avLst/>
          </a:prstGeom>
          <a:ln w="15875" cap="sq">
            <a:solidFill>
              <a:schemeClr val="tx2">
                <a:alpha val="70000"/>
              </a:schemeClr>
            </a:solidFill>
            <a:miter lim="800000"/>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34B3AE9-F2DF-63D1-92EE-206EC4163CB6}"/>
              </a:ext>
            </a:extLst>
          </p:cNvPr>
          <p:cNvSpPr>
            <a:spLocks noGrp="1"/>
          </p:cNvSpPr>
          <p:nvPr>
            <p:ph type="title"/>
          </p:nvPr>
        </p:nvSpPr>
        <p:spPr>
          <a:xfrm>
            <a:off x="4654295" y="1266958"/>
            <a:ext cx="6808362" cy="4528457"/>
          </a:xfrm>
        </p:spPr>
        <p:txBody>
          <a:bodyPr vert="horz" lIns="91440" tIns="45720" rIns="91440" bIns="45720" rtlCol="0" anchor="ctr">
            <a:normAutofit/>
          </a:bodyPr>
          <a:lstStyle/>
          <a:p>
            <a:r>
              <a:rPr lang="en-US" sz="7200" b="0" i="0" kern="1200">
                <a:latin typeface="+mj-lt"/>
                <a:ea typeface="+mj-ea"/>
                <a:cs typeface="+mj-cs"/>
              </a:rPr>
              <a:t>Team </a:t>
            </a:r>
            <a:r>
              <a:rPr lang="en-US" sz="7200"/>
              <a:t>Member</a:t>
            </a:r>
            <a:r>
              <a:rPr lang="en-US" sz="7200" b="0" i="0" kern="1200">
                <a:latin typeface="+mj-lt"/>
                <a:ea typeface="+mj-ea"/>
                <a:cs typeface="+mj-cs"/>
              </a:rPr>
              <a:t> Logs</a:t>
            </a:r>
          </a:p>
        </p:txBody>
      </p:sp>
    </p:spTree>
    <p:extLst>
      <p:ext uri="{BB962C8B-B14F-4D97-AF65-F5344CB8AC3E}">
        <p14:creationId xmlns:p14="http://schemas.microsoft.com/office/powerpoint/2010/main" val="37755854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F747F1B4-B831-4277-8AB0-32767F7EB7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5" name="Freeform 7">
            <a:extLst>
              <a:ext uri="{FF2B5EF4-FFF2-40B4-BE49-F238E27FC236}">
                <a16:creationId xmlns:a16="http://schemas.microsoft.com/office/drawing/2014/main" id="{D80CFA21-AB7C-4BEB-9BFF-05764FBBF3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B1CA2BAE-C67B-095C-9F8B-4A89ECF4682D}"/>
              </a:ext>
            </a:extLst>
          </p:cNvPr>
          <p:cNvSpPr>
            <a:spLocks noGrp="1"/>
          </p:cNvSpPr>
          <p:nvPr>
            <p:ph type="title"/>
          </p:nvPr>
        </p:nvSpPr>
        <p:spPr>
          <a:xfrm>
            <a:off x="648930" y="629267"/>
            <a:ext cx="9252154" cy="1016654"/>
          </a:xfrm>
        </p:spPr>
        <p:txBody>
          <a:bodyPr vert="horz" lIns="91440" tIns="45720" rIns="91440" bIns="45720" rtlCol="0">
            <a:normAutofit/>
          </a:bodyPr>
          <a:lstStyle/>
          <a:p>
            <a:r>
              <a:rPr lang="en-US" b="0" i="0" kern="1200">
                <a:solidFill>
                  <a:srgbClr val="EBEBEB"/>
                </a:solidFill>
                <a:latin typeface="+mj-lt"/>
                <a:ea typeface="+mj-ea"/>
                <a:cs typeface="+mj-cs"/>
              </a:rPr>
              <a:t>Nathan DiGilio</a:t>
            </a:r>
          </a:p>
        </p:txBody>
      </p:sp>
      <p:sp>
        <p:nvSpPr>
          <p:cNvPr id="27" name="Rectangle 26">
            <a:extLst>
              <a:ext uri="{FF2B5EF4-FFF2-40B4-BE49-F238E27FC236}">
                <a16:creationId xmlns:a16="http://schemas.microsoft.com/office/drawing/2014/main" id="{12F7E335-851A-4CAE-B09F-E657819D46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Slide Number Placeholder 3">
            <a:extLst>
              <a:ext uri="{FF2B5EF4-FFF2-40B4-BE49-F238E27FC236}">
                <a16:creationId xmlns:a16="http://schemas.microsoft.com/office/drawing/2014/main" id="{2B83475B-ABCC-C52A-831F-973D634ED31E}"/>
              </a:ext>
            </a:extLst>
          </p:cNvPr>
          <p:cNvSpPr>
            <a:spLocks noGrp="1"/>
          </p:cNvSpPr>
          <p:nvPr>
            <p:ph type="sldNum" sz="quarter" idx="12"/>
          </p:nvPr>
        </p:nvSpPr>
        <p:spPr>
          <a:xfrm>
            <a:off x="10352540" y="295729"/>
            <a:ext cx="838199" cy="767687"/>
          </a:xfrm>
        </p:spPr>
        <p:txBody>
          <a:bodyPr vert="horz" lIns="91440" tIns="45720" rIns="91440" bIns="45720" rtlCol="0">
            <a:normAutofit/>
          </a:bodyPr>
          <a:lstStyle/>
          <a:p>
            <a:pPr>
              <a:spcAft>
                <a:spcPts val="600"/>
              </a:spcAft>
            </a:pPr>
            <a:fld id="{D57F1E4F-1CFF-5643-939E-02111984F565}" type="slidenum">
              <a:rPr lang="en-US">
                <a:solidFill>
                  <a:srgbClr val="FFFFFF"/>
                </a:solidFill>
              </a:rPr>
              <a:pPr>
                <a:spcAft>
                  <a:spcPts val="600"/>
                </a:spcAft>
              </a:pPr>
              <a:t>32</a:t>
            </a:fld>
            <a:endParaRPr lang="en-US">
              <a:solidFill>
                <a:srgbClr val="FFFFFF"/>
              </a:solidFill>
            </a:endParaRPr>
          </a:p>
        </p:txBody>
      </p:sp>
      <p:sp>
        <p:nvSpPr>
          <p:cNvPr id="29" name="Freeform: Shape 28">
            <a:extLst>
              <a:ext uri="{FF2B5EF4-FFF2-40B4-BE49-F238E27FC236}">
                <a16:creationId xmlns:a16="http://schemas.microsoft.com/office/drawing/2014/main" id="{10B541F0-7F6E-402E-84D8-CF96EACA5F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8" cy="5095933"/>
          </a:xfrm>
          <a:custGeom>
            <a:avLst/>
            <a:gdLst>
              <a:gd name="connsiteX0" fmla="*/ 1 w 12192418"/>
              <a:gd name="connsiteY0" fmla="*/ 0 h 5095933"/>
              <a:gd name="connsiteX1" fmla="*/ 71932 w 12192418"/>
              <a:gd name="connsiteY1" fmla="*/ 12261 h 5095933"/>
              <a:gd name="connsiteX2" fmla="*/ 282849 w 12192418"/>
              <a:gd name="connsiteY2" fmla="*/ 48343 h 5095933"/>
              <a:gd name="connsiteX3" fmla="*/ 436464 w 12192418"/>
              <a:gd name="connsiteY3" fmla="*/ 73565 h 5095933"/>
              <a:gd name="connsiteX4" fmla="*/ 619339 w 12192418"/>
              <a:gd name="connsiteY4" fmla="*/ 100188 h 5095933"/>
              <a:gd name="connsiteX5" fmla="*/ 836351 w 12192418"/>
              <a:gd name="connsiteY5" fmla="*/ 132066 h 5095933"/>
              <a:gd name="connsiteX6" fmla="*/ 1076528 w 12192418"/>
              <a:gd name="connsiteY6" fmla="*/ 165696 h 5095933"/>
              <a:gd name="connsiteX7" fmla="*/ 1347184 w 12192418"/>
              <a:gd name="connsiteY7" fmla="*/ 201077 h 5095933"/>
              <a:gd name="connsiteX8" fmla="*/ 1642223 w 12192418"/>
              <a:gd name="connsiteY8" fmla="*/ 238560 h 5095933"/>
              <a:gd name="connsiteX9" fmla="*/ 1962864 w 12192418"/>
              <a:gd name="connsiteY9" fmla="*/ 276043 h 5095933"/>
              <a:gd name="connsiteX10" fmla="*/ 2304232 w 12192418"/>
              <a:gd name="connsiteY10" fmla="*/ 314227 h 5095933"/>
              <a:gd name="connsiteX11" fmla="*/ 2672421 w 12192418"/>
              <a:gd name="connsiteY11" fmla="*/ 349608 h 5095933"/>
              <a:gd name="connsiteX12" fmla="*/ 3057678 w 12192418"/>
              <a:gd name="connsiteY12" fmla="*/ 383588 h 5095933"/>
              <a:gd name="connsiteX13" fmla="*/ 3464881 w 12192418"/>
              <a:gd name="connsiteY13" fmla="*/ 414415 h 5095933"/>
              <a:gd name="connsiteX14" fmla="*/ 3889152 w 12192418"/>
              <a:gd name="connsiteY14" fmla="*/ 443841 h 5095933"/>
              <a:gd name="connsiteX15" fmla="*/ 4331710 w 12192418"/>
              <a:gd name="connsiteY15" fmla="*/ 471515 h 5095933"/>
              <a:gd name="connsiteX16" fmla="*/ 4558476 w 12192418"/>
              <a:gd name="connsiteY16" fmla="*/ 481324 h 5095933"/>
              <a:gd name="connsiteX17" fmla="*/ 4790118 w 12192418"/>
              <a:gd name="connsiteY17" fmla="*/ 492183 h 5095933"/>
              <a:gd name="connsiteX18" fmla="*/ 5025418 w 12192418"/>
              <a:gd name="connsiteY18" fmla="*/ 502342 h 5095933"/>
              <a:gd name="connsiteX19" fmla="*/ 5261937 w 12192418"/>
              <a:gd name="connsiteY19" fmla="*/ 508998 h 5095933"/>
              <a:gd name="connsiteX20" fmla="*/ 5503332 w 12192418"/>
              <a:gd name="connsiteY20" fmla="*/ 514953 h 5095933"/>
              <a:gd name="connsiteX21" fmla="*/ 5747167 w 12192418"/>
              <a:gd name="connsiteY21" fmla="*/ 521259 h 5095933"/>
              <a:gd name="connsiteX22" fmla="*/ 5995877 w 12192418"/>
              <a:gd name="connsiteY22" fmla="*/ 525463 h 5095933"/>
              <a:gd name="connsiteX23" fmla="*/ 6247026 w 12192418"/>
              <a:gd name="connsiteY23" fmla="*/ 525463 h 5095933"/>
              <a:gd name="connsiteX24" fmla="*/ 6500613 w 12192418"/>
              <a:gd name="connsiteY24" fmla="*/ 527565 h 5095933"/>
              <a:gd name="connsiteX25" fmla="*/ 6756639 w 12192418"/>
              <a:gd name="connsiteY25" fmla="*/ 525463 h 5095933"/>
              <a:gd name="connsiteX26" fmla="*/ 7016322 w 12192418"/>
              <a:gd name="connsiteY26" fmla="*/ 521259 h 5095933"/>
              <a:gd name="connsiteX27" fmla="*/ 7276005 w 12192418"/>
              <a:gd name="connsiteY27" fmla="*/ 517406 h 5095933"/>
              <a:gd name="connsiteX28" fmla="*/ 7539345 w 12192418"/>
              <a:gd name="connsiteY28" fmla="*/ 508998 h 5095933"/>
              <a:gd name="connsiteX29" fmla="*/ 7805124 w 12192418"/>
              <a:gd name="connsiteY29" fmla="*/ 500241 h 5095933"/>
              <a:gd name="connsiteX30" fmla="*/ 8070903 w 12192418"/>
              <a:gd name="connsiteY30" fmla="*/ 490082 h 5095933"/>
              <a:gd name="connsiteX31" fmla="*/ 8339121 w 12192418"/>
              <a:gd name="connsiteY31" fmla="*/ 475719 h 5095933"/>
              <a:gd name="connsiteX32" fmla="*/ 8609776 w 12192418"/>
              <a:gd name="connsiteY32" fmla="*/ 458554 h 5095933"/>
              <a:gd name="connsiteX33" fmla="*/ 8881651 w 12192418"/>
              <a:gd name="connsiteY33" fmla="*/ 442089 h 5095933"/>
              <a:gd name="connsiteX34" fmla="*/ 9153526 w 12192418"/>
              <a:gd name="connsiteY34" fmla="*/ 421071 h 5095933"/>
              <a:gd name="connsiteX35" fmla="*/ 9429058 w 12192418"/>
              <a:gd name="connsiteY35" fmla="*/ 395849 h 5095933"/>
              <a:gd name="connsiteX36" fmla="*/ 9700933 w 12192418"/>
              <a:gd name="connsiteY36" fmla="*/ 370626 h 5095933"/>
              <a:gd name="connsiteX37" fmla="*/ 9977684 w 12192418"/>
              <a:gd name="connsiteY37" fmla="*/ 341551 h 5095933"/>
              <a:gd name="connsiteX38" fmla="*/ 10255655 w 12192418"/>
              <a:gd name="connsiteY38" fmla="*/ 309673 h 5095933"/>
              <a:gd name="connsiteX39" fmla="*/ 10529968 w 12192418"/>
              <a:gd name="connsiteY39" fmla="*/ 276043 h 5095933"/>
              <a:gd name="connsiteX40" fmla="*/ 10807939 w 12192418"/>
              <a:gd name="connsiteY40" fmla="*/ 236809 h 5095933"/>
              <a:gd name="connsiteX41" fmla="*/ 11084690 w 12192418"/>
              <a:gd name="connsiteY41" fmla="*/ 194772 h 5095933"/>
              <a:gd name="connsiteX42" fmla="*/ 11362661 w 12192418"/>
              <a:gd name="connsiteY42" fmla="*/ 153085 h 5095933"/>
              <a:gd name="connsiteX43" fmla="*/ 11639412 w 12192418"/>
              <a:gd name="connsiteY43" fmla="*/ 104392 h 5095933"/>
              <a:gd name="connsiteX44" fmla="*/ 11914945 w 12192418"/>
              <a:gd name="connsiteY44" fmla="*/ 54648 h 5095933"/>
              <a:gd name="connsiteX45" fmla="*/ 12191696 w 12192418"/>
              <a:gd name="connsiteY45" fmla="*/ 2452 h 5095933"/>
              <a:gd name="connsiteX46" fmla="*/ 12191696 w 12192418"/>
              <a:gd name="connsiteY46" fmla="*/ 2109542 h 5095933"/>
              <a:gd name="connsiteX47" fmla="*/ 12191999 w 12192418"/>
              <a:gd name="connsiteY47" fmla="*/ 2109542 h 5095933"/>
              <a:gd name="connsiteX48" fmla="*/ 12191999 w 12192418"/>
              <a:gd name="connsiteY48" fmla="*/ 2802467 h 5095933"/>
              <a:gd name="connsiteX49" fmla="*/ 12192418 w 12192418"/>
              <a:gd name="connsiteY49" fmla="*/ 2802467 h 5095933"/>
              <a:gd name="connsiteX50" fmla="*/ 12192418 w 12192418"/>
              <a:gd name="connsiteY50" fmla="*/ 5095933 h 5095933"/>
              <a:gd name="connsiteX51" fmla="*/ 1 w 12192418"/>
              <a:gd name="connsiteY51" fmla="*/ 5095933 h 5095933"/>
              <a:gd name="connsiteX52" fmla="*/ 1 w 12192418"/>
              <a:gd name="connsiteY52" fmla="*/ 4074529 h 5095933"/>
              <a:gd name="connsiteX53" fmla="*/ 0 w 12192418"/>
              <a:gd name="connsiteY53" fmla="*/ 4074529 h 5095933"/>
              <a:gd name="connsiteX54" fmla="*/ 0 w 12192418"/>
              <a:gd name="connsiteY54" fmla="*/ 2109542 h 5095933"/>
              <a:gd name="connsiteX55" fmla="*/ 1 w 12192418"/>
              <a:gd name="connsiteY55" fmla="*/ 2109542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2418" h="5095933">
                <a:moveTo>
                  <a:pt x="1" y="0"/>
                </a:moveTo>
                <a:lnTo>
                  <a:pt x="71932" y="12261"/>
                </a:lnTo>
                <a:lnTo>
                  <a:pt x="282849" y="48343"/>
                </a:lnTo>
                <a:lnTo>
                  <a:pt x="436464" y="73565"/>
                </a:lnTo>
                <a:lnTo>
                  <a:pt x="619339" y="100188"/>
                </a:lnTo>
                <a:lnTo>
                  <a:pt x="836351" y="132066"/>
                </a:lnTo>
                <a:lnTo>
                  <a:pt x="1076528" y="165696"/>
                </a:lnTo>
                <a:lnTo>
                  <a:pt x="1347184" y="201077"/>
                </a:lnTo>
                <a:lnTo>
                  <a:pt x="1642223" y="238560"/>
                </a:lnTo>
                <a:lnTo>
                  <a:pt x="1962864" y="276043"/>
                </a:lnTo>
                <a:lnTo>
                  <a:pt x="2304232" y="314227"/>
                </a:lnTo>
                <a:lnTo>
                  <a:pt x="2672421" y="349608"/>
                </a:lnTo>
                <a:lnTo>
                  <a:pt x="3057678" y="383588"/>
                </a:lnTo>
                <a:lnTo>
                  <a:pt x="3464881" y="414415"/>
                </a:lnTo>
                <a:lnTo>
                  <a:pt x="3889152" y="443841"/>
                </a:lnTo>
                <a:lnTo>
                  <a:pt x="4331710" y="471515"/>
                </a:lnTo>
                <a:lnTo>
                  <a:pt x="4558476" y="481324"/>
                </a:lnTo>
                <a:lnTo>
                  <a:pt x="4790118" y="492183"/>
                </a:lnTo>
                <a:lnTo>
                  <a:pt x="5025418" y="502342"/>
                </a:lnTo>
                <a:lnTo>
                  <a:pt x="5261937" y="508998"/>
                </a:lnTo>
                <a:lnTo>
                  <a:pt x="5503332" y="514953"/>
                </a:lnTo>
                <a:lnTo>
                  <a:pt x="5747167" y="521259"/>
                </a:lnTo>
                <a:lnTo>
                  <a:pt x="5995877" y="525463"/>
                </a:lnTo>
                <a:lnTo>
                  <a:pt x="6247026" y="525463"/>
                </a:lnTo>
                <a:lnTo>
                  <a:pt x="6500613" y="527565"/>
                </a:lnTo>
                <a:lnTo>
                  <a:pt x="6756639" y="525463"/>
                </a:lnTo>
                <a:lnTo>
                  <a:pt x="7016322" y="521259"/>
                </a:lnTo>
                <a:lnTo>
                  <a:pt x="7276005" y="517406"/>
                </a:lnTo>
                <a:lnTo>
                  <a:pt x="7539345" y="508998"/>
                </a:lnTo>
                <a:lnTo>
                  <a:pt x="7805124" y="500241"/>
                </a:lnTo>
                <a:lnTo>
                  <a:pt x="8070903" y="490082"/>
                </a:lnTo>
                <a:lnTo>
                  <a:pt x="8339121" y="475719"/>
                </a:lnTo>
                <a:lnTo>
                  <a:pt x="8609776" y="458554"/>
                </a:lnTo>
                <a:lnTo>
                  <a:pt x="8881651" y="442089"/>
                </a:lnTo>
                <a:lnTo>
                  <a:pt x="9153526" y="421071"/>
                </a:lnTo>
                <a:lnTo>
                  <a:pt x="9429058" y="395849"/>
                </a:lnTo>
                <a:lnTo>
                  <a:pt x="9700933" y="370626"/>
                </a:lnTo>
                <a:lnTo>
                  <a:pt x="9977684" y="341551"/>
                </a:lnTo>
                <a:lnTo>
                  <a:pt x="10255655" y="309673"/>
                </a:lnTo>
                <a:lnTo>
                  <a:pt x="10529968" y="276043"/>
                </a:lnTo>
                <a:lnTo>
                  <a:pt x="10807939" y="236809"/>
                </a:lnTo>
                <a:lnTo>
                  <a:pt x="11084690" y="194772"/>
                </a:lnTo>
                <a:lnTo>
                  <a:pt x="11362661" y="153085"/>
                </a:lnTo>
                <a:lnTo>
                  <a:pt x="11639412" y="104392"/>
                </a:lnTo>
                <a:lnTo>
                  <a:pt x="11914945" y="54648"/>
                </a:lnTo>
                <a:lnTo>
                  <a:pt x="12191696" y="2452"/>
                </a:lnTo>
                <a:lnTo>
                  <a:pt x="12191696" y="2109542"/>
                </a:lnTo>
                <a:lnTo>
                  <a:pt x="12191999" y="2109542"/>
                </a:lnTo>
                <a:lnTo>
                  <a:pt x="12191999" y="2802467"/>
                </a:lnTo>
                <a:lnTo>
                  <a:pt x="12192418" y="2802467"/>
                </a:lnTo>
                <a:lnTo>
                  <a:pt x="12192418" y="5095933"/>
                </a:lnTo>
                <a:lnTo>
                  <a:pt x="1" y="5095933"/>
                </a:lnTo>
                <a:lnTo>
                  <a:pt x="1" y="4074529"/>
                </a:lnTo>
                <a:lnTo>
                  <a:pt x="0" y="4074529"/>
                </a:lnTo>
                <a:lnTo>
                  <a:pt x="0" y="2109542"/>
                </a:lnTo>
                <a:lnTo>
                  <a:pt x="1" y="2109542"/>
                </a:lnTo>
                <a:close/>
              </a:path>
            </a:pathLst>
          </a:custGeom>
          <a:solidFill>
            <a:schemeClr val="bg1"/>
          </a:solidFill>
          <a:ln>
            <a:noFill/>
          </a:ln>
        </p:spPr>
        <p:txBody>
          <a:bodyPr/>
          <a:lstStyle/>
          <a:p>
            <a:endParaRPr lang="en-US"/>
          </a:p>
        </p:txBody>
      </p:sp>
      <p:sp>
        <p:nvSpPr>
          <p:cNvPr id="6" name="Rectangle 1">
            <a:extLst>
              <a:ext uri="{FF2B5EF4-FFF2-40B4-BE49-F238E27FC236}">
                <a16:creationId xmlns:a16="http://schemas.microsoft.com/office/drawing/2014/main" id="{E0BCD753-4324-21EE-61E2-E7D2E7729182}"/>
              </a:ext>
            </a:extLst>
          </p:cNvPr>
          <p:cNvSpPr>
            <a:spLocks noChangeArrowheads="1"/>
          </p:cNvSpPr>
          <p:nvPr/>
        </p:nvSpPr>
        <p:spPr bwMode="auto">
          <a:xfrm>
            <a:off x="-2896220" y="-12649"/>
            <a:ext cx="15088220" cy="4698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graphicFrame>
        <p:nvGraphicFramePr>
          <p:cNvPr id="7" name="Content Placeholder 6">
            <a:extLst>
              <a:ext uri="{FF2B5EF4-FFF2-40B4-BE49-F238E27FC236}">
                <a16:creationId xmlns:a16="http://schemas.microsoft.com/office/drawing/2014/main" id="{0EB315CA-4523-FAD0-6E09-B9940F95BC40}"/>
              </a:ext>
            </a:extLst>
          </p:cNvPr>
          <p:cNvGraphicFramePr>
            <a:graphicFrameLocks noGrp="1"/>
          </p:cNvGraphicFramePr>
          <p:nvPr>
            <p:ph idx="1"/>
            <p:extLst>
              <p:ext uri="{D42A27DB-BD31-4B8C-83A1-F6EECF244321}">
                <p14:modId xmlns:p14="http://schemas.microsoft.com/office/powerpoint/2010/main" val="2406504636"/>
              </p:ext>
            </p:extLst>
          </p:nvPr>
        </p:nvGraphicFramePr>
        <p:xfrm>
          <a:off x="1267342" y="2485593"/>
          <a:ext cx="9657314" cy="3404284"/>
        </p:xfrm>
        <a:graphic>
          <a:graphicData uri="http://schemas.openxmlformats.org/drawingml/2006/table">
            <a:tbl>
              <a:tblPr firstRow="1" firstCol="1" bandRow="1">
                <a:tableStyleId>{5C22544A-7EE6-4342-B048-85BDC9FD1C3A}</a:tableStyleId>
              </a:tblPr>
              <a:tblGrid>
                <a:gridCol w="1490869">
                  <a:extLst>
                    <a:ext uri="{9D8B030D-6E8A-4147-A177-3AD203B41FA5}">
                      <a16:colId xmlns:a16="http://schemas.microsoft.com/office/drawing/2014/main" val="3552584695"/>
                    </a:ext>
                  </a:extLst>
                </a:gridCol>
                <a:gridCol w="6360376">
                  <a:extLst>
                    <a:ext uri="{9D8B030D-6E8A-4147-A177-3AD203B41FA5}">
                      <a16:colId xmlns:a16="http://schemas.microsoft.com/office/drawing/2014/main" val="814131483"/>
                    </a:ext>
                  </a:extLst>
                </a:gridCol>
                <a:gridCol w="1806069">
                  <a:extLst>
                    <a:ext uri="{9D8B030D-6E8A-4147-A177-3AD203B41FA5}">
                      <a16:colId xmlns:a16="http://schemas.microsoft.com/office/drawing/2014/main" val="2200585745"/>
                    </a:ext>
                  </a:extLst>
                </a:gridCol>
              </a:tblGrid>
              <a:tr h="292952">
                <a:tc>
                  <a:txBody>
                    <a:bodyPr/>
                    <a:lstStyle/>
                    <a:p>
                      <a:pPr marL="0" marR="0">
                        <a:lnSpc>
                          <a:spcPct val="110000"/>
                        </a:lnSpc>
                        <a:spcAft>
                          <a:spcPts val="600"/>
                        </a:spcAft>
                        <a:buNone/>
                      </a:pPr>
                      <a:r>
                        <a:rPr lang="en-US" sz="1800">
                          <a:effectLst/>
                          <a:latin typeface="+mj-lt"/>
                        </a:rPr>
                        <a:t>Date</a:t>
                      </a:r>
                      <a:endParaRPr lang="en-US" sz="1800">
                        <a:effectLst/>
                        <a:latin typeface="+mj-lt"/>
                        <a:ea typeface="MS PGothic"/>
                        <a:cs typeface="Arial"/>
                      </a:endParaRPr>
                    </a:p>
                  </a:txBody>
                  <a:tcPr marL="81806" marR="81806" marT="0" marB="0"/>
                </a:tc>
                <a:tc>
                  <a:txBody>
                    <a:bodyPr/>
                    <a:lstStyle/>
                    <a:p>
                      <a:pPr marL="0" marR="0">
                        <a:lnSpc>
                          <a:spcPct val="110000"/>
                        </a:lnSpc>
                        <a:spcAft>
                          <a:spcPts val="600"/>
                        </a:spcAft>
                        <a:buNone/>
                      </a:pPr>
                      <a:r>
                        <a:rPr lang="en-US" sz="1800">
                          <a:effectLst/>
                          <a:latin typeface="+mj-lt"/>
                        </a:rPr>
                        <a:t>Task</a:t>
                      </a:r>
                      <a:endParaRPr lang="en-US" sz="1800">
                        <a:effectLst/>
                        <a:latin typeface="+mj-lt"/>
                        <a:ea typeface="MS PGothic"/>
                        <a:cs typeface="Arial"/>
                      </a:endParaRPr>
                    </a:p>
                  </a:txBody>
                  <a:tcPr marL="81806" marR="81806" marT="0" marB="0"/>
                </a:tc>
                <a:tc>
                  <a:txBody>
                    <a:bodyPr/>
                    <a:lstStyle/>
                    <a:p>
                      <a:pPr marL="0" marR="0">
                        <a:lnSpc>
                          <a:spcPct val="110000"/>
                        </a:lnSpc>
                        <a:spcAft>
                          <a:spcPts val="600"/>
                        </a:spcAft>
                        <a:buNone/>
                      </a:pPr>
                      <a:r>
                        <a:rPr lang="en-US" sz="1800">
                          <a:effectLst/>
                          <a:latin typeface="+mj-lt"/>
                        </a:rPr>
                        <a:t>Duration</a:t>
                      </a:r>
                      <a:endParaRPr lang="en-US" sz="1800">
                        <a:effectLst/>
                        <a:latin typeface="+mj-lt"/>
                        <a:ea typeface="MS PGothic"/>
                        <a:cs typeface="Arial"/>
                      </a:endParaRPr>
                    </a:p>
                  </a:txBody>
                  <a:tcPr marL="81806" marR="81806" marT="0" marB="0"/>
                </a:tc>
                <a:extLst>
                  <a:ext uri="{0D108BD9-81ED-4DB2-BD59-A6C34878D82A}">
                    <a16:rowId xmlns:a16="http://schemas.microsoft.com/office/drawing/2014/main" val="1073198038"/>
                  </a:ext>
                </a:extLst>
              </a:tr>
              <a:tr h="306691">
                <a:tc>
                  <a:txBody>
                    <a:bodyPr/>
                    <a:lstStyle/>
                    <a:p>
                      <a:pPr marL="0" marR="0">
                        <a:lnSpc>
                          <a:spcPct val="110000"/>
                        </a:lnSpc>
                        <a:spcAft>
                          <a:spcPts val="600"/>
                        </a:spcAft>
                        <a:buNone/>
                      </a:pPr>
                      <a:r>
                        <a:rPr lang="en-US" sz="1800">
                          <a:effectLst/>
                          <a:latin typeface="+mj-lt"/>
                          <a:ea typeface="MS PGothic"/>
                          <a:cs typeface="Arial"/>
                        </a:rPr>
                        <a:t>10/23/2025</a:t>
                      </a:r>
                    </a:p>
                  </a:txBody>
                  <a:tcPr marL="60809" marR="60809" marT="0" marB="0"/>
                </a:tc>
                <a:tc>
                  <a:txBody>
                    <a:bodyPr/>
                    <a:lstStyle/>
                    <a:p>
                      <a:pPr marL="0" marR="0">
                        <a:lnSpc>
                          <a:spcPct val="110000"/>
                        </a:lnSpc>
                        <a:spcAft>
                          <a:spcPts val="600"/>
                        </a:spcAft>
                        <a:buNone/>
                      </a:pPr>
                      <a:r>
                        <a:rPr lang="en-US" sz="1800">
                          <a:effectLst/>
                          <a:latin typeface="+mj-lt"/>
                          <a:ea typeface="MS PGothic"/>
                          <a:cs typeface="Arial"/>
                        </a:rPr>
                        <a:t>Mentor/advisor meetings, group discussion</a:t>
                      </a:r>
                    </a:p>
                  </a:txBody>
                  <a:tcPr marL="60809" marR="60809" marT="0" marB="0"/>
                </a:tc>
                <a:tc>
                  <a:txBody>
                    <a:bodyPr/>
                    <a:lstStyle/>
                    <a:p>
                      <a:pPr marL="0" marR="0">
                        <a:lnSpc>
                          <a:spcPct val="110000"/>
                        </a:lnSpc>
                        <a:spcAft>
                          <a:spcPts val="600"/>
                        </a:spcAft>
                        <a:buNone/>
                      </a:pPr>
                      <a:r>
                        <a:rPr lang="en-US" sz="1800">
                          <a:effectLst/>
                          <a:latin typeface="+mj-lt"/>
                          <a:ea typeface="MS PGothic"/>
                          <a:cs typeface="Arial"/>
                        </a:rPr>
                        <a:t>3 hours</a:t>
                      </a:r>
                    </a:p>
                  </a:txBody>
                  <a:tcPr marL="60809" marR="60809" marT="0" marB="0"/>
                </a:tc>
                <a:extLst>
                  <a:ext uri="{0D108BD9-81ED-4DB2-BD59-A6C34878D82A}">
                    <a16:rowId xmlns:a16="http://schemas.microsoft.com/office/drawing/2014/main" val="3288249031"/>
                  </a:ext>
                </a:extLst>
              </a:tr>
              <a:tr h="671543">
                <a:tc>
                  <a:txBody>
                    <a:bodyPr/>
                    <a:lstStyle/>
                    <a:p>
                      <a:pPr marL="0" marR="0">
                        <a:lnSpc>
                          <a:spcPct val="110000"/>
                        </a:lnSpc>
                        <a:spcAft>
                          <a:spcPts val="600"/>
                        </a:spcAft>
                        <a:buNone/>
                      </a:pPr>
                      <a:r>
                        <a:rPr lang="en-US" sz="1800">
                          <a:effectLst/>
                          <a:latin typeface="+mj-lt"/>
                          <a:ea typeface="MS PGothic"/>
                          <a:cs typeface="Arial"/>
                        </a:rPr>
                        <a:t>10/30/2025</a:t>
                      </a:r>
                    </a:p>
                  </a:txBody>
                  <a:tcPr marL="60809" marR="60809" marT="0" marB="0"/>
                </a:tc>
                <a:tc>
                  <a:txBody>
                    <a:bodyPr/>
                    <a:lstStyle/>
                    <a:p>
                      <a:pPr marL="0" marR="0">
                        <a:lnSpc>
                          <a:spcPct val="110000"/>
                        </a:lnSpc>
                        <a:spcAft>
                          <a:spcPts val="600"/>
                        </a:spcAft>
                        <a:buNone/>
                      </a:pPr>
                      <a:r>
                        <a:rPr lang="en-US" sz="1800">
                          <a:effectLst/>
                          <a:latin typeface="+mj-lt"/>
                          <a:ea typeface="MS PGothic"/>
                          <a:cs typeface="Arial"/>
                        </a:rPr>
                        <a:t>UML Class Diagram</a:t>
                      </a:r>
                    </a:p>
                    <a:p>
                      <a:pPr marL="0" marR="0">
                        <a:lnSpc>
                          <a:spcPct val="110000"/>
                        </a:lnSpc>
                        <a:spcAft>
                          <a:spcPts val="600"/>
                        </a:spcAft>
                        <a:buNone/>
                      </a:pPr>
                      <a:r>
                        <a:rPr lang="en-US" sz="1800">
                          <a:effectLst/>
                          <a:latin typeface="+mj-lt"/>
                          <a:ea typeface="MS PGothic"/>
                          <a:cs typeface="Arial"/>
                        </a:rPr>
                        <a:t>Tour of production facility, group discussion</a:t>
                      </a:r>
                    </a:p>
                  </a:txBody>
                  <a:tcPr marL="60809" marR="60809" marT="0" marB="0"/>
                </a:tc>
                <a:tc>
                  <a:txBody>
                    <a:bodyPr/>
                    <a:lstStyle/>
                    <a:p>
                      <a:pPr marL="0" marR="0">
                        <a:lnSpc>
                          <a:spcPct val="110000"/>
                        </a:lnSpc>
                        <a:spcAft>
                          <a:spcPts val="600"/>
                        </a:spcAft>
                        <a:buNone/>
                      </a:pPr>
                      <a:r>
                        <a:rPr lang="en-US" sz="1800">
                          <a:effectLst/>
                          <a:latin typeface="+mj-lt"/>
                          <a:ea typeface="MS PGothic"/>
                          <a:cs typeface="Arial"/>
                        </a:rPr>
                        <a:t>2 hours</a:t>
                      </a:r>
                    </a:p>
                  </a:txBody>
                  <a:tcPr marL="60809" marR="60809" marT="0" marB="0"/>
                </a:tc>
                <a:extLst>
                  <a:ext uri="{0D108BD9-81ED-4DB2-BD59-A6C34878D82A}">
                    <a16:rowId xmlns:a16="http://schemas.microsoft.com/office/drawing/2014/main" val="698044160"/>
                  </a:ext>
                </a:extLst>
              </a:tr>
              <a:tr h="306691">
                <a:tc>
                  <a:txBody>
                    <a:bodyPr/>
                    <a:lstStyle/>
                    <a:p>
                      <a:pPr marL="0" marR="0">
                        <a:lnSpc>
                          <a:spcPct val="110000"/>
                        </a:lnSpc>
                        <a:spcAft>
                          <a:spcPts val="600"/>
                        </a:spcAft>
                        <a:buNone/>
                      </a:pPr>
                      <a:r>
                        <a:rPr lang="en-US" sz="1800">
                          <a:effectLst/>
                          <a:latin typeface="+mj-lt"/>
                          <a:ea typeface="MS PGothic"/>
                          <a:cs typeface="Arial"/>
                        </a:rPr>
                        <a:t>11/6/2025</a:t>
                      </a:r>
                    </a:p>
                  </a:txBody>
                  <a:tcPr marL="60809" marR="60809" marT="0" marB="0"/>
                </a:tc>
                <a:tc>
                  <a:txBody>
                    <a:bodyPr/>
                    <a:lstStyle/>
                    <a:p>
                      <a:pPr marL="0" marR="0">
                        <a:lnSpc>
                          <a:spcPct val="110000"/>
                        </a:lnSpc>
                        <a:spcAft>
                          <a:spcPts val="600"/>
                        </a:spcAft>
                        <a:buNone/>
                      </a:pPr>
                      <a:r>
                        <a:rPr lang="en-US" sz="1800">
                          <a:effectLst/>
                          <a:latin typeface="+mj-lt"/>
                          <a:ea typeface="MS PGothic"/>
                          <a:cs typeface="Arial"/>
                        </a:rPr>
                        <a:t>Mentor/advisor meetings, group discussion</a:t>
                      </a:r>
                    </a:p>
                  </a:txBody>
                  <a:tcPr marL="60809" marR="60809" marT="0" marB="0"/>
                </a:tc>
                <a:tc>
                  <a:txBody>
                    <a:bodyPr/>
                    <a:lstStyle/>
                    <a:p>
                      <a:pPr marL="0" marR="0">
                        <a:lnSpc>
                          <a:spcPct val="110000"/>
                        </a:lnSpc>
                        <a:spcAft>
                          <a:spcPts val="600"/>
                        </a:spcAft>
                        <a:buNone/>
                      </a:pPr>
                      <a:r>
                        <a:rPr lang="en-US" sz="1800">
                          <a:effectLst/>
                          <a:latin typeface="+mj-lt"/>
                          <a:ea typeface="MS PGothic"/>
                          <a:cs typeface="Arial"/>
                        </a:rPr>
                        <a:t>3 hours</a:t>
                      </a:r>
                    </a:p>
                  </a:txBody>
                  <a:tcPr marL="60809" marR="60809" marT="0" marB="0"/>
                </a:tc>
                <a:extLst>
                  <a:ext uri="{0D108BD9-81ED-4DB2-BD59-A6C34878D82A}">
                    <a16:rowId xmlns:a16="http://schemas.microsoft.com/office/drawing/2014/main" val="3808639089"/>
                  </a:ext>
                </a:extLst>
              </a:tr>
              <a:tr h="306691">
                <a:tc>
                  <a:txBody>
                    <a:bodyPr/>
                    <a:lstStyle/>
                    <a:p>
                      <a:pPr marL="0" marR="0">
                        <a:lnSpc>
                          <a:spcPct val="110000"/>
                        </a:lnSpc>
                        <a:spcAft>
                          <a:spcPts val="600"/>
                        </a:spcAft>
                        <a:buNone/>
                      </a:pPr>
                      <a:r>
                        <a:rPr lang="en-US" sz="1800">
                          <a:effectLst/>
                          <a:latin typeface="+mj-lt"/>
                          <a:ea typeface="MS PGothic"/>
                          <a:cs typeface="Arial"/>
                        </a:rPr>
                        <a:t>11/12/2025</a:t>
                      </a:r>
                    </a:p>
                  </a:txBody>
                  <a:tcPr marL="60809" marR="60809" marT="0" marB="0"/>
                </a:tc>
                <a:tc>
                  <a:txBody>
                    <a:bodyPr/>
                    <a:lstStyle/>
                    <a:p>
                      <a:pPr marL="0" marR="0">
                        <a:lnSpc>
                          <a:spcPct val="110000"/>
                        </a:lnSpc>
                        <a:spcAft>
                          <a:spcPts val="600"/>
                        </a:spcAft>
                        <a:buNone/>
                      </a:pPr>
                      <a:r>
                        <a:rPr lang="en-US" sz="1800">
                          <a:effectLst/>
                          <a:latin typeface="+mj-lt"/>
                          <a:ea typeface="MS PGothic"/>
                          <a:cs typeface="Arial"/>
                        </a:rPr>
                        <a:t>Fixing old requirments</a:t>
                      </a:r>
                      <a:endParaRPr lang="en-US" sz="1800" err="1">
                        <a:effectLst/>
                        <a:latin typeface="+mj-lt"/>
                        <a:ea typeface="MS PGothic"/>
                        <a:cs typeface="Arial"/>
                      </a:endParaRPr>
                    </a:p>
                  </a:txBody>
                  <a:tcPr marL="60809" marR="60809" marT="0" marB="0"/>
                </a:tc>
                <a:tc>
                  <a:txBody>
                    <a:bodyPr/>
                    <a:lstStyle/>
                    <a:p>
                      <a:pPr marL="0" marR="0">
                        <a:lnSpc>
                          <a:spcPct val="110000"/>
                        </a:lnSpc>
                        <a:spcAft>
                          <a:spcPts val="600"/>
                        </a:spcAft>
                        <a:buNone/>
                      </a:pPr>
                      <a:r>
                        <a:rPr lang="en-US" sz="1800">
                          <a:effectLst/>
                          <a:latin typeface="+mj-lt"/>
                          <a:ea typeface="MS PGothic"/>
                          <a:cs typeface="Arial"/>
                        </a:rPr>
                        <a:t>5 hours</a:t>
                      </a:r>
                    </a:p>
                  </a:txBody>
                  <a:tcPr marL="60809" marR="60809" marT="0" marB="0"/>
                </a:tc>
                <a:extLst>
                  <a:ext uri="{0D108BD9-81ED-4DB2-BD59-A6C34878D82A}">
                    <a16:rowId xmlns:a16="http://schemas.microsoft.com/office/drawing/2014/main" val="2885894014"/>
                  </a:ext>
                </a:extLst>
              </a:tr>
              <a:tr h="306691">
                <a:tc>
                  <a:txBody>
                    <a:bodyPr/>
                    <a:lstStyle/>
                    <a:p>
                      <a:pPr marL="0" marR="0">
                        <a:lnSpc>
                          <a:spcPct val="110000"/>
                        </a:lnSpc>
                        <a:spcAft>
                          <a:spcPts val="600"/>
                        </a:spcAft>
                        <a:buNone/>
                      </a:pPr>
                      <a:r>
                        <a:rPr lang="en-US" sz="1800">
                          <a:effectLst/>
                          <a:latin typeface="+mj-lt"/>
                          <a:ea typeface="MS PGothic"/>
                          <a:cs typeface="Arial"/>
                        </a:rPr>
                        <a:t>11/13/2025</a:t>
                      </a:r>
                    </a:p>
                  </a:txBody>
                  <a:tcPr marL="60809" marR="60809" marT="0" marB="0"/>
                </a:tc>
                <a:tc>
                  <a:txBody>
                    <a:bodyPr/>
                    <a:lstStyle/>
                    <a:p>
                      <a:pPr marL="0" marR="0">
                        <a:lnSpc>
                          <a:spcPct val="110000"/>
                        </a:lnSpc>
                        <a:spcAft>
                          <a:spcPts val="600"/>
                        </a:spcAft>
                        <a:buNone/>
                      </a:pPr>
                      <a:r>
                        <a:rPr lang="en-US" sz="1800">
                          <a:effectLst/>
                          <a:latin typeface="+mj-lt"/>
                          <a:ea typeface="MS PGothic"/>
                          <a:cs typeface="Arial"/>
                        </a:rPr>
                        <a:t>Mentor/advisor meetings, group discussion</a:t>
                      </a:r>
                    </a:p>
                  </a:txBody>
                  <a:tcPr marL="60809" marR="60809" marT="0" marB="0"/>
                </a:tc>
                <a:tc>
                  <a:txBody>
                    <a:bodyPr/>
                    <a:lstStyle/>
                    <a:p>
                      <a:pPr marL="0" marR="0">
                        <a:lnSpc>
                          <a:spcPct val="110000"/>
                        </a:lnSpc>
                        <a:spcAft>
                          <a:spcPts val="600"/>
                        </a:spcAft>
                        <a:buNone/>
                      </a:pPr>
                      <a:r>
                        <a:rPr lang="en-US" sz="1800">
                          <a:effectLst/>
                          <a:latin typeface="+mj-lt"/>
                          <a:ea typeface="MS PGothic"/>
                          <a:cs typeface="Arial"/>
                        </a:rPr>
                        <a:t>3 hours</a:t>
                      </a:r>
                    </a:p>
                  </a:txBody>
                  <a:tcPr marL="60809" marR="60809" marT="0" marB="0"/>
                </a:tc>
                <a:extLst>
                  <a:ext uri="{0D108BD9-81ED-4DB2-BD59-A6C34878D82A}">
                    <a16:rowId xmlns:a16="http://schemas.microsoft.com/office/drawing/2014/main" val="2941269822"/>
                  </a:ext>
                </a:extLst>
              </a:tr>
              <a:tr h="306691">
                <a:tc>
                  <a:txBody>
                    <a:bodyPr/>
                    <a:lstStyle/>
                    <a:p>
                      <a:pPr marL="0" marR="0">
                        <a:lnSpc>
                          <a:spcPct val="110000"/>
                        </a:lnSpc>
                        <a:spcAft>
                          <a:spcPts val="600"/>
                        </a:spcAft>
                        <a:buNone/>
                      </a:pPr>
                      <a:r>
                        <a:rPr lang="en-US" sz="1800">
                          <a:effectLst/>
                          <a:latin typeface="+mj-lt"/>
                          <a:ea typeface="MS PGothic"/>
                          <a:cs typeface="Arial"/>
                        </a:rPr>
                        <a:t>11/14/2025</a:t>
                      </a:r>
                    </a:p>
                  </a:txBody>
                  <a:tcPr marL="60809" marR="60809" marT="0" marB="0"/>
                </a:tc>
                <a:tc>
                  <a:txBody>
                    <a:bodyPr/>
                    <a:lstStyle/>
                    <a:p>
                      <a:pPr marL="0" marR="0">
                        <a:lnSpc>
                          <a:spcPct val="110000"/>
                        </a:lnSpc>
                        <a:spcAft>
                          <a:spcPts val="600"/>
                        </a:spcAft>
                        <a:buNone/>
                      </a:pPr>
                      <a:r>
                        <a:rPr lang="en-US" sz="1800">
                          <a:effectLst/>
                          <a:latin typeface="+mj-lt"/>
                          <a:ea typeface="MS PGothic"/>
                          <a:cs typeface="Arial"/>
                        </a:rPr>
                        <a:t>Test Cases</a:t>
                      </a:r>
                    </a:p>
                  </a:txBody>
                  <a:tcPr marL="60809" marR="60809" marT="0" marB="0"/>
                </a:tc>
                <a:tc>
                  <a:txBody>
                    <a:bodyPr/>
                    <a:lstStyle/>
                    <a:p>
                      <a:pPr marL="0" marR="0">
                        <a:lnSpc>
                          <a:spcPct val="110000"/>
                        </a:lnSpc>
                        <a:spcAft>
                          <a:spcPts val="600"/>
                        </a:spcAft>
                        <a:buNone/>
                      </a:pPr>
                      <a:r>
                        <a:rPr lang="en-US" sz="1800">
                          <a:effectLst/>
                          <a:latin typeface="+mj-lt"/>
                          <a:ea typeface="MS PGothic"/>
                          <a:cs typeface="Arial"/>
                        </a:rPr>
                        <a:t>4 hour</a:t>
                      </a:r>
                    </a:p>
                  </a:txBody>
                  <a:tcPr marL="60809" marR="60809" marT="0" marB="0"/>
                </a:tc>
                <a:extLst>
                  <a:ext uri="{0D108BD9-81ED-4DB2-BD59-A6C34878D82A}">
                    <a16:rowId xmlns:a16="http://schemas.microsoft.com/office/drawing/2014/main" val="2061115925"/>
                  </a:ext>
                </a:extLst>
              </a:tr>
              <a:tr h="306691">
                <a:tc>
                  <a:txBody>
                    <a:bodyPr/>
                    <a:lstStyle/>
                    <a:p>
                      <a:pPr marL="0" marR="0">
                        <a:lnSpc>
                          <a:spcPct val="110000"/>
                        </a:lnSpc>
                        <a:spcAft>
                          <a:spcPts val="600"/>
                        </a:spcAft>
                        <a:buNone/>
                      </a:pPr>
                      <a:r>
                        <a:rPr lang="en-US" sz="1800">
                          <a:effectLst/>
                          <a:latin typeface="+mj-lt"/>
                          <a:ea typeface="MS PGothic"/>
                          <a:cs typeface="Arial"/>
                        </a:rPr>
                        <a:t>11/28/2025</a:t>
                      </a:r>
                    </a:p>
                  </a:txBody>
                  <a:tcPr marL="60809" marR="60809" marT="0" marB="0"/>
                </a:tc>
                <a:tc>
                  <a:txBody>
                    <a:bodyPr/>
                    <a:lstStyle/>
                    <a:p>
                      <a:pPr marL="0" marR="0">
                        <a:lnSpc>
                          <a:spcPct val="110000"/>
                        </a:lnSpc>
                        <a:spcAft>
                          <a:spcPts val="600"/>
                        </a:spcAft>
                        <a:buNone/>
                      </a:pPr>
                      <a:r>
                        <a:rPr lang="en-US" sz="1800">
                          <a:effectLst/>
                          <a:latin typeface="+mj-lt"/>
                          <a:ea typeface="MS PGothic"/>
                          <a:cs typeface="Arial"/>
                        </a:rPr>
                        <a:t>Test Cases Implementation</a:t>
                      </a:r>
                    </a:p>
                  </a:txBody>
                  <a:tcPr marL="60809" marR="60809" marT="0" marB="0"/>
                </a:tc>
                <a:tc>
                  <a:txBody>
                    <a:bodyPr/>
                    <a:lstStyle/>
                    <a:p>
                      <a:pPr marL="0" marR="0">
                        <a:lnSpc>
                          <a:spcPct val="110000"/>
                        </a:lnSpc>
                        <a:spcAft>
                          <a:spcPts val="600"/>
                        </a:spcAft>
                        <a:buNone/>
                      </a:pPr>
                      <a:r>
                        <a:rPr lang="en-US" sz="1800">
                          <a:effectLst/>
                          <a:latin typeface="+mj-lt"/>
                          <a:ea typeface="MS PGothic"/>
                          <a:cs typeface="Arial"/>
                        </a:rPr>
                        <a:t>4 hours</a:t>
                      </a:r>
                    </a:p>
                  </a:txBody>
                  <a:tcPr marL="60809" marR="60809" marT="0" marB="0"/>
                </a:tc>
                <a:extLst>
                  <a:ext uri="{0D108BD9-81ED-4DB2-BD59-A6C34878D82A}">
                    <a16:rowId xmlns:a16="http://schemas.microsoft.com/office/drawing/2014/main" val="3829284505"/>
                  </a:ext>
                </a:extLst>
              </a:tr>
              <a:tr h="306691">
                <a:tc>
                  <a:txBody>
                    <a:bodyPr/>
                    <a:lstStyle/>
                    <a:p>
                      <a:pPr marL="0" marR="0">
                        <a:lnSpc>
                          <a:spcPct val="110000"/>
                        </a:lnSpc>
                        <a:spcAft>
                          <a:spcPts val="600"/>
                        </a:spcAft>
                        <a:buNone/>
                      </a:pPr>
                      <a:r>
                        <a:rPr lang="en-US" sz="1800">
                          <a:effectLst/>
                          <a:latin typeface="+mj-lt"/>
                          <a:ea typeface="MS PGothic"/>
                          <a:cs typeface="Arial"/>
                        </a:rPr>
                        <a:t>12/1/2025</a:t>
                      </a:r>
                    </a:p>
                  </a:txBody>
                  <a:tcPr marL="60809" marR="60809" marT="0" marB="0"/>
                </a:tc>
                <a:tc>
                  <a:txBody>
                    <a:bodyPr/>
                    <a:lstStyle/>
                    <a:p>
                      <a:pPr marL="0" marR="0">
                        <a:lnSpc>
                          <a:spcPct val="110000"/>
                        </a:lnSpc>
                        <a:spcAft>
                          <a:spcPts val="600"/>
                        </a:spcAft>
                        <a:buNone/>
                      </a:pPr>
                      <a:r>
                        <a:rPr lang="en-US" sz="1800">
                          <a:effectLst/>
                          <a:latin typeface="+mj-lt"/>
                          <a:ea typeface="MS PGothic"/>
                          <a:cs typeface="Arial"/>
                        </a:rPr>
                        <a:t>Tests Cases Cont.</a:t>
                      </a:r>
                    </a:p>
                  </a:txBody>
                  <a:tcPr marL="60809" marR="60809" marT="0" marB="0"/>
                </a:tc>
                <a:tc>
                  <a:txBody>
                    <a:bodyPr/>
                    <a:lstStyle/>
                    <a:p>
                      <a:pPr marL="0" marR="0">
                        <a:lnSpc>
                          <a:spcPct val="110000"/>
                        </a:lnSpc>
                        <a:spcAft>
                          <a:spcPts val="600"/>
                        </a:spcAft>
                        <a:buNone/>
                      </a:pPr>
                      <a:r>
                        <a:rPr lang="en-US" sz="1800">
                          <a:effectLst/>
                          <a:latin typeface="+mj-lt"/>
                          <a:ea typeface="MS PGothic"/>
                          <a:cs typeface="Arial"/>
                        </a:rPr>
                        <a:t>6 hours</a:t>
                      </a:r>
                    </a:p>
                  </a:txBody>
                  <a:tcPr marL="60809" marR="60809" marT="0" marB="0"/>
                </a:tc>
                <a:extLst>
                  <a:ext uri="{0D108BD9-81ED-4DB2-BD59-A6C34878D82A}">
                    <a16:rowId xmlns:a16="http://schemas.microsoft.com/office/drawing/2014/main" val="2107488961"/>
                  </a:ext>
                </a:extLst>
              </a:tr>
              <a:tr h="292952">
                <a:tc>
                  <a:txBody>
                    <a:bodyPr/>
                    <a:lstStyle/>
                    <a:p>
                      <a:pPr marL="0" marR="0">
                        <a:lnSpc>
                          <a:spcPct val="110000"/>
                        </a:lnSpc>
                        <a:spcAft>
                          <a:spcPts val="600"/>
                        </a:spcAft>
                        <a:buNone/>
                      </a:pPr>
                      <a:endParaRPr lang="en-US" sz="1800">
                        <a:effectLst/>
                        <a:latin typeface="+mj-lt"/>
                        <a:ea typeface="MS PGothic"/>
                        <a:cs typeface="Arial"/>
                      </a:endParaRPr>
                    </a:p>
                  </a:txBody>
                  <a:tcPr marL="81806" marR="81806" marT="0" marB="0"/>
                </a:tc>
                <a:tc>
                  <a:txBody>
                    <a:bodyPr/>
                    <a:lstStyle/>
                    <a:p>
                      <a:pPr marL="0" marR="0">
                        <a:lnSpc>
                          <a:spcPct val="110000"/>
                        </a:lnSpc>
                        <a:spcAft>
                          <a:spcPts val="600"/>
                        </a:spcAft>
                        <a:buNone/>
                      </a:pPr>
                      <a:endParaRPr lang="en-US" sz="1800">
                        <a:effectLst/>
                        <a:latin typeface="+mj-lt"/>
                        <a:ea typeface="MS PGothic"/>
                        <a:cs typeface="Arial"/>
                      </a:endParaRPr>
                    </a:p>
                  </a:txBody>
                  <a:tcPr marL="81806" marR="81806" marT="0" marB="0"/>
                </a:tc>
                <a:tc>
                  <a:txBody>
                    <a:bodyPr/>
                    <a:lstStyle/>
                    <a:p>
                      <a:pPr marL="0" marR="0">
                        <a:lnSpc>
                          <a:spcPct val="110000"/>
                        </a:lnSpc>
                        <a:spcAft>
                          <a:spcPts val="600"/>
                        </a:spcAft>
                        <a:buNone/>
                      </a:pPr>
                      <a:r>
                        <a:rPr lang="en-US" sz="1800">
                          <a:effectLst/>
                          <a:latin typeface="+mj-lt"/>
                        </a:rPr>
                        <a:t>Total: 29 hours</a:t>
                      </a:r>
                      <a:endParaRPr lang="en-US" sz="1800">
                        <a:effectLst/>
                        <a:latin typeface="+mj-lt"/>
                        <a:ea typeface="MS PGothic"/>
                        <a:cs typeface="Arial"/>
                      </a:endParaRPr>
                    </a:p>
                  </a:txBody>
                  <a:tcPr marL="81806" marR="81806" marT="0" marB="0"/>
                </a:tc>
                <a:extLst>
                  <a:ext uri="{0D108BD9-81ED-4DB2-BD59-A6C34878D82A}">
                    <a16:rowId xmlns:a16="http://schemas.microsoft.com/office/drawing/2014/main" val="1886239318"/>
                  </a:ext>
                </a:extLst>
              </a:tr>
            </a:tbl>
          </a:graphicData>
        </a:graphic>
      </p:graphicFrame>
    </p:spTree>
    <p:extLst>
      <p:ext uri="{BB962C8B-B14F-4D97-AF65-F5344CB8AC3E}">
        <p14:creationId xmlns:p14="http://schemas.microsoft.com/office/powerpoint/2010/main" val="2757429137"/>
      </p:ext>
    </p:extLst>
  </p:cSld>
  <p:clrMapOvr>
    <a:overrideClrMapping bg1="lt1" tx1="dk1" bg2="lt2" tx2="dk2" accent1="accent1" accent2="accent2" accent3="accent3" accent4="accent4" accent5="accent5" accent6="accent6" hlink="hlink" folHlink="folHlink"/>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3D0D53A-7D8B-700A-D018-965C84BBC739}"/>
            </a:ext>
          </a:extLst>
        </p:cNvPr>
        <p:cNvGrpSpPr/>
        <p:nvPr/>
      </p:nvGrpSpPr>
      <p:grpSpPr>
        <a:xfrm>
          <a:off x="0" y="0"/>
          <a:ext cx="0" cy="0"/>
          <a:chOff x="0" y="0"/>
          <a:chExt cx="0" cy="0"/>
        </a:xfrm>
      </p:grpSpPr>
      <p:sp>
        <p:nvSpPr>
          <p:cNvPr id="23" name="Rectangle 22">
            <a:extLst>
              <a:ext uri="{FF2B5EF4-FFF2-40B4-BE49-F238E27FC236}">
                <a16:creationId xmlns:a16="http://schemas.microsoft.com/office/drawing/2014/main" id="{F747F1B4-B831-4277-8AB0-32767F7EB7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5" name="Freeform 7">
            <a:extLst>
              <a:ext uri="{FF2B5EF4-FFF2-40B4-BE49-F238E27FC236}">
                <a16:creationId xmlns:a16="http://schemas.microsoft.com/office/drawing/2014/main" id="{D80CFA21-AB7C-4BEB-9BFF-05764FBBF3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694A35D5-FA7E-E951-56C9-17A9D64C8A01}"/>
              </a:ext>
            </a:extLst>
          </p:cNvPr>
          <p:cNvSpPr>
            <a:spLocks noGrp="1"/>
          </p:cNvSpPr>
          <p:nvPr>
            <p:ph type="title"/>
          </p:nvPr>
        </p:nvSpPr>
        <p:spPr>
          <a:xfrm>
            <a:off x="648930" y="629267"/>
            <a:ext cx="9252154" cy="1016654"/>
          </a:xfrm>
        </p:spPr>
        <p:txBody>
          <a:bodyPr vert="horz" lIns="91440" tIns="45720" rIns="91440" bIns="45720" rtlCol="0">
            <a:normAutofit/>
          </a:bodyPr>
          <a:lstStyle/>
          <a:p>
            <a:r>
              <a:rPr lang="en-US" b="0" i="0" kern="1200">
                <a:solidFill>
                  <a:srgbClr val="EBEBEB"/>
                </a:solidFill>
                <a:latin typeface="+mj-lt"/>
                <a:ea typeface="+mj-ea"/>
                <a:cs typeface="+mj-cs"/>
              </a:rPr>
              <a:t>Jacob Dzikowski</a:t>
            </a:r>
          </a:p>
        </p:txBody>
      </p:sp>
      <p:sp>
        <p:nvSpPr>
          <p:cNvPr id="20" name="Rectangle 19">
            <a:extLst>
              <a:ext uri="{FF2B5EF4-FFF2-40B4-BE49-F238E27FC236}">
                <a16:creationId xmlns:a16="http://schemas.microsoft.com/office/drawing/2014/main" id="{12F7E335-851A-4CAE-B09F-E657819D46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Slide Number Placeholder 3">
            <a:extLst>
              <a:ext uri="{FF2B5EF4-FFF2-40B4-BE49-F238E27FC236}">
                <a16:creationId xmlns:a16="http://schemas.microsoft.com/office/drawing/2014/main" id="{1C72D1A2-8226-7388-E353-8B6969F490ED}"/>
              </a:ext>
            </a:extLst>
          </p:cNvPr>
          <p:cNvSpPr>
            <a:spLocks noGrp="1"/>
          </p:cNvSpPr>
          <p:nvPr>
            <p:ph type="sldNum" sz="quarter" idx="12"/>
          </p:nvPr>
        </p:nvSpPr>
        <p:spPr>
          <a:xfrm>
            <a:off x="10352540" y="295729"/>
            <a:ext cx="838199" cy="767687"/>
          </a:xfrm>
        </p:spPr>
        <p:txBody>
          <a:bodyPr vert="horz" lIns="91440" tIns="45720" rIns="91440" bIns="45720" rtlCol="0">
            <a:normAutofit/>
          </a:bodyPr>
          <a:lstStyle/>
          <a:p>
            <a:pPr>
              <a:spcAft>
                <a:spcPts val="600"/>
              </a:spcAft>
            </a:pPr>
            <a:fld id="{D57F1E4F-1CFF-5643-939E-02111984F565}" type="slidenum">
              <a:rPr lang="en-US">
                <a:solidFill>
                  <a:srgbClr val="FFFFFF"/>
                </a:solidFill>
              </a:rPr>
              <a:pPr>
                <a:spcAft>
                  <a:spcPts val="600"/>
                </a:spcAft>
              </a:pPr>
              <a:t>33</a:t>
            </a:fld>
            <a:endParaRPr lang="en-US">
              <a:solidFill>
                <a:srgbClr val="FFFFFF"/>
              </a:solidFill>
            </a:endParaRPr>
          </a:p>
        </p:txBody>
      </p:sp>
      <p:sp>
        <p:nvSpPr>
          <p:cNvPr id="29" name="Freeform: Shape 28">
            <a:extLst>
              <a:ext uri="{FF2B5EF4-FFF2-40B4-BE49-F238E27FC236}">
                <a16:creationId xmlns:a16="http://schemas.microsoft.com/office/drawing/2014/main" id="{10B541F0-7F6E-402E-84D8-CF96EACA5F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8" cy="5095933"/>
          </a:xfrm>
          <a:custGeom>
            <a:avLst/>
            <a:gdLst>
              <a:gd name="connsiteX0" fmla="*/ 1 w 12192418"/>
              <a:gd name="connsiteY0" fmla="*/ 0 h 5095933"/>
              <a:gd name="connsiteX1" fmla="*/ 71932 w 12192418"/>
              <a:gd name="connsiteY1" fmla="*/ 12261 h 5095933"/>
              <a:gd name="connsiteX2" fmla="*/ 282849 w 12192418"/>
              <a:gd name="connsiteY2" fmla="*/ 48343 h 5095933"/>
              <a:gd name="connsiteX3" fmla="*/ 436464 w 12192418"/>
              <a:gd name="connsiteY3" fmla="*/ 73565 h 5095933"/>
              <a:gd name="connsiteX4" fmla="*/ 619339 w 12192418"/>
              <a:gd name="connsiteY4" fmla="*/ 100188 h 5095933"/>
              <a:gd name="connsiteX5" fmla="*/ 836351 w 12192418"/>
              <a:gd name="connsiteY5" fmla="*/ 132066 h 5095933"/>
              <a:gd name="connsiteX6" fmla="*/ 1076528 w 12192418"/>
              <a:gd name="connsiteY6" fmla="*/ 165696 h 5095933"/>
              <a:gd name="connsiteX7" fmla="*/ 1347184 w 12192418"/>
              <a:gd name="connsiteY7" fmla="*/ 201077 h 5095933"/>
              <a:gd name="connsiteX8" fmla="*/ 1642223 w 12192418"/>
              <a:gd name="connsiteY8" fmla="*/ 238560 h 5095933"/>
              <a:gd name="connsiteX9" fmla="*/ 1962864 w 12192418"/>
              <a:gd name="connsiteY9" fmla="*/ 276043 h 5095933"/>
              <a:gd name="connsiteX10" fmla="*/ 2304232 w 12192418"/>
              <a:gd name="connsiteY10" fmla="*/ 314227 h 5095933"/>
              <a:gd name="connsiteX11" fmla="*/ 2672421 w 12192418"/>
              <a:gd name="connsiteY11" fmla="*/ 349608 h 5095933"/>
              <a:gd name="connsiteX12" fmla="*/ 3057678 w 12192418"/>
              <a:gd name="connsiteY12" fmla="*/ 383588 h 5095933"/>
              <a:gd name="connsiteX13" fmla="*/ 3464881 w 12192418"/>
              <a:gd name="connsiteY13" fmla="*/ 414415 h 5095933"/>
              <a:gd name="connsiteX14" fmla="*/ 3889152 w 12192418"/>
              <a:gd name="connsiteY14" fmla="*/ 443841 h 5095933"/>
              <a:gd name="connsiteX15" fmla="*/ 4331710 w 12192418"/>
              <a:gd name="connsiteY15" fmla="*/ 471515 h 5095933"/>
              <a:gd name="connsiteX16" fmla="*/ 4558476 w 12192418"/>
              <a:gd name="connsiteY16" fmla="*/ 481324 h 5095933"/>
              <a:gd name="connsiteX17" fmla="*/ 4790118 w 12192418"/>
              <a:gd name="connsiteY17" fmla="*/ 492183 h 5095933"/>
              <a:gd name="connsiteX18" fmla="*/ 5025418 w 12192418"/>
              <a:gd name="connsiteY18" fmla="*/ 502342 h 5095933"/>
              <a:gd name="connsiteX19" fmla="*/ 5261937 w 12192418"/>
              <a:gd name="connsiteY19" fmla="*/ 508998 h 5095933"/>
              <a:gd name="connsiteX20" fmla="*/ 5503332 w 12192418"/>
              <a:gd name="connsiteY20" fmla="*/ 514953 h 5095933"/>
              <a:gd name="connsiteX21" fmla="*/ 5747167 w 12192418"/>
              <a:gd name="connsiteY21" fmla="*/ 521259 h 5095933"/>
              <a:gd name="connsiteX22" fmla="*/ 5995877 w 12192418"/>
              <a:gd name="connsiteY22" fmla="*/ 525463 h 5095933"/>
              <a:gd name="connsiteX23" fmla="*/ 6247026 w 12192418"/>
              <a:gd name="connsiteY23" fmla="*/ 525463 h 5095933"/>
              <a:gd name="connsiteX24" fmla="*/ 6500613 w 12192418"/>
              <a:gd name="connsiteY24" fmla="*/ 527565 h 5095933"/>
              <a:gd name="connsiteX25" fmla="*/ 6756639 w 12192418"/>
              <a:gd name="connsiteY25" fmla="*/ 525463 h 5095933"/>
              <a:gd name="connsiteX26" fmla="*/ 7016322 w 12192418"/>
              <a:gd name="connsiteY26" fmla="*/ 521259 h 5095933"/>
              <a:gd name="connsiteX27" fmla="*/ 7276005 w 12192418"/>
              <a:gd name="connsiteY27" fmla="*/ 517406 h 5095933"/>
              <a:gd name="connsiteX28" fmla="*/ 7539345 w 12192418"/>
              <a:gd name="connsiteY28" fmla="*/ 508998 h 5095933"/>
              <a:gd name="connsiteX29" fmla="*/ 7805124 w 12192418"/>
              <a:gd name="connsiteY29" fmla="*/ 500241 h 5095933"/>
              <a:gd name="connsiteX30" fmla="*/ 8070903 w 12192418"/>
              <a:gd name="connsiteY30" fmla="*/ 490082 h 5095933"/>
              <a:gd name="connsiteX31" fmla="*/ 8339121 w 12192418"/>
              <a:gd name="connsiteY31" fmla="*/ 475719 h 5095933"/>
              <a:gd name="connsiteX32" fmla="*/ 8609776 w 12192418"/>
              <a:gd name="connsiteY32" fmla="*/ 458554 h 5095933"/>
              <a:gd name="connsiteX33" fmla="*/ 8881651 w 12192418"/>
              <a:gd name="connsiteY33" fmla="*/ 442089 h 5095933"/>
              <a:gd name="connsiteX34" fmla="*/ 9153526 w 12192418"/>
              <a:gd name="connsiteY34" fmla="*/ 421071 h 5095933"/>
              <a:gd name="connsiteX35" fmla="*/ 9429058 w 12192418"/>
              <a:gd name="connsiteY35" fmla="*/ 395849 h 5095933"/>
              <a:gd name="connsiteX36" fmla="*/ 9700933 w 12192418"/>
              <a:gd name="connsiteY36" fmla="*/ 370626 h 5095933"/>
              <a:gd name="connsiteX37" fmla="*/ 9977684 w 12192418"/>
              <a:gd name="connsiteY37" fmla="*/ 341551 h 5095933"/>
              <a:gd name="connsiteX38" fmla="*/ 10255655 w 12192418"/>
              <a:gd name="connsiteY38" fmla="*/ 309673 h 5095933"/>
              <a:gd name="connsiteX39" fmla="*/ 10529968 w 12192418"/>
              <a:gd name="connsiteY39" fmla="*/ 276043 h 5095933"/>
              <a:gd name="connsiteX40" fmla="*/ 10807939 w 12192418"/>
              <a:gd name="connsiteY40" fmla="*/ 236809 h 5095933"/>
              <a:gd name="connsiteX41" fmla="*/ 11084690 w 12192418"/>
              <a:gd name="connsiteY41" fmla="*/ 194772 h 5095933"/>
              <a:gd name="connsiteX42" fmla="*/ 11362661 w 12192418"/>
              <a:gd name="connsiteY42" fmla="*/ 153085 h 5095933"/>
              <a:gd name="connsiteX43" fmla="*/ 11639412 w 12192418"/>
              <a:gd name="connsiteY43" fmla="*/ 104392 h 5095933"/>
              <a:gd name="connsiteX44" fmla="*/ 11914945 w 12192418"/>
              <a:gd name="connsiteY44" fmla="*/ 54648 h 5095933"/>
              <a:gd name="connsiteX45" fmla="*/ 12191696 w 12192418"/>
              <a:gd name="connsiteY45" fmla="*/ 2452 h 5095933"/>
              <a:gd name="connsiteX46" fmla="*/ 12191696 w 12192418"/>
              <a:gd name="connsiteY46" fmla="*/ 2109542 h 5095933"/>
              <a:gd name="connsiteX47" fmla="*/ 12191999 w 12192418"/>
              <a:gd name="connsiteY47" fmla="*/ 2109542 h 5095933"/>
              <a:gd name="connsiteX48" fmla="*/ 12191999 w 12192418"/>
              <a:gd name="connsiteY48" fmla="*/ 2802467 h 5095933"/>
              <a:gd name="connsiteX49" fmla="*/ 12192418 w 12192418"/>
              <a:gd name="connsiteY49" fmla="*/ 2802467 h 5095933"/>
              <a:gd name="connsiteX50" fmla="*/ 12192418 w 12192418"/>
              <a:gd name="connsiteY50" fmla="*/ 5095933 h 5095933"/>
              <a:gd name="connsiteX51" fmla="*/ 1 w 12192418"/>
              <a:gd name="connsiteY51" fmla="*/ 5095933 h 5095933"/>
              <a:gd name="connsiteX52" fmla="*/ 1 w 12192418"/>
              <a:gd name="connsiteY52" fmla="*/ 4074529 h 5095933"/>
              <a:gd name="connsiteX53" fmla="*/ 0 w 12192418"/>
              <a:gd name="connsiteY53" fmla="*/ 4074529 h 5095933"/>
              <a:gd name="connsiteX54" fmla="*/ 0 w 12192418"/>
              <a:gd name="connsiteY54" fmla="*/ 2109542 h 5095933"/>
              <a:gd name="connsiteX55" fmla="*/ 1 w 12192418"/>
              <a:gd name="connsiteY55" fmla="*/ 2109542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2418" h="5095933">
                <a:moveTo>
                  <a:pt x="1" y="0"/>
                </a:moveTo>
                <a:lnTo>
                  <a:pt x="71932" y="12261"/>
                </a:lnTo>
                <a:lnTo>
                  <a:pt x="282849" y="48343"/>
                </a:lnTo>
                <a:lnTo>
                  <a:pt x="436464" y="73565"/>
                </a:lnTo>
                <a:lnTo>
                  <a:pt x="619339" y="100188"/>
                </a:lnTo>
                <a:lnTo>
                  <a:pt x="836351" y="132066"/>
                </a:lnTo>
                <a:lnTo>
                  <a:pt x="1076528" y="165696"/>
                </a:lnTo>
                <a:lnTo>
                  <a:pt x="1347184" y="201077"/>
                </a:lnTo>
                <a:lnTo>
                  <a:pt x="1642223" y="238560"/>
                </a:lnTo>
                <a:lnTo>
                  <a:pt x="1962864" y="276043"/>
                </a:lnTo>
                <a:lnTo>
                  <a:pt x="2304232" y="314227"/>
                </a:lnTo>
                <a:lnTo>
                  <a:pt x="2672421" y="349608"/>
                </a:lnTo>
                <a:lnTo>
                  <a:pt x="3057678" y="383588"/>
                </a:lnTo>
                <a:lnTo>
                  <a:pt x="3464881" y="414415"/>
                </a:lnTo>
                <a:lnTo>
                  <a:pt x="3889152" y="443841"/>
                </a:lnTo>
                <a:lnTo>
                  <a:pt x="4331710" y="471515"/>
                </a:lnTo>
                <a:lnTo>
                  <a:pt x="4558476" y="481324"/>
                </a:lnTo>
                <a:lnTo>
                  <a:pt x="4790118" y="492183"/>
                </a:lnTo>
                <a:lnTo>
                  <a:pt x="5025418" y="502342"/>
                </a:lnTo>
                <a:lnTo>
                  <a:pt x="5261937" y="508998"/>
                </a:lnTo>
                <a:lnTo>
                  <a:pt x="5503332" y="514953"/>
                </a:lnTo>
                <a:lnTo>
                  <a:pt x="5747167" y="521259"/>
                </a:lnTo>
                <a:lnTo>
                  <a:pt x="5995877" y="525463"/>
                </a:lnTo>
                <a:lnTo>
                  <a:pt x="6247026" y="525463"/>
                </a:lnTo>
                <a:lnTo>
                  <a:pt x="6500613" y="527565"/>
                </a:lnTo>
                <a:lnTo>
                  <a:pt x="6756639" y="525463"/>
                </a:lnTo>
                <a:lnTo>
                  <a:pt x="7016322" y="521259"/>
                </a:lnTo>
                <a:lnTo>
                  <a:pt x="7276005" y="517406"/>
                </a:lnTo>
                <a:lnTo>
                  <a:pt x="7539345" y="508998"/>
                </a:lnTo>
                <a:lnTo>
                  <a:pt x="7805124" y="500241"/>
                </a:lnTo>
                <a:lnTo>
                  <a:pt x="8070903" y="490082"/>
                </a:lnTo>
                <a:lnTo>
                  <a:pt x="8339121" y="475719"/>
                </a:lnTo>
                <a:lnTo>
                  <a:pt x="8609776" y="458554"/>
                </a:lnTo>
                <a:lnTo>
                  <a:pt x="8881651" y="442089"/>
                </a:lnTo>
                <a:lnTo>
                  <a:pt x="9153526" y="421071"/>
                </a:lnTo>
                <a:lnTo>
                  <a:pt x="9429058" y="395849"/>
                </a:lnTo>
                <a:lnTo>
                  <a:pt x="9700933" y="370626"/>
                </a:lnTo>
                <a:lnTo>
                  <a:pt x="9977684" y="341551"/>
                </a:lnTo>
                <a:lnTo>
                  <a:pt x="10255655" y="309673"/>
                </a:lnTo>
                <a:lnTo>
                  <a:pt x="10529968" y="276043"/>
                </a:lnTo>
                <a:lnTo>
                  <a:pt x="10807939" y="236809"/>
                </a:lnTo>
                <a:lnTo>
                  <a:pt x="11084690" y="194772"/>
                </a:lnTo>
                <a:lnTo>
                  <a:pt x="11362661" y="153085"/>
                </a:lnTo>
                <a:lnTo>
                  <a:pt x="11639412" y="104392"/>
                </a:lnTo>
                <a:lnTo>
                  <a:pt x="11914945" y="54648"/>
                </a:lnTo>
                <a:lnTo>
                  <a:pt x="12191696" y="2452"/>
                </a:lnTo>
                <a:lnTo>
                  <a:pt x="12191696" y="2109542"/>
                </a:lnTo>
                <a:lnTo>
                  <a:pt x="12191999" y="2109542"/>
                </a:lnTo>
                <a:lnTo>
                  <a:pt x="12191999" y="2802467"/>
                </a:lnTo>
                <a:lnTo>
                  <a:pt x="12192418" y="2802467"/>
                </a:lnTo>
                <a:lnTo>
                  <a:pt x="12192418" y="5095933"/>
                </a:lnTo>
                <a:lnTo>
                  <a:pt x="1" y="5095933"/>
                </a:lnTo>
                <a:lnTo>
                  <a:pt x="1" y="4074529"/>
                </a:lnTo>
                <a:lnTo>
                  <a:pt x="0" y="4074529"/>
                </a:lnTo>
                <a:lnTo>
                  <a:pt x="0" y="2109542"/>
                </a:lnTo>
                <a:lnTo>
                  <a:pt x="1" y="2109542"/>
                </a:lnTo>
                <a:close/>
              </a:path>
            </a:pathLst>
          </a:custGeom>
          <a:solidFill>
            <a:schemeClr val="bg1"/>
          </a:solidFill>
          <a:ln>
            <a:noFill/>
          </a:ln>
        </p:spPr>
        <p:txBody>
          <a:bodyPr/>
          <a:lstStyle/>
          <a:p>
            <a:endParaRPr lang="en-US"/>
          </a:p>
        </p:txBody>
      </p:sp>
      <p:sp>
        <p:nvSpPr>
          <p:cNvPr id="6" name="Rectangle 1">
            <a:extLst>
              <a:ext uri="{FF2B5EF4-FFF2-40B4-BE49-F238E27FC236}">
                <a16:creationId xmlns:a16="http://schemas.microsoft.com/office/drawing/2014/main" id="{F2691D7A-FB1D-8248-8074-934205BF2B5E}"/>
              </a:ext>
            </a:extLst>
          </p:cNvPr>
          <p:cNvSpPr>
            <a:spLocks noChangeArrowheads="1"/>
          </p:cNvSpPr>
          <p:nvPr/>
        </p:nvSpPr>
        <p:spPr bwMode="auto">
          <a:xfrm>
            <a:off x="-2896220" y="-12649"/>
            <a:ext cx="15088220" cy="4698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graphicFrame>
        <p:nvGraphicFramePr>
          <p:cNvPr id="12" name="Table 11">
            <a:extLst>
              <a:ext uri="{FF2B5EF4-FFF2-40B4-BE49-F238E27FC236}">
                <a16:creationId xmlns:a16="http://schemas.microsoft.com/office/drawing/2014/main" id="{1D33345E-6BCA-1743-2E0D-B2B81DBED7F8}"/>
              </a:ext>
            </a:extLst>
          </p:cNvPr>
          <p:cNvGraphicFramePr>
            <a:graphicFrameLocks noGrp="1"/>
          </p:cNvGraphicFramePr>
          <p:nvPr>
            <p:extLst>
              <p:ext uri="{D42A27DB-BD31-4B8C-83A1-F6EECF244321}">
                <p14:modId xmlns:p14="http://schemas.microsoft.com/office/powerpoint/2010/main" val="2568643091"/>
              </p:ext>
            </p:extLst>
          </p:nvPr>
        </p:nvGraphicFramePr>
        <p:xfrm>
          <a:off x="11042" y="1755912"/>
          <a:ext cx="12178081" cy="5078504"/>
        </p:xfrm>
        <a:graphic>
          <a:graphicData uri="http://schemas.openxmlformats.org/drawingml/2006/table">
            <a:tbl>
              <a:tblPr firstRow="1" firstCol="1" bandRow="1">
                <a:tableStyleId>{5C22544A-7EE6-4342-B048-85BDC9FD1C3A}</a:tableStyleId>
              </a:tblPr>
              <a:tblGrid>
                <a:gridCol w="1630861">
                  <a:extLst>
                    <a:ext uri="{9D8B030D-6E8A-4147-A177-3AD203B41FA5}">
                      <a16:colId xmlns:a16="http://schemas.microsoft.com/office/drawing/2014/main" val="4206311443"/>
                    </a:ext>
                  </a:extLst>
                </a:gridCol>
                <a:gridCol w="8090172">
                  <a:extLst>
                    <a:ext uri="{9D8B030D-6E8A-4147-A177-3AD203B41FA5}">
                      <a16:colId xmlns:a16="http://schemas.microsoft.com/office/drawing/2014/main" val="3844745312"/>
                    </a:ext>
                  </a:extLst>
                </a:gridCol>
                <a:gridCol w="2457048">
                  <a:extLst>
                    <a:ext uri="{9D8B030D-6E8A-4147-A177-3AD203B41FA5}">
                      <a16:colId xmlns:a16="http://schemas.microsoft.com/office/drawing/2014/main" val="534251307"/>
                    </a:ext>
                  </a:extLst>
                </a:gridCol>
              </a:tblGrid>
              <a:tr h="291868">
                <a:tc>
                  <a:txBody>
                    <a:bodyPr/>
                    <a:lstStyle/>
                    <a:p>
                      <a:pPr>
                        <a:buNone/>
                      </a:pPr>
                      <a:r>
                        <a:rPr lang="en-US">
                          <a:solidFill>
                            <a:srgbClr val="FFFFFF"/>
                          </a:solidFill>
                          <a:effectLst/>
                        </a:rPr>
                        <a:t>Report 3</a:t>
                      </a:r>
                      <a:endParaRPr lang="en-US">
                        <a:effectLst/>
                      </a:endParaRPr>
                    </a:p>
                  </a:txBody>
                  <a:tcPr marL="68580" marR="68580" marT="0" marB="0"/>
                </a:tc>
                <a:tc>
                  <a:txBody>
                    <a:bodyPr/>
                    <a:lstStyle/>
                    <a:p>
                      <a:pPr>
                        <a:buNone/>
                      </a:pPr>
                      <a:endParaRPr lang="en-US">
                        <a:effectLst/>
                      </a:endParaRPr>
                    </a:p>
                  </a:txBody>
                  <a:tcPr marL="68580" marR="68580" marT="0" marB="0"/>
                </a:tc>
                <a:tc>
                  <a:txBody>
                    <a:bodyPr/>
                    <a:lstStyle/>
                    <a:p>
                      <a:pPr>
                        <a:buNone/>
                      </a:pPr>
                      <a:endParaRPr lang="en-US">
                        <a:solidFill>
                          <a:srgbClr val="FFFFFF"/>
                        </a:solidFill>
                        <a:effectLst/>
                      </a:endParaRPr>
                    </a:p>
                  </a:txBody>
                  <a:tcPr marL="68580" marR="68580" marT="0" marB="0"/>
                </a:tc>
                <a:extLst>
                  <a:ext uri="{0D108BD9-81ED-4DB2-BD59-A6C34878D82A}">
                    <a16:rowId xmlns:a16="http://schemas.microsoft.com/office/drawing/2014/main" val="4078906172"/>
                  </a:ext>
                </a:extLst>
              </a:tr>
              <a:tr h="335648">
                <a:tc>
                  <a:txBody>
                    <a:bodyPr/>
                    <a:lstStyle/>
                    <a:p>
                      <a:pPr>
                        <a:buNone/>
                      </a:pPr>
                      <a:r>
                        <a:rPr lang="en-US">
                          <a:solidFill>
                            <a:schemeClr val="bg1"/>
                          </a:solidFill>
                          <a:effectLst/>
                        </a:rPr>
                        <a:t>1/21/2026</a:t>
                      </a:r>
                    </a:p>
                  </a:txBody>
                  <a:tcPr marL="68580" marR="68580" marT="0" marB="0"/>
                </a:tc>
                <a:tc>
                  <a:txBody>
                    <a:bodyPr/>
                    <a:lstStyle/>
                    <a:p>
                      <a:pPr>
                        <a:buNone/>
                      </a:pPr>
                      <a:r>
                        <a:rPr lang="en-US">
                          <a:solidFill>
                            <a:srgbClr val="000000"/>
                          </a:solidFill>
                          <a:effectLst/>
                        </a:rPr>
                        <a:t>Mentor meeting, group work/discussion</a:t>
                      </a:r>
                      <a:endParaRPr lang="en-US">
                        <a:effectLst/>
                      </a:endParaRPr>
                    </a:p>
                  </a:txBody>
                  <a:tcPr marL="68580" marR="68580" marT="0" marB="0"/>
                </a:tc>
                <a:tc>
                  <a:txBody>
                    <a:bodyPr/>
                    <a:lstStyle/>
                    <a:p>
                      <a:pPr>
                        <a:buNone/>
                      </a:pPr>
                      <a:r>
                        <a:rPr lang="en-US">
                          <a:solidFill>
                            <a:srgbClr val="000000"/>
                          </a:solidFill>
                          <a:effectLst/>
                        </a:rPr>
                        <a:t>1.5 hours</a:t>
                      </a:r>
                      <a:endParaRPr lang="en-US">
                        <a:effectLst/>
                      </a:endParaRPr>
                    </a:p>
                  </a:txBody>
                  <a:tcPr marL="68580" marR="68580" marT="0" marB="0"/>
                </a:tc>
                <a:extLst>
                  <a:ext uri="{0D108BD9-81ED-4DB2-BD59-A6C34878D82A}">
                    <a16:rowId xmlns:a16="http://schemas.microsoft.com/office/drawing/2014/main" val="1435926540"/>
                  </a:ext>
                </a:extLst>
              </a:tr>
              <a:tr h="335648">
                <a:tc>
                  <a:txBody>
                    <a:bodyPr/>
                    <a:lstStyle/>
                    <a:p>
                      <a:pPr>
                        <a:buNone/>
                      </a:pPr>
                      <a:r>
                        <a:rPr lang="en-US">
                          <a:solidFill>
                            <a:schemeClr val="bg1"/>
                          </a:solidFill>
                          <a:effectLst/>
                        </a:rPr>
                        <a:t>1/26/2026</a:t>
                      </a:r>
                    </a:p>
                  </a:txBody>
                  <a:tcPr marL="68580" marR="68580" marT="0" marB="0"/>
                </a:tc>
                <a:tc>
                  <a:txBody>
                    <a:bodyPr/>
                    <a:lstStyle/>
                    <a:p>
                      <a:pPr>
                        <a:buNone/>
                      </a:pPr>
                      <a:r>
                        <a:rPr lang="en-US">
                          <a:solidFill>
                            <a:srgbClr val="000000"/>
                          </a:solidFill>
                          <a:effectLst/>
                        </a:rPr>
                        <a:t>Advisor meeting, group work/discussion</a:t>
                      </a:r>
                      <a:endParaRPr lang="en-US">
                        <a:effectLst/>
                      </a:endParaRPr>
                    </a:p>
                  </a:txBody>
                  <a:tcPr marL="68580" marR="68580" marT="0" marB="0"/>
                </a:tc>
                <a:tc>
                  <a:txBody>
                    <a:bodyPr/>
                    <a:lstStyle/>
                    <a:p>
                      <a:pPr>
                        <a:buNone/>
                      </a:pPr>
                      <a:r>
                        <a:rPr lang="en-US">
                          <a:solidFill>
                            <a:srgbClr val="000000"/>
                          </a:solidFill>
                          <a:effectLst/>
                        </a:rPr>
                        <a:t>1.5 hours</a:t>
                      </a:r>
                      <a:endParaRPr lang="en-US">
                        <a:effectLst/>
                      </a:endParaRPr>
                    </a:p>
                  </a:txBody>
                  <a:tcPr marL="68580" marR="68580" marT="0" marB="0"/>
                </a:tc>
                <a:extLst>
                  <a:ext uri="{0D108BD9-81ED-4DB2-BD59-A6C34878D82A}">
                    <a16:rowId xmlns:a16="http://schemas.microsoft.com/office/drawing/2014/main" val="394054168"/>
                  </a:ext>
                </a:extLst>
              </a:tr>
              <a:tr h="291868">
                <a:tc>
                  <a:txBody>
                    <a:bodyPr/>
                    <a:lstStyle/>
                    <a:p>
                      <a:pPr>
                        <a:buNone/>
                      </a:pPr>
                      <a:r>
                        <a:rPr lang="en-US">
                          <a:solidFill>
                            <a:schemeClr val="bg1"/>
                          </a:solidFill>
                          <a:effectLst/>
                        </a:rPr>
                        <a:t>1/28/2026</a:t>
                      </a:r>
                    </a:p>
                  </a:txBody>
                  <a:tcPr marL="68580" marR="68580" marT="0" marB="0"/>
                </a:tc>
                <a:tc>
                  <a:txBody>
                    <a:bodyPr/>
                    <a:lstStyle/>
                    <a:p>
                      <a:pPr>
                        <a:buNone/>
                      </a:pPr>
                      <a:r>
                        <a:rPr lang="en-US">
                          <a:solidFill>
                            <a:srgbClr val="000000"/>
                          </a:solidFill>
                          <a:effectLst/>
                        </a:rPr>
                        <a:t>Mentor meeting, group discussion</a:t>
                      </a:r>
                      <a:endParaRPr lang="en-US">
                        <a:effectLst/>
                      </a:endParaRPr>
                    </a:p>
                  </a:txBody>
                  <a:tcPr marL="68580" marR="68580" marT="0" marB="0"/>
                </a:tc>
                <a:tc>
                  <a:txBody>
                    <a:bodyPr/>
                    <a:lstStyle/>
                    <a:p>
                      <a:pPr>
                        <a:buNone/>
                      </a:pPr>
                      <a:r>
                        <a:rPr lang="en-US">
                          <a:solidFill>
                            <a:srgbClr val="000000"/>
                          </a:solidFill>
                          <a:effectLst/>
                        </a:rPr>
                        <a:t>1.5 hours</a:t>
                      </a:r>
                      <a:endParaRPr lang="en-US">
                        <a:effectLst/>
                      </a:endParaRPr>
                    </a:p>
                  </a:txBody>
                  <a:tcPr marL="68580" marR="68580" marT="0" marB="0"/>
                </a:tc>
                <a:extLst>
                  <a:ext uri="{0D108BD9-81ED-4DB2-BD59-A6C34878D82A}">
                    <a16:rowId xmlns:a16="http://schemas.microsoft.com/office/drawing/2014/main" val="1644474791"/>
                  </a:ext>
                </a:extLst>
              </a:tr>
              <a:tr h="335648">
                <a:tc>
                  <a:txBody>
                    <a:bodyPr/>
                    <a:lstStyle/>
                    <a:p>
                      <a:pPr>
                        <a:buNone/>
                      </a:pPr>
                      <a:r>
                        <a:rPr lang="en-US">
                          <a:solidFill>
                            <a:schemeClr val="bg1"/>
                          </a:solidFill>
                          <a:effectLst/>
                        </a:rPr>
                        <a:t>2/4/2026</a:t>
                      </a:r>
                    </a:p>
                  </a:txBody>
                  <a:tcPr marL="68580" marR="68580" marT="0" marB="0"/>
                </a:tc>
                <a:tc>
                  <a:txBody>
                    <a:bodyPr/>
                    <a:lstStyle/>
                    <a:p>
                      <a:pPr>
                        <a:buNone/>
                      </a:pPr>
                      <a:r>
                        <a:rPr lang="en-US">
                          <a:solidFill>
                            <a:srgbClr val="000000"/>
                          </a:solidFill>
                          <a:effectLst/>
                        </a:rPr>
                        <a:t>Mentor meeting, group work/discussion</a:t>
                      </a:r>
                      <a:endParaRPr lang="en-US">
                        <a:effectLst/>
                      </a:endParaRPr>
                    </a:p>
                  </a:txBody>
                  <a:tcPr marL="68580" marR="68580" marT="0" marB="0"/>
                </a:tc>
                <a:tc>
                  <a:txBody>
                    <a:bodyPr/>
                    <a:lstStyle/>
                    <a:p>
                      <a:pPr>
                        <a:buNone/>
                      </a:pPr>
                      <a:r>
                        <a:rPr lang="en-US">
                          <a:solidFill>
                            <a:srgbClr val="000000"/>
                          </a:solidFill>
                          <a:effectLst/>
                        </a:rPr>
                        <a:t>3 hours</a:t>
                      </a:r>
                      <a:endParaRPr lang="en-US">
                        <a:effectLst/>
                      </a:endParaRPr>
                    </a:p>
                  </a:txBody>
                  <a:tcPr marL="68580" marR="68580" marT="0" marB="0"/>
                </a:tc>
                <a:extLst>
                  <a:ext uri="{0D108BD9-81ED-4DB2-BD59-A6C34878D82A}">
                    <a16:rowId xmlns:a16="http://schemas.microsoft.com/office/drawing/2014/main" val="816357012"/>
                  </a:ext>
                </a:extLst>
              </a:tr>
              <a:tr h="291868">
                <a:tc>
                  <a:txBody>
                    <a:bodyPr/>
                    <a:lstStyle/>
                    <a:p>
                      <a:pPr>
                        <a:buNone/>
                      </a:pPr>
                      <a:r>
                        <a:rPr lang="en-US">
                          <a:solidFill>
                            <a:schemeClr val="bg1"/>
                          </a:solidFill>
                          <a:effectLst/>
                        </a:rPr>
                        <a:t>2/8/2026</a:t>
                      </a:r>
                    </a:p>
                  </a:txBody>
                  <a:tcPr marL="68580" marR="68580" marT="0" marB="0"/>
                </a:tc>
                <a:tc>
                  <a:txBody>
                    <a:bodyPr/>
                    <a:lstStyle/>
                    <a:p>
                      <a:pPr>
                        <a:buNone/>
                      </a:pPr>
                      <a:r>
                        <a:rPr lang="en-US">
                          <a:solidFill>
                            <a:srgbClr val="000000"/>
                          </a:solidFill>
                          <a:effectLst/>
                        </a:rPr>
                        <a:t>QR code directional scanning testing</a:t>
                      </a:r>
                      <a:endParaRPr lang="en-US">
                        <a:effectLst/>
                      </a:endParaRPr>
                    </a:p>
                  </a:txBody>
                  <a:tcPr marL="68580" marR="68580" marT="0" marB="0"/>
                </a:tc>
                <a:tc>
                  <a:txBody>
                    <a:bodyPr/>
                    <a:lstStyle/>
                    <a:p>
                      <a:pPr>
                        <a:buNone/>
                      </a:pPr>
                      <a:r>
                        <a:rPr lang="en-US">
                          <a:solidFill>
                            <a:srgbClr val="000000"/>
                          </a:solidFill>
                          <a:effectLst/>
                        </a:rPr>
                        <a:t>2 hours</a:t>
                      </a:r>
                      <a:endParaRPr lang="en-US">
                        <a:effectLst/>
                      </a:endParaRPr>
                    </a:p>
                  </a:txBody>
                  <a:tcPr marL="68580" marR="68580" marT="0" marB="0"/>
                </a:tc>
                <a:extLst>
                  <a:ext uri="{0D108BD9-81ED-4DB2-BD59-A6C34878D82A}">
                    <a16:rowId xmlns:a16="http://schemas.microsoft.com/office/drawing/2014/main" val="487532548"/>
                  </a:ext>
                </a:extLst>
              </a:tr>
              <a:tr h="335648">
                <a:tc>
                  <a:txBody>
                    <a:bodyPr/>
                    <a:lstStyle/>
                    <a:p>
                      <a:pPr>
                        <a:buNone/>
                      </a:pPr>
                      <a:r>
                        <a:rPr lang="en-US">
                          <a:solidFill>
                            <a:schemeClr val="bg1"/>
                          </a:solidFill>
                          <a:effectLst/>
                        </a:rPr>
                        <a:t>2/9/2026</a:t>
                      </a:r>
                    </a:p>
                  </a:txBody>
                  <a:tcPr marL="68580" marR="68580" marT="0" marB="0"/>
                </a:tc>
                <a:tc>
                  <a:txBody>
                    <a:bodyPr/>
                    <a:lstStyle/>
                    <a:p>
                      <a:pPr>
                        <a:buNone/>
                      </a:pPr>
                      <a:r>
                        <a:rPr lang="en-US">
                          <a:solidFill>
                            <a:srgbClr val="000000"/>
                          </a:solidFill>
                          <a:effectLst/>
                        </a:rPr>
                        <a:t>Advisor meeting, group work/discussion</a:t>
                      </a:r>
                      <a:endParaRPr lang="en-US">
                        <a:effectLst/>
                      </a:endParaRPr>
                    </a:p>
                  </a:txBody>
                  <a:tcPr marL="68580" marR="68580" marT="0" marB="0"/>
                </a:tc>
                <a:tc>
                  <a:txBody>
                    <a:bodyPr/>
                    <a:lstStyle/>
                    <a:p>
                      <a:pPr>
                        <a:buNone/>
                      </a:pPr>
                      <a:r>
                        <a:rPr lang="en-US">
                          <a:solidFill>
                            <a:srgbClr val="000000"/>
                          </a:solidFill>
                          <a:effectLst/>
                        </a:rPr>
                        <a:t>1.5 hours</a:t>
                      </a:r>
                      <a:endParaRPr lang="en-US">
                        <a:effectLst/>
                      </a:endParaRPr>
                    </a:p>
                  </a:txBody>
                  <a:tcPr marL="68580" marR="68580" marT="0" marB="0"/>
                </a:tc>
                <a:extLst>
                  <a:ext uri="{0D108BD9-81ED-4DB2-BD59-A6C34878D82A}">
                    <a16:rowId xmlns:a16="http://schemas.microsoft.com/office/drawing/2014/main" val="560140988"/>
                  </a:ext>
                </a:extLst>
              </a:tr>
              <a:tr h="598330">
                <a:tc>
                  <a:txBody>
                    <a:bodyPr/>
                    <a:lstStyle/>
                    <a:p>
                      <a:pPr>
                        <a:buNone/>
                      </a:pPr>
                      <a:r>
                        <a:rPr lang="en-US">
                          <a:solidFill>
                            <a:schemeClr val="bg1"/>
                          </a:solidFill>
                          <a:effectLst/>
                        </a:rPr>
                        <a:t>2/11/2026</a:t>
                      </a:r>
                    </a:p>
                  </a:txBody>
                  <a:tcPr marL="68580" marR="68580" marT="0" marB="0"/>
                </a:tc>
                <a:tc>
                  <a:txBody>
                    <a:bodyPr/>
                    <a:lstStyle/>
                    <a:p>
                      <a:pPr>
                        <a:buNone/>
                      </a:pPr>
                      <a:r>
                        <a:rPr lang="en-US">
                          <a:solidFill>
                            <a:srgbClr val="000000"/>
                          </a:solidFill>
                          <a:effectLst/>
                        </a:rPr>
                        <a:t>Group working session, tested training process and updates to QR scanning</a:t>
                      </a:r>
                      <a:endParaRPr lang="en-US">
                        <a:effectLst/>
                      </a:endParaRPr>
                    </a:p>
                  </a:txBody>
                  <a:tcPr marL="68580" marR="68580" marT="0" marB="0"/>
                </a:tc>
                <a:tc>
                  <a:txBody>
                    <a:bodyPr/>
                    <a:lstStyle/>
                    <a:p>
                      <a:pPr>
                        <a:buNone/>
                      </a:pPr>
                      <a:r>
                        <a:rPr lang="en-US">
                          <a:solidFill>
                            <a:srgbClr val="000000"/>
                          </a:solidFill>
                          <a:effectLst/>
                        </a:rPr>
                        <a:t>4 hours</a:t>
                      </a:r>
                      <a:endParaRPr lang="en-US">
                        <a:effectLst/>
                      </a:endParaRPr>
                    </a:p>
                  </a:txBody>
                  <a:tcPr marL="68580" marR="68580" marT="0" marB="0"/>
                </a:tc>
                <a:extLst>
                  <a:ext uri="{0D108BD9-81ED-4DB2-BD59-A6C34878D82A}">
                    <a16:rowId xmlns:a16="http://schemas.microsoft.com/office/drawing/2014/main" val="841024420"/>
                  </a:ext>
                </a:extLst>
              </a:tr>
              <a:tr h="598330">
                <a:tc>
                  <a:txBody>
                    <a:bodyPr/>
                    <a:lstStyle/>
                    <a:p>
                      <a:pPr>
                        <a:buNone/>
                      </a:pPr>
                      <a:r>
                        <a:rPr lang="en-US">
                          <a:solidFill>
                            <a:schemeClr val="bg1"/>
                          </a:solidFill>
                          <a:effectLst/>
                        </a:rPr>
                        <a:t>2/12/2026</a:t>
                      </a:r>
                    </a:p>
                  </a:txBody>
                  <a:tcPr marL="68580" marR="68580" marT="0" marB="0"/>
                </a:tc>
                <a:tc>
                  <a:txBody>
                    <a:bodyPr/>
                    <a:lstStyle/>
                    <a:p>
                      <a:pPr>
                        <a:buNone/>
                      </a:pPr>
                      <a:r>
                        <a:rPr lang="en-US">
                          <a:solidFill>
                            <a:srgbClr val="000000"/>
                          </a:solidFill>
                          <a:effectLst/>
                        </a:rPr>
                        <a:t>Group meeting after Senior Design class, assigned tasks and discussed report</a:t>
                      </a:r>
                      <a:endParaRPr lang="en-US">
                        <a:effectLst/>
                      </a:endParaRPr>
                    </a:p>
                  </a:txBody>
                  <a:tcPr marL="68580" marR="68580" marT="0" marB="0"/>
                </a:tc>
                <a:tc>
                  <a:txBody>
                    <a:bodyPr/>
                    <a:lstStyle/>
                    <a:p>
                      <a:pPr>
                        <a:buNone/>
                      </a:pPr>
                      <a:r>
                        <a:rPr lang="en-US">
                          <a:solidFill>
                            <a:srgbClr val="000000"/>
                          </a:solidFill>
                          <a:effectLst/>
                        </a:rPr>
                        <a:t>2 hours</a:t>
                      </a:r>
                      <a:endParaRPr lang="en-US">
                        <a:effectLst/>
                      </a:endParaRPr>
                    </a:p>
                  </a:txBody>
                  <a:tcPr marL="68580" marR="68580" marT="0" marB="0"/>
                </a:tc>
                <a:extLst>
                  <a:ext uri="{0D108BD9-81ED-4DB2-BD59-A6C34878D82A}">
                    <a16:rowId xmlns:a16="http://schemas.microsoft.com/office/drawing/2014/main" val="2896889918"/>
                  </a:ext>
                </a:extLst>
              </a:tr>
              <a:tr h="291868">
                <a:tc>
                  <a:txBody>
                    <a:bodyPr/>
                    <a:lstStyle/>
                    <a:p>
                      <a:pPr>
                        <a:buNone/>
                      </a:pPr>
                      <a:r>
                        <a:rPr lang="en-US">
                          <a:solidFill>
                            <a:schemeClr val="bg1"/>
                          </a:solidFill>
                          <a:effectLst/>
                        </a:rPr>
                        <a:t>2/16/2026</a:t>
                      </a:r>
                    </a:p>
                  </a:txBody>
                  <a:tcPr marL="68580" marR="68580" marT="0" marB="0"/>
                </a:tc>
                <a:tc>
                  <a:txBody>
                    <a:bodyPr/>
                    <a:lstStyle/>
                    <a:p>
                      <a:pPr>
                        <a:buNone/>
                      </a:pPr>
                      <a:r>
                        <a:rPr lang="en-US">
                          <a:solidFill>
                            <a:srgbClr val="000000"/>
                          </a:solidFill>
                          <a:effectLst/>
                        </a:rPr>
                        <a:t>Advisor meeting, group discussion</a:t>
                      </a:r>
                      <a:endParaRPr lang="en-US">
                        <a:effectLst/>
                      </a:endParaRPr>
                    </a:p>
                  </a:txBody>
                  <a:tcPr marL="68580" marR="68580" marT="0" marB="0"/>
                </a:tc>
                <a:tc>
                  <a:txBody>
                    <a:bodyPr/>
                    <a:lstStyle/>
                    <a:p>
                      <a:pPr>
                        <a:buNone/>
                      </a:pPr>
                      <a:r>
                        <a:rPr lang="en-US">
                          <a:solidFill>
                            <a:srgbClr val="000000"/>
                          </a:solidFill>
                          <a:effectLst/>
                        </a:rPr>
                        <a:t>1.5 hours</a:t>
                      </a:r>
                      <a:endParaRPr lang="en-US">
                        <a:effectLst/>
                      </a:endParaRPr>
                    </a:p>
                  </a:txBody>
                  <a:tcPr marL="68580" marR="68580" marT="0" marB="0"/>
                </a:tc>
                <a:extLst>
                  <a:ext uri="{0D108BD9-81ED-4DB2-BD59-A6C34878D82A}">
                    <a16:rowId xmlns:a16="http://schemas.microsoft.com/office/drawing/2014/main" val="3084930746"/>
                  </a:ext>
                </a:extLst>
              </a:tr>
              <a:tr h="335648">
                <a:tc>
                  <a:txBody>
                    <a:bodyPr/>
                    <a:lstStyle/>
                    <a:p>
                      <a:pPr>
                        <a:buNone/>
                      </a:pPr>
                      <a:r>
                        <a:rPr lang="en-US">
                          <a:solidFill>
                            <a:schemeClr val="bg1"/>
                          </a:solidFill>
                          <a:effectLst/>
                        </a:rPr>
                        <a:t>2/18/2026</a:t>
                      </a:r>
                    </a:p>
                  </a:txBody>
                  <a:tcPr marL="68580" marR="68580" marT="0" marB="0"/>
                </a:tc>
                <a:tc>
                  <a:txBody>
                    <a:bodyPr/>
                    <a:lstStyle/>
                    <a:p>
                      <a:pPr>
                        <a:buNone/>
                      </a:pPr>
                      <a:r>
                        <a:rPr lang="en-US">
                          <a:solidFill>
                            <a:srgbClr val="000000"/>
                          </a:solidFill>
                          <a:effectLst/>
                        </a:rPr>
                        <a:t>Mentor meeting and step-training demo</a:t>
                      </a:r>
                      <a:endParaRPr lang="en-US">
                        <a:effectLst/>
                      </a:endParaRPr>
                    </a:p>
                  </a:txBody>
                  <a:tcPr marL="68580" marR="68580" marT="0" marB="0"/>
                </a:tc>
                <a:tc>
                  <a:txBody>
                    <a:bodyPr/>
                    <a:lstStyle/>
                    <a:p>
                      <a:pPr>
                        <a:buNone/>
                      </a:pPr>
                      <a:r>
                        <a:rPr lang="en-US">
                          <a:solidFill>
                            <a:srgbClr val="000000"/>
                          </a:solidFill>
                          <a:effectLst/>
                        </a:rPr>
                        <a:t>1 hour</a:t>
                      </a:r>
                      <a:endParaRPr lang="en-US">
                        <a:effectLst/>
                      </a:endParaRPr>
                    </a:p>
                  </a:txBody>
                  <a:tcPr marL="68580" marR="68580" marT="0" marB="0"/>
                </a:tc>
                <a:extLst>
                  <a:ext uri="{0D108BD9-81ED-4DB2-BD59-A6C34878D82A}">
                    <a16:rowId xmlns:a16="http://schemas.microsoft.com/office/drawing/2014/main" val="3636081741"/>
                  </a:ext>
                </a:extLst>
              </a:tr>
              <a:tr h="744264">
                <a:tc>
                  <a:txBody>
                    <a:bodyPr/>
                    <a:lstStyle/>
                    <a:p>
                      <a:pPr>
                        <a:buNone/>
                      </a:pPr>
                      <a:r>
                        <a:rPr lang="en-US">
                          <a:solidFill>
                            <a:schemeClr val="bg1"/>
                          </a:solidFill>
                          <a:effectLst/>
                        </a:rPr>
                        <a:t>2/20/2026</a:t>
                      </a:r>
                    </a:p>
                  </a:txBody>
                  <a:tcPr marL="68580" marR="68580" marT="0" marB="0"/>
                </a:tc>
                <a:tc>
                  <a:txBody>
                    <a:bodyPr/>
                    <a:lstStyle/>
                    <a:p>
                      <a:pPr>
                        <a:buNone/>
                      </a:pPr>
                      <a:r>
                        <a:rPr lang="en-US">
                          <a:solidFill>
                            <a:srgbClr val="000000"/>
                          </a:solidFill>
                          <a:effectLst/>
                        </a:rPr>
                        <a:t>Work on Report 3, updates to everything involving use cases and other various grammatical errors</a:t>
                      </a:r>
                      <a:endParaRPr lang="en-US">
                        <a:effectLst/>
                      </a:endParaRPr>
                    </a:p>
                  </a:txBody>
                  <a:tcPr marL="68580" marR="68580" marT="0" marB="0"/>
                </a:tc>
                <a:tc>
                  <a:txBody>
                    <a:bodyPr/>
                    <a:lstStyle/>
                    <a:p>
                      <a:pPr>
                        <a:buNone/>
                      </a:pPr>
                      <a:r>
                        <a:rPr lang="en-US">
                          <a:solidFill>
                            <a:srgbClr val="000000"/>
                          </a:solidFill>
                          <a:effectLst/>
                        </a:rPr>
                        <a:t>7 hours</a:t>
                      </a:r>
                      <a:endParaRPr lang="en-US">
                        <a:effectLst/>
                      </a:endParaRPr>
                    </a:p>
                  </a:txBody>
                  <a:tcPr marL="68580" marR="68580" marT="0" marB="0"/>
                </a:tc>
                <a:extLst>
                  <a:ext uri="{0D108BD9-81ED-4DB2-BD59-A6C34878D82A}">
                    <a16:rowId xmlns:a16="http://schemas.microsoft.com/office/drawing/2014/main" val="665424194"/>
                  </a:ext>
                </a:extLst>
              </a:tr>
              <a:tr h="291868">
                <a:tc>
                  <a:txBody>
                    <a:bodyPr/>
                    <a:lstStyle/>
                    <a:p>
                      <a:pPr>
                        <a:buNone/>
                      </a:pPr>
                      <a:endParaRPr lang="en-US">
                        <a:effectLst/>
                      </a:endParaRPr>
                    </a:p>
                  </a:txBody>
                  <a:tcPr marL="68580" marR="68580" marT="0" marB="0"/>
                </a:tc>
                <a:tc>
                  <a:txBody>
                    <a:bodyPr/>
                    <a:lstStyle/>
                    <a:p>
                      <a:pPr algn="l">
                        <a:buNone/>
                      </a:pPr>
                      <a:endParaRPr lang="en-US">
                        <a:effectLst/>
                      </a:endParaRPr>
                    </a:p>
                  </a:txBody>
                  <a:tcPr marL="68580" marR="68580" marT="0" marB="0"/>
                </a:tc>
                <a:tc>
                  <a:txBody>
                    <a:bodyPr/>
                    <a:lstStyle/>
                    <a:p>
                      <a:pPr>
                        <a:buNone/>
                      </a:pPr>
                      <a:r>
                        <a:rPr lang="en-US">
                          <a:solidFill>
                            <a:schemeClr val="tx1"/>
                          </a:solidFill>
                          <a:effectLst/>
                        </a:rPr>
                        <a:t>Total: 26.5 hours</a:t>
                      </a:r>
                    </a:p>
                  </a:txBody>
                  <a:tcPr marL="68580" marR="68580" marT="0" marB="0"/>
                </a:tc>
                <a:extLst>
                  <a:ext uri="{0D108BD9-81ED-4DB2-BD59-A6C34878D82A}">
                    <a16:rowId xmlns:a16="http://schemas.microsoft.com/office/drawing/2014/main" val="3918166877"/>
                  </a:ext>
                </a:extLst>
              </a:tr>
            </a:tbl>
          </a:graphicData>
        </a:graphic>
      </p:graphicFrame>
    </p:spTree>
    <p:extLst>
      <p:ext uri="{BB962C8B-B14F-4D97-AF65-F5344CB8AC3E}">
        <p14:creationId xmlns:p14="http://schemas.microsoft.com/office/powerpoint/2010/main" val="1304618324"/>
      </p:ext>
    </p:extLst>
  </p:cSld>
  <p:clrMapOvr>
    <a:overrideClrMapping bg1="lt1" tx1="dk1" bg2="lt2" tx2="dk2" accent1="accent1" accent2="accent2" accent3="accent3" accent4="accent4" accent5="accent5" accent6="accent6" hlink="hlink" folHlink="folHlink"/>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F1FBFD6-F8BD-A3E7-3016-C38A8FBBAC00}"/>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F747F1B4-B831-4277-8AB0-32767F7EB7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1" name="Freeform 7">
            <a:extLst>
              <a:ext uri="{FF2B5EF4-FFF2-40B4-BE49-F238E27FC236}">
                <a16:creationId xmlns:a16="http://schemas.microsoft.com/office/drawing/2014/main" id="{D80CFA21-AB7C-4BEB-9BFF-05764FBBF3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9D128374-1212-AE3C-C09B-E5ED808A194B}"/>
              </a:ext>
            </a:extLst>
          </p:cNvPr>
          <p:cNvSpPr>
            <a:spLocks noGrp="1"/>
          </p:cNvSpPr>
          <p:nvPr>
            <p:ph type="title"/>
          </p:nvPr>
        </p:nvSpPr>
        <p:spPr>
          <a:xfrm>
            <a:off x="648930" y="629267"/>
            <a:ext cx="9252154" cy="1016654"/>
          </a:xfrm>
        </p:spPr>
        <p:txBody>
          <a:bodyPr vert="horz" lIns="91440" tIns="45720" rIns="91440" bIns="45720" rtlCol="0">
            <a:normAutofit/>
          </a:bodyPr>
          <a:lstStyle/>
          <a:p>
            <a:r>
              <a:rPr lang="en-US" b="0" i="0" kern="1200">
                <a:solidFill>
                  <a:srgbClr val="EBEBEB"/>
                </a:solidFill>
                <a:latin typeface="+mj-lt"/>
                <a:ea typeface="+mj-ea"/>
                <a:cs typeface="+mj-cs"/>
              </a:rPr>
              <a:t>Collin Miller</a:t>
            </a:r>
          </a:p>
        </p:txBody>
      </p:sp>
      <p:sp>
        <p:nvSpPr>
          <p:cNvPr id="12" name="Rectangle 11">
            <a:extLst>
              <a:ext uri="{FF2B5EF4-FFF2-40B4-BE49-F238E27FC236}">
                <a16:creationId xmlns:a16="http://schemas.microsoft.com/office/drawing/2014/main" id="{12F7E335-851A-4CAE-B09F-E657819D46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Slide Number Placeholder 3">
            <a:extLst>
              <a:ext uri="{FF2B5EF4-FFF2-40B4-BE49-F238E27FC236}">
                <a16:creationId xmlns:a16="http://schemas.microsoft.com/office/drawing/2014/main" id="{1AC286AE-2335-1736-09E1-84FF26ACB844}"/>
              </a:ext>
            </a:extLst>
          </p:cNvPr>
          <p:cNvSpPr>
            <a:spLocks noGrp="1"/>
          </p:cNvSpPr>
          <p:nvPr>
            <p:ph type="sldNum" sz="quarter" idx="12"/>
          </p:nvPr>
        </p:nvSpPr>
        <p:spPr>
          <a:xfrm>
            <a:off x="10352540" y="295729"/>
            <a:ext cx="838199" cy="767687"/>
          </a:xfrm>
        </p:spPr>
        <p:txBody>
          <a:bodyPr vert="horz" lIns="91440" tIns="45720" rIns="91440" bIns="45720" rtlCol="0">
            <a:normAutofit/>
          </a:bodyPr>
          <a:lstStyle/>
          <a:p>
            <a:pPr>
              <a:spcAft>
                <a:spcPts val="600"/>
              </a:spcAft>
            </a:pPr>
            <a:fld id="{D57F1E4F-1CFF-5643-939E-02111984F565}" type="slidenum">
              <a:rPr lang="en-US">
                <a:solidFill>
                  <a:srgbClr val="FFFFFF"/>
                </a:solidFill>
              </a:rPr>
              <a:pPr>
                <a:spcAft>
                  <a:spcPts val="600"/>
                </a:spcAft>
              </a:pPr>
              <a:t>34</a:t>
            </a:fld>
            <a:endParaRPr lang="en-US">
              <a:solidFill>
                <a:srgbClr val="FFFFFF"/>
              </a:solidFill>
            </a:endParaRPr>
          </a:p>
        </p:txBody>
      </p:sp>
      <p:sp>
        <p:nvSpPr>
          <p:cNvPr id="14" name="Freeform: Shape 13">
            <a:extLst>
              <a:ext uri="{FF2B5EF4-FFF2-40B4-BE49-F238E27FC236}">
                <a16:creationId xmlns:a16="http://schemas.microsoft.com/office/drawing/2014/main" id="{10B541F0-7F6E-402E-84D8-CF96EACA5F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8" cy="5095933"/>
          </a:xfrm>
          <a:custGeom>
            <a:avLst/>
            <a:gdLst>
              <a:gd name="connsiteX0" fmla="*/ 1 w 12192418"/>
              <a:gd name="connsiteY0" fmla="*/ 0 h 5095933"/>
              <a:gd name="connsiteX1" fmla="*/ 71932 w 12192418"/>
              <a:gd name="connsiteY1" fmla="*/ 12261 h 5095933"/>
              <a:gd name="connsiteX2" fmla="*/ 282849 w 12192418"/>
              <a:gd name="connsiteY2" fmla="*/ 48343 h 5095933"/>
              <a:gd name="connsiteX3" fmla="*/ 436464 w 12192418"/>
              <a:gd name="connsiteY3" fmla="*/ 73565 h 5095933"/>
              <a:gd name="connsiteX4" fmla="*/ 619339 w 12192418"/>
              <a:gd name="connsiteY4" fmla="*/ 100188 h 5095933"/>
              <a:gd name="connsiteX5" fmla="*/ 836351 w 12192418"/>
              <a:gd name="connsiteY5" fmla="*/ 132066 h 5095933"/>
              <a:gd name="connsiteX6" fmla="*/ 1076528 w 12192418"/>
              <a:gd name="connsiteY6" fmla="*/ 165696 h 5095933"/>
              <a:gd name="connsiteX7" fmla="*/ 1347184 w 12192418"/>
              <a:gd name="connsiteY7" fmla="*/ 201077 h 5095933"/>
              <a:gd name="connsiteX8" fmla="*/ 1642223 w 12192418"/>
              <a:gd name="connsiteY8" fmla="*/ 238560 h 5095933"/>
              <a:gd name="connsiteX9" fmla="*/ 1962864 w 12192418"/>
              <a:gd name="connsiteY9" fmla="*/ 276043 h 5095933"/>
              <a:gd name="connsiteX10" fmla="*/ 2304232 w 12192418"/>
              <a:gd name="connsiteY10" fmla="*/ 314227 h 5095933"/>
              <a:gd name="connsiteX11" fmla="*/ 2672421 w 12192418"/>
              <a:gd name="connsiteY11" fmla="*/ 349608 h 5095933"/>
              <a:gd name="connsiteX12" fmla="*/ 3057678 w 12192418"/>
              <a:gd name="connsiteY12" fmla="*/ 383588 h 5095933"/>
              <a:gd name="connsiteX13" fmla="*/ 3464881 w 12192418"/>
              <a:gd name="connsiteY13" fmla="*/ 414415 h 5095933"/>
              <a:gd name="connsiteX14" fmla="*/ 3889152 w 12192418"/>
              <a:gd name="connsiteY14" fmla="*/ 443841 h 5095933"/>
              <a:gd name="connsiteX15" fmla="*/ 4331710 w 12192418"/>
              <a:gd name="connsiteY15" fmla="*/ 471515 h 5095933"/>
              <a:gd name="connsiteX16" fmla="*/ 4558476 w 12192418"/>
              <a:gd name="connsiteY16" fmla="*/ 481324 h 5095933"/>
              <a:gd name="connsiteX17" fmla="*/ 4790118 w 12192418"/>
              <a:gd name="connsiteY17" fmla="*/ 492183 h 5095933"/>
              <a:gd name="connsiteX18" fmla="*/ 5025418 w 12192418"/>
              <a:gd name="connsiteY18" fmla="*/ 502342 h 5095933"/>
              <a:gd name="connsiteX19" fmla="*/ 5261937 w 12192418"/>
              <a:gd name="connsiteY19" fmla="*/ 508998 h 5095933"/>
              <a:gd name="connsiteX20" fmla="*/ 5503332 w 12192418"/>
              <a:gd name="connsiteY20" fmla="*/ 514953 h 5095933"/>
              <a:gd name="connsiteX21" fmla="*/ 5747167 w 12192418"/>
              <a:gd name="connsiteY21" fmla="*/ 521259 h 5095933"/>
              <a:gd name="connsiteX22" fmla="*/ 5995877 w 12192418"/>
              <a:gd name="connsiteY22" fmla="*/ 525463 h 5095933"/>
              <a:gd name="connsiteX23" fmla="*/ 6247026 w 12192418"/>
              <a:gd name="connsiteY23" fmla="*/ 525463 h 5095933"/>
              <a:gd name="connsiteX24" fmla="*/ 6500613 w 12192418"/>
              <a:gd name="connsiteY24" fmla="*/ 527565 h 5095933"/>
              <a:gd name="connsiteX25" fmla="*/ 6756639 w 12192418"/>
              <a:gd name="connsiteY25" fmla="*/ 525463 h 5095933"/>
              <a:gd name="connsiteX26" fmla="*/ 7016322 w 12192418"/>
              <a:gd name="connsiteY26" fmla="*/ 521259 h 5095933"/>
              <a:gd name="connsiteX27" fmla="*/ 7276005 w 12192418"/>
              <a:gd name="connsiteY27" fmla="*/ 517406 h 5095933"/>
              <a:gd name="connsiteX28" fmla="*/ 7539345 w 12192418"/>
              <a:gd name="connsiteY28" fmla="*/ 508998 h 5095933"/>
              <a:gd name="connsiteX29" fmla="*/ 7805124 w 12192418"/>
              <a:gd name="connsiteY29" fmla="*/ 500241 h 5095933"/>
              <a:gd name="connsiteX30" fmla="*/ 8070903 w 12192418"/>
              <a:gd name="connsiteY30" fmla="*/ 490082 h 5095933"/>
              <a:gd name="connsiteX31" fmla="*/ 8339121 w 12192418"/>
              <a:gd name="connsiteY31" fmla="*/ 475719 h 5095933"/>
              <a:gd name="connsiteX32" fmla="*/ 8609776 w 12192418"/>
              <a:gd name="connsiteY32" fmla="*/ 458554 h 5095933"/>
              <a:gd name="connsiteX33" fmla="*/ 8881651 w 12192418"/>
              <a:gd name="connsiteY33" fmla="*/ 442089 h 5095933"/>
              <a:gd name="connsiteX34" fmla="*/ 9153526 w 12192418"/>
              <a:gd name="connsiteY34" fmla="*/ 421071 h 5095933"/>
              <a:gd name="connsiteX35" fmla="*/ 9429058 w 12192418"/>
              <a:gd name="connsiteY35" fmla="*/ 395849 h 5095933"/>
              <a:gd name="connsiteX36" fmla="*/ 9700933 w 12192418"/>
              <a:gd name="connsiteY36" fmla="*/ 370626 h 5095933"/>
              <a:gd name="connsiteX37" fmla="*/ 9977684 w 12192418"/>
              <a:gd name="connsiteY37" fmla="*/ 341551 h 5095933"/>
              <a:gd name="connsiteX38" fmla="*/ 10255655 w 12192418"/>
              <a:gd name="connsiteY38" fmla="*/ 309673 h 5095933"/>
              <a:gd name="connsiteX39" fmla="*/ 10529968 w 12192418"/>
              <a:gd name="connsiteY39" fmla="*/ 276043 h 5095933"/>
              <a:gd name="connsiteX40" fmla="*/ 10807939 w 12192418"/>
              <a:gd name="connsiteY40" fmla="*/ 236809 h 5095933"/>
              <a:gd name="connsiteX41" fmla="*/ 11084690 w 12192418"/>
              <a:gd name="connsiteY41" fmla="*/ 194772 h 5095933"/>
              <a:gd name="connsiteX42" fmla="*/ 11362661 w 12192418"/>
              <a:gd name="connsiteY42" fmla="*/ 153085 h 5095933"/>
              <a:gd name="connsiteX43" fmla="*/ 11639412 w 12192418"/>
              <a:gd name="connsiteY43" fmla="*/ 104392 h 5095933"/>
              <a:gd name="connsiteX44" fmla="*/ 11914945 w 12192418"/>
              <a:gd name="connsiteY44" fmla="*/ 54648 h 5095933"/>
              <a:gd name="connsiteX45" fmla="*/ 12191696 w 12192418"/>
              <a:gd name="connsiteY45" fmla="*/ 2452 h 5095933"/>
              <a:gd name="connsiteX46" fmla="*/ 12191696 w 12192418"/>
              <a:gd name="connsiteY46" fmla="*/ 2109542 h 5095933"/>
              <a:gd name="connsiteX47" fmla="*/ 12191999 w 12192418"/>
              <a:gd name="connsiteY47" fmla="*/ 2109542 h 5095933"/>
              <a:gd name="connsiteX48" fmla="*/ 12191999 w 12192418"/>
              <a:gd name="connsiteY48" fmla="*/ 2802467 h 5095933"/>
              <a:gd name="connsiteX49" fmla="*/ 12192418 w 12192418"/>
              <a:gd name="connsiteY49" fmla="*/ 2802467 h 5095933"/>
              <a:gd name="connsiteX50" fmla="*/ 12192418 w 12192418"/>
              <a:gd name="connsiteY50" fmla="*/ 5095933 h 5095933"/>
              <a:gd name="connsiteX51" fmla="*/ 1 w 12192418"/>
              <a:gd name="connsiteY51" fmla="*/ 5095933 h 5095933"/>
              <a:gd name="connsiteX52" fmla="*/ 1 w 12192418"/>
              <a:gd name="connsiteY52" fmla="*/ 4074529 h 5095933"/>
              <a:gd name="connsiteX53" fmla="*/ 0 w 12192418"/>
              <a:gd name="connsiteY53" fmla="*/ 4074529 h 5095933"/>
              <a:gd name="connsiteX54" fmla="*/ 0 w 12192418"/>
              <a:gd name="connsiteY54" fmla="*/ 2109542 h 5095933"/>
              <a:gd name="connsiteX55" fmla="*/ 1 w 12192418"/>
              <a:gd name="connsiteY55" fmla="*/ 2109542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2418" h="5095933">
                <a:moveTo>
                  <a:pt x="1" y="0"/>
                </a:moveTo>
                <a:lnTo>
                  <a:pt x="71932" y="12261"/>
                </a:lnTo>
                <a:lnTo>
                  <a:pt x="282849" y="48343"/>
                </a:lnTo>
                <a:lnTo>
                  <a:pt x="436464" y="73565"/>
                </a:lnTo>
                <a:lnTo>
                  <a:pt x="619339" y="100188"/>
                </a:lnTo>
                <a:lnTo>
                  <a:pt x="836351" y="132066"/>
                </a:lnTo>
                <a:lnTo>
                  <a:pt x="1076528" y="165696"/>
                </a:lnTo>
                <a:lnTo>
                  <a:pt x="1347184" y="201077"/>
                </a:lnTo>
                <a:lnTo>
                  <a:pt x="1642223" y="238560"/>
                </a:lnTo>
                <a:lnTo>
                  <a:pt x="1962864" y="276043"/>
                </a:lnTo>
                <a:lnTo>
                  <a:pt x="2304232" y="314227"/>
                </a:lnTo>
                <a:lnTo>
                  <a:pt x="2672421" y="349608"/>
                </a:lnTo>
                <a:lnTo>
                  <a:pt x="3057678" y="383588"/>
                </a:lnTo>
                <a:lnTo>
                  <a:pt x="3464881" y="414415"/>
                </a:lnTo>
                <a:lnTo>
                  <a:pt x="3889152" y="443841"/>
                </a:lnTo>
                <a:lnTo>
                  <a:pt x="4331710" y="471515"/>
                </a:lnTo>
                <a:lnTo>
                  <a:pt x="4558476" y="481324"/>
                </a:lnTo>
                <a:lnTo>
                  <a:pt x="4790118" y="492183"/>
                </a:lnTo>
                <a:lnTo>
                  <a:pt x="5025418" y="502342"/>
                </a:lnTo>
                <a:lnTo>
                  <a:pt x="5261937" y="508998"/>
                </a:lnTo>
                <a:lnTo>
                  <a:pt x="5503332" y="514953"/>
                </a:lnTo>
                <a:lnTo>
                  <a:pt x="5747167" y="521259"/>
                </a:lnTo>
                <a:lnTo>
                  <a:pt x="5995877" y="525463"/>
                </a:lnTo>
                <a:lnTo>
                  <a:pt x="6247026" y="525463"/>
                </a:lnTo>
                <a:lnTo>
                  <a:pt x="6500613" y="527565"/>
                </a:lnTo>
                <a:lnTo>
                  <a:pt x="6756639" y="525463"/>
                </a:lnTo>
                <a:lnTo>
                  <a:pt x="7016322" y="521259"/>
                </a:lnTo>
                <a:lnTo>
                  <a:pt x="7276005" y="517406"/>
                </a:lnTo>
                <a:lnTo>
                  <a:pt x="7539345" y="508998"/>
                </a:lnTo>
                <a:lnTo>
                  <a:pt x="7805124" y="500241"/>
                </a:lnTo>
                <a:lnTo>
                  <a:pt x="8070903" y="490082"/>
                </a:lnTo>
                <a:lnTo>
                  <a:pt x="8339121" y="475719"/>
                </a:lnTo>
                <a:lnTo>
                  <a:pt x="8609776" y="458554"/>
                </a:lnTo>
                <a:lnTo>
                  <a:pt x="8881651" y="442089"/>
                </a:lnTo>
                <a:lnTo>
                  <a:pt x="9153526" y="421071"/>
                </a:lnTo>
                <a:lnTo>
                  <a:pt x="9429058" y="395849"/>
                </a:lnTo>
                <a:lnTo>
                  <a:pt x="9700933" y="370626"/>
                </a:lnTo>
                <a:lnTo>
                  <a:pt x="9977684" y="341551"/>
                </a:lnTo>
                <a:lnTo>
                  <a:pt x="10255655" y="309673"/>
                </a:lnTo>
                <a:lnTo>
                  <a:pt x="10529968" y="276043"/>
                </a:lnTo>
                <a:lnTo>
                  <a:pt x="10807939" y="236809"/>
                </a:lnTo>
                <a:lnTo>
                  <a:pt x="11084690" y="194772"/>
                </a:lnTo>
                <a:lnTo>
                  <a:pt x="11362661" y="153085"/>
                </a:lnTo>
                <a:lnTo>
                  <a:pt x="11639412" y="104392"/>
                </a:lnTo>
                <a:lnTo>
                  <a:pt x="11914945" y="54648"/>
                </a:lnTo>
                <a:lnTo>
                  <a:pt x="12191696" y="2452"/>
                </a:lnTo>
                <a:lnTo>
                  <a:pt x="12191696" y="2109542"/>
                </a:lnTo>
                <a:lnTo>
                  <a:pt x="12191999" y="2109542"/>
                </a:lnTo>
                <a:lnTo>
                  <a:pt x="12191999" y="2802467"/>
                </a:lnTo>
                <a:lnTo>
                  <a:pt x="12192418" y="2802467"/>
                </a:lnTo>
                <a:lnTo>
                  <a:pt x="12192418" y="5095933"/>
                </a:lnTo>
                <a:lnTo>
                  <a:pt x="1" y="5095933"/>
                </a:lnTo>
                <a:lnTo>
                  <a:pt x="1" y="4074529"/>
                </a:lnTo>
                <a:lnTo>
                  <a:pt x="0" y="4074529"/>
                </a:lnTo>
                <a:lnTo>
                  <a:pt x="0" y="2109542"/>
                </a:lnTo>
                <a:lnTo>
                  <a:pt x="1" y="2109542"/>
                </a:lnTo>
                <a:close/>
              </a:path>
            </a:pathLst>
          </a:custGeom>
          <a:solidFill>
            <a:schemeClr val="bg1"/>
          </a:solidFill>
          <a:ln>
            <a:noFill/>
          </a:ln>
        </p:spPr>
        <p:txBody>
          <a:bodyPr/>
          <a:lstStyle/>
          <a:p>
            <a:endParaRPr lang="en-US"/>
          </a:p>
        </p:txBody>
      </p:sp>
      <p:sp>
        <p:nvSpPr>
          <p:cNvPr id="6" name="Rectangle 1">
            <a:extLst>
              <a:ext uri="{FF2B5EF4-FFF2-40B4-BE49-F238E27FC236}">
                <a16:creationId xmlns:a16="http://schemas.microsoft.com/office/drawing/2014/main" id="{90572F4C-7D35-BB3E-9771-B7510AF7F3B8}"/>
              </a:ext>
            </a:extLst>
          </p:cNvPr>
          <p:cNvSpPr>
            <a:spLocks noChangeArrowheads="1"/>
          </p:cNvSpPr>
          <p:nvPr/>
        </p:nvSpPr>
        <p:spPr bwMode="auto">
          <a:xfrm>
            <a:off x="-2896220" y="-12649"/>
            <a:ext cx="15088220" cy="4698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graphicFrame>
        <p:nvGraphicFramePr>
          <p:cNvPr id="3" name="Table 2">
            <a:extLst>
              <a:ext uri="{FF2B5EF4-FFF2-40B4-BE49-F238E27FC236}">
                <a16:creationId xmlns:a16="http://schemas.microsoft.com/office/drawing/2014/main" id="{DA8FCF5E-327B-A59F-F2A2-E848106B27C9}"/>
              </a:ext>
            </a:extLst>
          </p:cNvPr>
          <p:cNvGraphicFramePr>
            <a:graphicFrameLocks noGrp="1"/>
          </p:cNvGraphicFramePr>
          <p:nvPr>
            <p:extLst>
              <p:ext uri="{D42A27DB-BD31-4B8C-83A1-F6EECF244321}">
                <p14:modId xmlns:p14="http://schemas.microsoft.com/office/powerpoint/2010/main" val="1239405953"/>
              </p:ext>
            </p:extLst>
          </p:nvPr>
        </p:nvGraphicFramePr>
        <p:xfrm>
          <a:off x="1039290" y="2447867"/>
          <a:ext cx="10113418" cy="4222302"/>
        </p:xfrm>
        <a:graphic>
          <a:graphicData uri="http://schemas.openxmlformats.org/drawingml/2006/table">
            <a:tbl>
              <a:tblPr firstRow="1" firstCol="1" bandRow="1">
                <a:tableStyleId>{5C22544A-7EE6-4342-B048-85BDC9FD1C3A}</a:tableStyleId>
              </a:tblPr>
              <a:tblGrid>
                <a:gridCol w="1547760">
                  <a:extLst>
                    <a:ext uri="{9D8B030D-6E8A-4147-A177-3AD203B41FA5}">
                      <a16:colId xmlns:a16="http://schemas.microsoft.com/office/drawing/2014/main" val="3582760357"/>
                    </a:ext>
                  </a:extLst>
                </a:gridCol>
                <a:gridCol w="6806909">
                  <a:extLst>
                    <a:ext uri="{9D8B030D-6E8A-4147-A177-3AD203B41FA5}">
                      <a16:colId xmlns:a16="http://schemas.microsoft.com/office/drawing/2014/main" val="9527291"/>
                    </a:ext>
                  </a:extLst>
                </a:gridCol>
                <a:gridCol w="1758749">
                  <a:extLst>
                    <a:ext uri="{9D8B030D-6E8A-4147-A177-3AD203B41FA5}">
                      <a16:colId xmlns:a16="http://schemas.microsoft.com/office/drawing/2014/main" val="2904892354"/>
                    </a:ext>
                  </a:extLst>
                </a:gridCol>
              </a:tblGrid>
              <a:tr h="324423">
                <a:tc>
                  <a:txBody>
                    <a:bodyPr/>
                    <a:lstStyle/>
                    <a:p>
                      <a:pPr marL="0" marR="0">
                        <a:lnSpc>
                          <a:spcPct val="110000"/>
                        </a:lnSpc>
                        <a:spcAft>
                          <a:spcPts val="600"/>
                        </a:spcAft>
                        <a:buNone/>
                      </a:pPr>
                      <a:r>
                        <a:rPr lang="en-US" sz="1800">
                          <a:effectLst/>
                          <a:latin typeface="+mj-lt"/>
                          <a:ea typeface="MS PGothic"/>
                          <a:cs typeface="Arial"/>
                        </a:rPr>
                        <a:t>Date</a:t>
                      </a:r>
                    </a:p>
                  </a:txBody>
                  <a:tcPr marL="68580" marR="68580" marT="0" marB="0"/>
                </a:tc>
                <a:tc>
                  <a:txBody>
                    <a:bodyPr/>
                    <a:lstStyle/>
                    <a:p>
                      <a:pPr marL="0" marR="0">
                        <a:lnSpc>
                          <a:spcPct val="110000"/>
                        </a:lnSpc>
                        <a:spcAft>
                          <a:spcPts val="600"/>
                        </a:spcAft>
                        <a:buNone/>
                      </a:pPr>
                      <a:r>
                        <a:rPr lang="en-US" sz="1800">
                          <a:effectLst/>
                          <a:latin typeface="+mj-lt"/>
                          <a:ea typeface="MS PGothic"/>
                          <a:cs typeface="Arial"/>
                        </a:rPr>
                        <a:t>Task</a:t>
                      </a:r>
                    </a:p>
                  </a:txBody>
                  <a:tcPr marL="68580" marR="68580" marT="0" marB="0"/>
                </a:tc>
                <a:tc>
                  <a:txBody>
                    <a:bodyPr/>
                    <a:lstStyle/>
                    <a:p>
                      <a:pPr marL="0" marR="0">
                        <a:lnSpc>
                          <a:spcPct val="110000"/>
                        </a:lnSpc>
                        <a:spcAft>
                          <a:spcPts val="600"/>
                        </a:spcAft>
                        <a:buNone/>
                      </a:pPr>
                      <a:r>
                        <a:rPr lang="en-US" sz="1800">
                          <a:effectLst/>
                          <a:latin typeface="+mj-lt"/>
                          <a:ea typeface="MS PGothic"/>
                          <a:cs typeface="Arial"/>
                        </a:rPr>
                        <a:t>Duration</a:t>
                      </a:r>
                    </a:p>
                  </a:txBody>
                  <a:tcPr marL="68580" marR="68580" marT="0" marB="0"/>
                </a:tc>
                <a:extLst>
                  <a:ext uri="{0D108BD9-81ED-4DB2-BD59-A6C34878D82A}">
                    <a16:rowId xmlns:a16="http://schemas.microsoft.com/office/drawing/2014/main" val="2065427665"/>
                  </a:ext>
                </a:extLst>
              </a:tr>
              <a:tr h="353344">
                <a:tc>
                  <a:txBody>
                    <a:bodyPr/>
                    <a:lstStyle/>
                    <a:p>
                      <a:pPr algn="l" rtl="0" fontAlgn="base">
                        <a:lnSpc>
                          <a:spcPts val="1650"/>
                        </a:lnSpc>
                        <a:buNone/>
                      </a:pPr>
                      <a:r>
                        <a:rPr lang="en-US" sz="1800" b="1" i="0">
                          <a:solidFill>
                            <a:srgbClr val="FFFFFF"/>
                          </a:solidFill>
                          <a:effectLst/>
                          <a:latin typeface="Century Gothic" panose="020B0502020202020204" pitchFamily="34" charset="0"/>
                        </a:rPr>
                        <a:t>10/23/2025​</a:t>
                      </a:r>
                      <a:endParaRPr lang="en-US" b="1" i="0">
                        <a:solidFill>
                          <a:srgbClr val="FFFFFF"/>
                        </a:solidFill>
                        <a:effectLst/>
                      </a:endParaRPr>
                    </a:p>
                  </a:txBody>
                  <a:tcPr/>
                </a:tc>
                <a:tc>
                  <a:txBody>
                    <a:bodyPr/>
                    <a:lstStyle/>
                    <a:p>
                      <a:pPr algn="l" rtl="0" fontAlgn="base">
                        <a:lnSpc>
                          <a:spcPts val="1650"/>
                        </a:lnSpc>
                        <a:buNone/>
                      </a:pPr>
                      <a:r>
                        <a:rPr lang="en-US" sz="1800" b="0" i="0">
                          <a:solidFill>
                            <a:srgbClr val="000000"/>
                          </a:solidFill>
                          <a:effectLst/>
                          <a:latin typeface="Century Gothic" panose="020B0502020202020204" pitchFamily="34" charset="0"/>
                        </a:rPr>
                        <a:t>Mentor/advisor meetings, group discussion​</a:t>
                      </a:r>
                      <a:endParaRPr lang="en-US" b="0" i="0">
                        <a:solidFill>
                          <a:srgbClr val="000000"/>
                        </a:solidFill>
                        <a:effectLst/>
                      </a:endParaRPr>
                    </a:p>
                  </a:txBody>
                  <a:tcPr/>
                </a:tc>
                <a:tc>
                  <a:txBody>
                    <a:bodyPr/>
                    <a:lstStyle/>
                    <a:p>
                      <a:pPr algn="l" rtl="0" fontAlgn="base">
                        <a:lnSpc>
                          <a:spcPts val="1650"/>
                        </a:lnSpc>
                        <a:buNone/>
                      </a:pPr>
                      <a:r>
                        <a:rPr lang="en-US" sz="1800" b="0" i="0">
                          <a:solidFill>
                            <a:srgbClr val="000000"/>
                          </a:solidFill>
                          <a:effectLst/>
                          <a:latin typeface="Century Gothic" panose="020B0502020202020204" pitchFamily="34" charset="0"/>
                        </a:rPr>
                        <a:t>3 hours​</a:t>
                      </a:r>
                      <a:endParaRPr lang="en-US" b="0" i="0">
                        <a:solidFill>
                          <a:srgbClr val="000000"/>
                        </a:solidFill>
                        <a:effectLst/>
                      </a:endParaRPr>
                    </a:p>
                  </a:txBody>
                  <a:tcPr/>
                </a:tc>
                <a:extLst>
                  <a:ext uri="{0D108BD9-81ED-4DB2-BD59-A6C34878D82A}">
                    <a16:rowId xmlns:a16="http://schemas.microsoft.com/office/drawing/2014/main" val="1445721394"/>
                  </a:ext>
                </a:extLst>
              </a:tr>
              <a:tr h="641400">
                <a:tc>
                  <a:txBody>
                    <a:bodyPr/>
                    <a:lstStyle/>
                    <a:p>
                      <a:pPr marL="0" marR="0">
                        <a:lnSpc>
                          <a:spcPct val="110000"/>
                        </a:lnSpc>
                        <a:spcAft>
                          <a:spcPts val="600"/>
                        </a:spcAft>
                        <a:buNone/>
                      </a:pPr>
                      <a:r>
                        <a:rPr lang="en-US" sz="1800">
                          <a:effectLst/>
                          <a:latin typeface="+mj-lt"/>
                        </a:rPr>
                        <a:t>10/30/2025</a:t>
                      </a:r>
                      <a:endParaRPr lang="en-US" sz="1800">
                        <a:effectLst/>
                        <a:latin typeface="+mj-lt"/>
                        <a:ea typeface="MS PGothic"/>
                        <a:cs typeface="Arial"/>
                      </a:endParaRPr>
                    </a:p>
                  </a:txBody>
                  <a:tcPr marL="68580" marR="68580" marT="0" marB="0"/>
                </a:tc>
                <a:tc>
                  <a:txBody>
                    <a:bodyPr/>
                    <a:lstStyle/>
                    <a:p>
                      <a:pPr marL="0" marR="0">
                        <a:lnSpc>
                          <a:spcPct val="110000"/>
                        </a:lnSpc>
                        <a:spcAft>
                          <a:spcPts val="600"/>
                        </a:spcAft>
                        <a:buNone/>
                      </a:pPr>
                      <a:r>
                        <a:rPr lang="en-US" sz="1800">
                          <a:effectLst/>
                          <a:latin typeface="+mj-lt"/>
                        </a:rPr>
                        <a:t>UML Class Diagram</a:t>
                      </a:r>
                    </a:p>
                    <a:p>
                      <a:pPr marL="0" marR="0">
                        <a:lnSpc>
                          <a:spcPct val="110000"/>
                        </a:lnSpc>
                        <a:spcAft>
                          <a:spcPts val="600"/>
                        </a:spcAft>
                        <a:buNone/>
                      </a:pPr>
                      <a:r>
                        <a:rPr lang="en-US" sz="1800">
                          <a:effectLst/>
                          <a:latin typeface="+mj-lt"/>
                        </a:rPr>
                        <a:t>Tour of production facility, group discussion</a:t>
                      </a:r>
                      <a:endParaRPr lang="en-US" sz="1800">
                        <a:effectLst/>
                        <a:latin typeface="+mj-lt"/>
                        <a:ea typeface="MS PGothic"/>
                        <a:cs typeface="Arial"/>
                      </a:endParaRPr>
                    </a:p>
                  </a:txBody>
                  <a:tcPr marL="68580" marR="68580" marT="0" marB="0"/>
                </a:tc>
                <a:tc>
                  <a:txBody>
                    <a:bodyPr/>
                    <a:lstStyle/>
                    <a:p>
                      <a:pPr marL="0" marR="0">
                        <a:lnSpc>
                          <a:spcPct val="110000"/>
                        </a:lnSpc>
                        <a:spcAft>
                          <a:spcPts val="600"/>
                        </a:spcAft>
                        <a:buNone/>
                      </a:pPr>
                      <a:r>
                        <a:rPr lang="en-US" sz="1800">
                          <a:effectLst/>
                          <a:latin typeface="+mj-lt"/>
                        </a:rPr>
                        <a:t>5 hours</a:t>
                      </a:r>
                      <a:endParaRPr lang="en-US" sz="1800">
                        <a:effectLst/>
                        <a:latin typeface="+mj-lt"/>
                        <a:ea typeface="MS PGothic"/>
                        <a:cs typeface="Arial"/>
                      </a:endParaRPr>
                    </a:p>
                  </a:txBody>
                  <a:tcPr marL="68580" marR="68580" marT="0" marB="0"/>
                </a:tc>
                <a:extLst>
                  <a:ext uri="{0D108BD9-81ED-4DB2-BD59-A6C34878D82A}">
                    <a16:rowId xmlns:a16="http://schemas.microsoft.com/office/drawing/2014/main" val="1808380271"/>
                  </a:ext>
                </a:extLst>
              </a:tr>
              <a:tr h="271297">
                <a:tc>
                  <a:txBody>
                    <a:bodyPr/>
                    <a:lstStyle/>
                    <a:p>
                      <a:pPr marL="0" marR="0">
                        <a:lnSpc>
                          <a:spcPct val="110000"/>
                        </a:lnSpc>
                        <a:spcAft>
                          <a:spcPts val="600"/>
                        </a:spcAft>
                        <a:buNone/>
                      </a:pPr>
                      <a:r>
                        <a:rPr lang="en-US" sz="1800">
                          <a:effectLst/>
                          <a:latin typeface="+mj-lt"/>
                        </a:rPr>
                        <a:t>11/6/2025</a:t>
                      </a:r>
                      <a:endParaRPr lang="en-US" sz="1800">
                        <a:effectLst/>
                        <a:latin typeface="+mj-lt"/>
                        <a:ea typeface="MS PGothic"/>
                        <a:cs typeface="Arial"/>
                      </a:endParaRPr>
                    </a:p>
                  </a:txBody>
                  <a:tcPr marL="68580" marR="68580" marT="0" marB="0"/>
                </a:tc>
                <a:tc>
                  <a:txBody>
                    <a:bodyPr/>
                    <a:lstStyle/>
                    <a:p>
                      <a:pPr marL="0" marR="0">
                        <a:lnSpc>
                          <a:spcPct val="110000"/>
                        </a:lnSpc>
                        <a:spcAft>
                          <a:spcPts val="600"/>
                        </a:spcAft>
                        <a:buNone/>
                      </a:pPr>
                      <a:r>
                        <a:rPr lang="en-US" sz="1800">
                          <a:effectLst/>
                          <a:latin typeface="+mj-lt"/>
                        </a:rPr>
                        <a:t>Mentor/advisor meetings, group discussion</a:t>
                      </a:r>
                      <a:endParaRPr lang="en-US" sz="1800">
                        <a:effectLst/>
                        <a:latin typeface="+mj-lt"/>
                        <a:ea typeface="MS PGothic"/>
                        <a:cs typeface="Arial"/>
                      </a:endParaRPr>
                    </a:p>
                  </a:txBody>
                  <a:tcPr marL="68580" marR="68580" marT="0" marB="0"/>
                </a:tc>
                <a:tc>
                  <a:txBody>
                    <a:bodyPr/>
                    <a:lstStyle/>
                    <a:p>
                      <a:pPr marL="0" marR="0">
                        <a:lnSpc>
                          <a:spcPct val="110000"/>
                        </a:lnSpc>
                        <a:spcAft>
                          <a:spcPts val="600"/>
                        </a:spcAft>
                        <a:buNone/>
                      </a:pPr>
                      <a:r>
                        <a:rPr lang="en-US" sz="1800">
                          <a:effectLst/>
                          <a:latin typeface="+mj-lt"/>
                        </a:rPr>
                        <a:t>3 hours</a:t>
                      </a:r>
                      <a:endParaRPr lang="en-US" sz="1800">
                        <a:effectLst/>
                        <a:latin typeface="+mj-lt"/>
                        <a:ea typeface="MS PGothic"/>
                        <a:cs typeface="Arial"/>
                      </a:endParaRPr>
                    </a:p>
                  </a:txBody>
                  <a:tcPr marL="68580" marR="68580" marT="0" marB="0"/>
                </a:tc>
                <a:extLst>
                  <a:ext uri="{0D108BD9-81ED-4DB2-BD59-A6C34878D82A}">
                    <a16:rowId xmlns:a16="http://schemas.microsoft.com/office/drawing/2014/main" val="2735884277"/>
                  </a:ext>
                </a:extLst>
              </a:tr>
              <a:tr h="450366">
                <a:tc>
                  <a:txBody>
                    <a:bodyPr/>
                    <a:lstStyle/>
                    <a:p>
                      <a:pPr marL="0" marR="0">
                        <a:lnSpc>
                          <a:spcPct val="110000"/>
                        </a:lnSpc>
                        <a:spcAft>
                          <a:spcPts val="600"/>
                        </a:spcAft>
                        <a:buNone/>
                      </a:pPr>
                      <a:r>
                        <a:rPr lang="en-US" sz="1800">
                          <a:effectLst/>
                          <a:latin typeface="+mj-lt"/>
                        </a:rPr>
                        <a:t>11/12/2025</a:t>
                      </a:r>
                      <a:endParaRPr lang="en-US" sz="1800">
                        <a:effectLst/>
                        <a:latin typeface="+mj-lt"/>
                        <a:ea typeface="MS PGothic"/>
                        <a:cs typeface="Arial"/>
                      </a:endParaRPr>
                    </a:p>
                  </a:txBody>
                  <a:tcPr marL="68580" marR="68580" marT="0" marB="0"/>
                </a:tc>
                <a:tc>
                  <a:txBody>
                    <a:bodyPr/>
                    <a:lstStyle/>
                    <a:p>
                      <a:pPr marL="0" marR="0">
                        <a:lnSpc>
                          <a:spcPct val="110000"/>
                        </a:lnSpc>
                        <a:spcAft>
                          <a:spcPts val="600"/>
                        </a:spcAft>
                        <a:buNone/>
                      </a:pPr>
                      <a:r>
                        <a:rPr lang="en-US" sz="1800">
                          <a:effectLst/>
                          <a:latin typeface="+mj-lt"/>
                        </a:rPr>
                        <a:t>Pair programming with Jacob</a:t>
                      </a:r>
                      <a:endParaRPr lang="en-US" sz="1800">
                        <a:effectLst/>
                        <a:latin typeface="+mj-lt"/>
                        <a:ea typeface="MS PGothic"/>
                        <a:cs typeface="Arial"/>
                      </a:endParaRPr>
                    </a:p>
                  </a:txBody>
                  <a:tcPr marL="68580" marR="68580" marT="0" marB="0"/>
                </a:tc>
                <a:tc>
                  <a:txBody>
                    <a:bodyPr/>
                    <a:lstStyle/>
                    <a:p>
                      <a:pPr marL="0" marR="0">
                        <a:lnSpc>
                          <a:spcPct val="110000"/>
                        </a:lnSpc>
                        <a:spcAft>
                          <a:spcPts val="600"/>
                        </a:spcAft>
                        <a:buNone/>
                      </a:pPr>
                      <a:r>
                        <a:rPr lang="en-US" sz="1800">
                          <a:effectLst/>
                          <a:latin typeface="+mj-lt"/>
                        </a:rPr>
                        <a:t>5 hours</a:t>
                      </a:r>
                      <a:endParaRPr lang="en-US" sz="1800">
                        <a:effectLst/>
                        <a:latin typeface="+mj-lt"/>
                        <a:ea typeface="MS PGothic"/>
                        <a:cs typeface="Arial"/>
                      </a:endParaRPr>
                    </a:p>
                  </a:txBody>
                  <a:tcPr marL="68580" marR="68580" marT="0" marB="0"/>
                </a:tc>
                <a:extLst>
                  <a:ext uri="{0D108BD9-81ED-4DB2-BD59-A6C34878D82A}">
                    <a16:rowId xmlns:a16="http://schemas.microsoft.com/office/drawing/2014/main" val="1712616351"/>
                  </a:ext>
                </a:extLst>
              </a:tr>
              <a:tr h="450366">
                <a:tc>
                  <a:txBody>
                    <a:bodyPr/>
                    <a:lstStyle/>
                    <a:p>
                      <a:pPr marL="0" marR="0">
                        <a:lnSpc>
                          <a:spcPct val="110000"/>
                        </a:lnSpc>
                        <a:spcAft>
                          <a:spcPts val="600"/>
                        </a:spcAft>
                        <a:buNone/>
                      </a:pPr>
                      <a:r>
                        <a:rPr lang="en-US" sz="1800">
                          <a:effectLst/>
                          <a:latin typeface="+mj-lt"/>
                        </a:rPr>
                        <a:t>11/13/2025</a:t>
                      </a:r>
                      <a:endParaRPr lang="en-US" sz="1800">
                        <a:effectLst/>
                        <a:latin typeface="+mj-lt"/>
                        <a:ea typeface="MS PGothic"/>
                        <a:cs typeface="Arial"/>
                      </a:endParaRPr>
                    </a:p>
                  </a:txBody>
                  <a:tcPr marL="68580" marR="68580" marT="0" marB="0"/>
                </a:tc>
                <a:tc>
                  <a:txBody>
                    <a:bodyPr/>
                    <a:lstStyle/>
                    <a:p>
                      <a:pPr marL="0" marR="0">
                        <a:lnSpc>
                          <a:spcPct val="110000"/>
                        </a:lnSpc>
                        <a:spcAft>
                          <a:spcPts val="600"/>
                        </a:spcAft>
                        <a:buNone/>
                      </a:pPr>
                      <a:r>
                        <a:rPr lang="en-US" sz="1800">
                          <a:effectLst/>
                          <a:latin typeface="+mj-lt"/>
                        </a:rPr>
                        <a:t>Mentor/advisor meetings, group discussion</a:t>
                      </a:r>
                      <a:endParaRPr lang="en-US" sz="1800">
                        <a:effectLst/>
                        <a:latin typeface="+mj-lt"/>
                        <a:ea typeface="MS PGothic"/>
                        <a:cs typeface="Arial"/>
                      </a:endParaRPr>
                    </a:p>
                  </a:txBody>
                  <a:tcPr marL="68580" marR="68580" marT="0" marB="0"/>
                </a:tc>
                <a:tc>
                  <a:txBody>
                    <a:bodyPr/>
                    <a:lstStyle/>
                    <a:p>
                      <a:pPr marL="0" marR="0">
                        <a:lnSpc>
                          <a:spcPct val="110000"/>
                        </a:lnSpc>
                        <a:spcAft>
                          <a:spcPts val="600"/>
                        </a:spcAft>
                        <a:buNone/>
                      </a:pPr>
                      <a:r>
                        <a:rPr lang="en-US" sz="1800">
                          <a:effectLst/>
                          <a:latin typeface="+mj-lt"/>
                        </a:rPr>
                        <a:t>3 hours</a:t>
                      </a:r>
                      <a:endParaRPr lang="en-US" sz="1800">
                        <a:effectLst/>
                        <a:latin typeface="+mj-lt"/>
                        <a:ea typeface="MS PGothic"/>
                        <a:cs typeface="Arial"/>
                      </a:endParaRPr>
                    </a:p>
                  </a:txBody>
                  <a:tcPr marL="68580" marR="68580" marT="0" marB="0"/>
                </a:tc>
                <a:extLst>
                  <a:ext uri="{0D108BD9-81ED-4DB2-BD59-A6C34878D82A}">
                    <a16:rowId xmlns:a16="http://schemas.microsoft.com/office/drawing/2014/main" val="2319687828"/>
                  </a:ext>
                </a:extLst>
              </a:tr>
              <a:tr h="450366">
                <a:tc>
                  <a:txBody>
                    <a:bodyPr/>
                    <a:lstStyle/>
                    <a:p>
                      <a:pPr marL="0" marR="0">
                        <a:lnSpc>
                          <a:spcPct val="110000"/>
                        </a:lnSpc>
                        <a:spcAft>
                          <a:spcPts val="600"/>
                        </a:spcAft>
                        <a:buNone/>
                      </a:pPr>
                      <a:r>
                        <a:rPr lang="en-US" sz="1800">
                          <a:effectLst/>
                          <a:latin typeface="+mj-lt"/>
                        </a:rPr>
                        <a:t>11/14/2025</a:t>
                      </a:r>
                      <a:endParaRPr lang="en-US" sz="1800">
                        <a:effectLst/>
                        <a:latin typeface="+mj-lt"/>
                        <a:ea typeface="MS PGothic"/>
                        <a:cs typeface="Arial"/>
                      </a:endParaRPr>
                    </a:p>
                  </a:txBody>
                  <a:tcPr marL="68580" marR="68580" marT="0" marB="0"/>
                </a:tc>
                <a:tc>
                  <a:txBody>
                    <a:bodyPr/>
                    <a:lstStyle/>
                    <a:p>
                      <a:pPr marL="0" marR="0">
                        <a:lnSpc>
                          <a:spcPct val="110000"/>
                        </a:lnSpc>
                        <a:spcAft>
                          <a:spcPts val="600"/>
                        </a:spcAft>
                        <a:buNone/>
                      </a:pPr>
                      <a:r>
                        <a:rPr lang="en-US" sz="1800">
                          <a:effectLst/>
                          <a:latin typeface="+mj-lt"/>
                        </a:rPr>
                        <a:t>UML Class Diagram</a:t>
                      </a:r>
                      <a:endParaRPr lang="en-US" sz="1800">
                        <a:effectLst/>
                        <a:latin typeface="+mj-lt"/>
                        <a:ea typeface="MS PGothic"/>
                        <a:cs typeface="Arial"/>
                      </a:endParaRPr>
                    </a:p>
                  </a:txBody>
                  <a:tcPr marL="68580" marR="68580" marT="0" marB="0"/>
                </a:tc>
                <a:tc>
                  <a:txBody>
                    <a:bodyPr/>
                    <a:lstStyle/>
                    <a:p>
                      <a:pPr marL="0" marR="0">
                        <a:lnSpc>
                          <a:spcPct val="110000"/>
                        </a:lnSpc>
                        <a:spcAft>
                          <a:spcPts val="600"/>
                        </a:spcAft>
                        <a:buNone/>
                      </a:pPr>
                      <a:r>
                        <a:rPr lang="en-US" sz="1800">
                          <a:effectLst/>
                          <a:latin typeface="+mj-lt"/>
                        </a:rPr>
                        <a:t>1 hour</a:t>
                      </a:r>
                      <a:endParaRPr lang="en-US" sz="1800">
                        <a:effectLst/>
                        <a:latin typeface="+mj-lt"/>
                        <a:ea typeface="MS PGothic"/>
                        <a:cs typeface="Arial"/>
                      </a:endParaRPr>
                    </a:p>
                  </a:txBody>
                  <a:tcPr marL="68580" marR="68580" marT="0" marB="0"/>
                </a:tc>
                <a:extLst>
                  <a:ext uri="{0D108BD9-81ED-4DB2-BD59-A6C34878D82A}">
                    <a16:rowId xmlns:a16="http://schemas.microsoft.com/office/drawing/2014/main" val="662193779"/>
                  </a:ext>
                </a:extLst>
              </a:tr>
              <a:tr h="566782">
                <a:tc>
                  <a:txBody>
                    <a:bodyPr/>
                    <a:lstStyle/>
                    <a:p>
                      <a:pPr marL="0" marR="0">
                        <a:lnSpc>
                          <a:spcPct val="110000"/>
                        </a:lnSpc>
                        <a:spcAft>
                          <a:spcPts val="600"/>
                        </a:spcAft>
                        <a:buNone/>
                      </a:pPr>
                      <a:r>
                        <a:rPr lang="en-US" sz="1800">
                          <a:effectLst/>
                          <a:latin typeface="+mj-lt"/>
                        </a:rPr>
                        <a:t>11/28/2025</a:t>
                      </a:r>
                      <a:endParaRPr lang="en-US" sz="1800">
                        <a:effectLst/>
                        <a:latin typeface="+mj-lt"/>
                        <a:ea typeface="MS PGothic"/>
                        <a:cs typeface="Arial"/>
                      </a:endParaRPr>
                    </a:p>
                  </a:txBody>
                  <a:tcPr marL="68580" marR="68580" marT="0" marB="0"/>
                </a:tc>
                <a:tc>
                  <a:txBody>
                    <a:bodyPr/>
                    <a:lstStyle/>
                    <a:p>
                      <a:pPr marL="0" marR="0">
                        <a:lnSpc>
                          <a:spcPct val="110000"/>
                        </a:lnSpc>
                        <a:spcAft>
                          <a:spcPts val="600"/>
                        </a:spcAft>
                        <a:buNone/>
                      </a:pPr>
                      <a:r>
                        <a:rPr lang="en-US" sz="1800">
                          <a:effectLst/>
                          <a:latin typeface="+mj-lt"/>
                        </a:rPr>
                        <a:t>Revised Class Diagram with Dan, refactored code to be more modular</a:t>
                      </a:r>
                      <a:endParaRPr lang="en-US" sz="1800">
                        <a:effectLst/>
                        <a:latin typeface="+mj-lt"/>
                        <a:ea typeface="MS PGothic"/>
                        <a:cs typeface="Arial"/>
                      </a:endParaRPr>
                    </a:p>
                  </a:txBody>
                  <a:tcPr marL="68580" marR="68580" marT="0" marB="0"/>
                </a:tc>
                <a:tc>
                  <a:txBody>
                    <a:bodyPr/>
                    <a:lstStyle/>
                    <a:p>
                      <a:pPr marL="0" marR="0">
                        <a:lnSpc>
                          <a:spcPct val="110000"/>
                        </a:lnSpc>
                        <a:spcAft>
                          <a:spcPts val="600"/>
                        </a:spcAft>
                        <a:buNone/>
                      </a:pPr>
                      <a:r>
                        <a:rPr lang="en-US" sz="1800">
                          <a:effectLst/>
                          <a:latin typeface="+mj-lt"/>
                        </a:rPr>
                        <a:t>3 hours</a:t>
                      </a:r>
                      <a:endParaRPr lang="en-US" sz="1800">
                        <a:effectLst/>
                        <a:latin typeface="+mj-lt"/>
                        <a:ea typeface="MS PGothic"/>
                        <a:cs typeface="Arial"/>
                      </a:endParaRPr>
                    </a:p>
                  </a:txBody>
                  <a:tcPr marL="68580" marR="68580" marT="0" marB="0"/>
                </a:tc>
                <a:extLst>
                  <a:ext uri="{0D108BD9-81ED-4DB2-BD59-A6C34878D82A}">
                    <a16:rowId xmlns:a16="http://schemas.microsoft.com/office/drawing/2014/main" val="636000688"/>
                  </a:ext>
                </a:extLst>
              </a:tr>
              <a:tr h="271297">
                <a:tc>
                  <a:txBody>
                    <a:bodyPr/>
                    <a:lstStyle/>
                    <a:p>
                      <a:pPr marL="0" marR="0">
                        <a:lnSpc>
                          <a:spcPct val="110000"/>
                        </a:lnSpc>
                        <a:spcAft>
                          <a:spcPts val="600"/>
                        </a:spcAft>
                        <a:buNone/>
                      </a:pPr>
                      <a:r>
                        <a:rPr lang="en-US" sz="1800">
                          <a:effectLst/>
                          <a:latin typeface="+mj-lt"/>
                        </a:rPr>
                        <a:t>12/1/2025</a:t>
                      </a:r>
                      <a:endParaRPr lang="en-US" sz="1800">
                        <a:effectLst/>
                        <a:latin typeface="+mj-lt"/>
                        <a:ea typeface="MS PGothic"/>
                        <a:cs typeface="Arial"/>
                      </a:endParaRPr>
                    </a:p>
                  </a:txBody>
                  <a:tcPr marL="68580" marR="68580" marT="0" marB="0"/>
                </a:tc>
                <a:tc>
                  <a:txBody>
                    <a:bodyPr/>
                    <a:lstStyle/>
                    <a:p>
                      <a:pPr marL="0" marR="0">
                        <a:lnSpc>
                          <a:spcPct val="110000"/>
                        </a:lnSpc>
                        <a:spcAft>
                          <a:spcPts val="600"/>
                        </a:spcAft>
                        <a:buNone/>
                      </a:pPr>
                      <a:r>
                        <a:rPr lang="en-US" sz="1800">
                          <a:effectLst/>
                          <a:latin typeface="+mj-lt"/>
                        </a:rPr>
                        <a:t>Revised requirements, added class diagram</a:t>
                      </a:r>
                      <a:endParaRPr lang="en-US" sz="1800">
                        <a:effectLst/>
                        <a:latin typeface="+mj-lt"/>
                        <a:ea typeface="MS PGothic"/>
                        <a:cs typeface="Arial"/>
                      </a:endParaRPr>
                    </a:p>
                  </a:txBody>
                  <a:tcPr marL="68580" marR="68580" marT="0" marB="0"/>
                </a:tc>
                <a:tc>
                  <a:txBody>
                    <a:bodyPr/>
                    <a:lstStyle/>
                    <a:p>
                      <a:pPr marL="0" marR="0">
                        <a:lnSpc>
                          <a:spcPct val="110000"/>
                        </a:lnSpc>
                        <a:spcAft>
                          <a:spcPts val="600"/>
                        </a:spcAft>
                        <a:buNone/>
                      </a:pPr>
                      <a:r>
                        <a:rPr lang="en-US" sz="1800">
                          <a:effectLst/>
                          <a:latin typeface="+mj-lt"/>
                        </a:rPr>
                        <a:t>10 hours</a:t>
                      </a:r>
                      <a:endParaRPr lang="en-US" sz="1800">
                        <a:effectLst/>
                        <a:latin typeface="+mj-lt"/>
                        <a:ea typeface="MS PGothic"/>
                        <a:cs typeface="Arial"/>
                      </a:endParaRPr>
                    </a:p>
                  </a:txBody>
                  <a:tcPr marL="68580" marR="68580" marT="0" marB="0"/>
                </a:tc>
                <a:extLst>
                  <a:ext uri="{0D108BD9-81ED-4DB2-BD59-A6C34878D82A}">
                    <a16:rowId xmlns:a16="http://schemas.microsoft.com/office/drawing/2014/main" val="1843215339"/>
                  </a:ext>
                </a:extLst>
              </a:tr>
              <a:tr h="405529">
                <a:tc>
                  <a:txBody>
                    <a:bodyPr/>
                    <a:lstStyle/>
                    <a:p>
                      <a:pPr marL="0" marR="0">
                        <a:lnSpc>
                          <a:spcPct val="110000"/>
                        </a:lnSpc>
                        <a:spcAft>
                          <a:spcPts val="600"/>
                        </a:spcAft>
                        <a:buNone/>
                      </a:pPr>
                      <a:endParaRPr lang="en-US" sz="1800">
                        <a:effectLst/>
                        <a:latin typeface="+mj-lt"/>
                        <a:ea typeface="MS PGothic"/>
                        <a:cs typeface="Arial"/>
                      </a:endParaRPr>
                    </a:p>
                  </a:txBody>
                  <a:tcPr marL="68580" marR="68580" marT="0" marB="0"/>
                </a:tc>
                <a:tc>
                  <a:txBody>
                    <a:bodyPr/>
                    <a:lstStyle/>
                    <a:p>
                      <a:pPr marL="0" marR="0">
                        <a:lnSpc>
                          <a:spcPct val="110000"/>
                        </a:lnSpc>
                        <a:spcAft>
                          <a:spcPts val="600"/>
                        </a:spcAft>
                        <a:buNone/>
                      </a:pPr>
                      <a:endParaRPr lang="en-US" sz="1800">
                        <a:effectLst/>
                        <a:latin typeface="+mj-lt"/>
                        <a:ea typeface="MS PGothic"/>
                        <a:cs typeface="Arial"/>
                      </a:endParaRPr>
                    </a:p>
                  </a:txBody>
                  <a:tcPr marL="68580" marR="68580" marT="0" marB="0"/>
                </a:tc>
                <a:tc>
                  <a:txBody>
                    <a:bodyPr/>
                    <a:lstStyle/>
                    <a:p>
                      <a:pPr marL="0" marR="0">
                        <a:lnSpc>
                          <a:spcPct val="110000"/>
                        </a:lnSpc>
                        <a:spcAft>
                          <a:spcPts val="600"/>
                        </a:spcAft>
                        <a:buNone/>
                      </a:pPr>
                      <a:r>
                        <a:rPr lang="en-US" sz="1800">
                          <a:effectLst/>
                          <a:latin typeface="+mj-lt"/>
                        </a:rPr>
                        <a:t>Total: 33 hours</a:t>
                      </a:r>
                      <a:endParaRPr lang="en-US" sz="1800">
                        <a:effectLst/>
                        <a:latin typeface="+mj-lt"/>
                        <a:ea typeface="MS PGothic"/>
                        <a:cs typeface="Arial"/>
                      </a:endParaRPr>
                    </a:p>
                  </a:txBody>
                  <a:tcPr marL="68580" marR="68580" marT="0" marB="0"/>
                </a:tc>
                <a:extLst>
                  <a:ext uri="{0D108BD9-81ED-4DB2-BD59-A6C34878D82A}">
                    <a16:rowId xmlns:a16="http://schemas.microsoft.com/office/drawing/2014/main" val="2969998559"/>
                  </a:ext>
                </a:extLst>
              </a:tr>
            </a:tbl>
          </a:graphicData>
        </a:graphic>
      </p:graphicFrame>
    </p:spTree>
    <p:extLst>
      <p:ext uri="{BB962C8B-B14F-4D97-AF65-F5344CB8AC3E}">
        <p14:creationId xmlns:p14="http://schemas.microsoft.com/office/powerpoint/2010/main" val="2763784504"/>
      </p:ext>
    </p:extLst>
  </p:cSld>
  <p:clrMapOvr>
    <a:overrideClrMapping bg1="lt1" tx1="dk1" bg2="lt2" tx2="dk2" accent1="accent1" accent2="accent2" accent3="accent3" accent4="accent4" accent5="accent5" accent6="accent6" hlink="hlink" folHlink="folHlink"/>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2EA353E-0E77-44C5-4883-1461DC106D10}"/>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F747F1B4-B831-4277-8AB0-32767F7EB7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4" name="Freeform 7">
            <a:extLst>
              <a:ext uri="{FF2B5EF4-FFF2-40B4-BE49-F238E27FC236}">
                <a16:creationId xmlns:a16="http://schemas.microsoft.com/office/drawing/2014/main" id="{D80CFA21-AB7C-4BEB-9BFF-05764FBBF3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79493943-0B64-B565-8EB4-6C4B80F07473}"/>
              </a:ext>
            </a:extLst>
          </p:cNvPr>
          <p:cNvSpPr>
            <a:spLocks noGrp="1"/>
          </p:cNvSpPr>
          <p:nvPr>
            <p:ph type="title"/>
          </p:nvPr>
        </p:nvSpPr>
        <p:spPr>
          <a:xfrm>
            <a:off x="648930" y="629267"/>
            <a:ext cx="9252154" cy="1016654"/>
          </a:xfrm>
        </p:spPr>
        <p:txBody>
          <a:bodyPr vert="horz" lIns="91440" tIns="45720" rIns="91440" bIns="45720" rtlCol="0">
            <a:normAutofit/>
          </a:bodyPr>
          <a:lstStyle/>
          <a:p>
            <a:r>
              <a:rPr lang="en-US" b="0" i="0" kern="1200">
                <a:solidFill>
                  <a:srgbClr val="EBEBEB"/>
                </a:solidFill>
                <a:latin typeface="+mj-lt"/>
                <a:ea typeface="+mj-ea"/>
                <a:cs typeface="+mj-cs"/>
              </a:rPr>
              <a:t>Dan Pora</a:t>
            </a:r>
          </a:p>
        </p:txBody>
      </p:sp>
      <p:sp>
        <p:nvSpPr>
          <p:cNvPr id="26" name="Rectangle 25">
            <a:extLst>
              <a:ext uri="{FF2B5EF4-FFF2-40B4-BE49-F238E27FC236}">
                <a16:creationId xmlns:a16="http://schemas.microsoft.com/office/drawing/2014/main" id="{12F7E335-851A-4CAE-B09F-E657819D46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Slide Number Placeholder 3">
            <a:extLst>
              <a:ext uri="{FF2B5EF4-FFF2-40B4-BE49-F238E27FC236}">
                <a16:creationId xmlns:a16="http://schemas.microsoft.com/office/drawing/2014/main" id="{AA07D6D2-02B3-CF86-051D-79154A70D1C6}"/>
              </a:ext>
            </a:extLst>
          </p:cNvPr>
          <p:cNvSpPr>
            <a:spLocks noGrp="1"/>
          </p:cNvSpPr>
          <p:nvPr>
            <p:ph type="sldNum" sz="quarter" idx="12"/>
          </p:nvPr>
        </p:nvSpPr>
        <p:spPr>
          <a:xfrm>
            <a:off x="10352540" y="295729"/>
            <a:ext cx="838199" cy="767687"/>
          </a:xfrm>
        </p:spPr>
        <p:txBody>
          <a:bodyPr vert="horz" lIns="91440" tIns="45720" rIns="91440" bIns="45720" rtlCol="0">
            <a:normAutofit/>
          </a:bodyPr>
          <a:lstStyle/>
          <a:p>
            <a:pPr>
              <a:spcAft>
                <a:spcPts val="600"/>
              </a:spcAft>
            </a:pPr>
            <a:fld id="{D57F1E4F-1CFF-5643-939E-02111984F565}" type="slidenum">
              <a:rPr lang="en-US">
                <a:solidFill>
                  <a:srgbClr val="FFFFFF"/>
                </a:solidFill>
              </a:rPr>
              <a:pPr>
                <a:spcAft>
                  <a:spcPts val="600"/>
                </a:spcAft>
              </a:pPr>
              <a:t>35</a:t>
            </a:fld>
            <a:endParaRPr lang="en-US">
              <a:solidFill>
                <a:srgbClr val="FFFFFF"/>
              </a:solidFill>
            </a:endParaRPr>
          </a:p>
        </p:txBody>
      </p:sp>
      <p:sp>
        <p:nvSpPr>
          <p:cNvPr id="28" name="Freeform: Shape 27">
            <a:extLst>
              <a:ext uri="{FF2B5EF4-FFF2-40B4-BE49-F238E27FC236}">
                <a16:creationId xmlns:a16="http://schemas.microsoft.com/office/drawing/2014/main" id="{10B541F0-7F6E-402E-84D8-CF96EACA5F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8" cy="5095933"/>
          </a:xfrm>
          <a:custGeom>
            <a:avLst/>
            <a:gdLst>
              <a:gd name="connsiteX0" fmla="*/ 1 w 12192418"/>
              <a:gd name="connsiteY0" fmla="*/ 0 h 5095933"/>
              <a:gd name="connsiteX1" fmla="*/ 71932 w 12192418"/>
              <a:gd name="connsiteY1" fmla="*/ 12261 h 5095933"/>
              <a:gd name="connsiteX2" fmla="*/ 282849 w 12192418"/>
              <a:gd name="connsiteY2" fmla="*/ 48343 h 5095933"/>
              <a:gd name="connsiteX3" fmla="*/ 436464 w 12192418"/>
              <a:gd name="connsiteY3" fmla="*/ 73565 h 5095933"/>
              <a:gd name="connsiteX4" fmla="*/ 619339 w 12192418"/>
              <a:gd name="connsiteY4" fmla="*/ 100188 h 5095933"/>
              <a:gd name="connsiteX5" fmla="*/ 836351 w 12192418"/>
              <a:gd name="connsiteY5" fmla="*/ 132066 h 5095933"/>
              <a:gd name="connsiteX6" fmla="*/ 1076528 w 12192418"/>
              <a:gd name="connsiteY6" fmla="*/ 165696 h 5095933"/>
              <a:gd name="connsiteX7" fmla="*/ 1347184 w 12192418"/>
              <a:gd name="connsiteY7" fmla="*/ 201077 h 5095933"/>
              <a:gd name="connsiteX8" fmla="*/ 1642223 w 12192418"/>
              <a:gd name="connsiteY8" fmla="*/ 238560 h 5095933"/>
              <a:gd name="connsiteX9" fmla="*/ 1962864 w 12192418"/>
              <a:gd name="connsiteY9" fmla="*/ 276043 h 5095933"/>
              <a:gd name="connsiteX10" fmla="*/ 2304232 w 12192418"/>
              <a:gd name="connsiteY10" fmla="*/ 314227 h 5095933"/>
              <a:gd name="connsiteX11" fmla="*/ 2672421 w 12192418"/>
              <a:gd name="connsiteY11" fmla="*/ 349608 h 5095933"/>
              <a:gd name="connsiteX12" fmla="*/ 3057678 w 12192418"/>
              <a:gd name="connsiteY12" fmla="*/ 383588 h 5095933"/>
              <a:gd name="connsiteX13" fmla="*/ 3464881 w 12192418"/>
              <a:gd name="connsiteY13" fmla="*/ 414415 h 5095933"/>
              <a:gd name="connsiteX14" fmla="*/ 3889152 w 12192418"/>
              <a:gd name="connsiteY14" fmla="*/ 443841 h 5095933"/>
              <a:gd name="connsiteX15" fmla="*/ 4331710 w 12192418"/>
              <a:gd name="connsiteY15" fmla="*/ 471515 h 5095933"/>
              <a:gd name="connsiteX16" fmla="*/ 4558476 w 12192418"/>
              <a:gd name="connsiteY16" fmla="*/ 481324 h 5095933"/>
              <a:gd name="connsiteX17" fmla="*/ 4790118 w 12192418"/>
              <a:gd name="connsiteY17" fmla="*/ 492183 h 5095933"/>
              <a:gd name="connsiteX18" fmla="*/ 5025418 w 12192418"/>
              <a:gd name="connsiteY18" fmla="*/ 502342 h 5095933"/>
              <a:gd name="connsiteX19" fmla="*/ 5261937 w 12192418"/>
              <a:gd name="connsiteY19" fmla="*/ 508998 h 5095933"/>
              <a:gd name="connsiteX20" fmla="*/ 5503332 w 12192418"/>
              <a:gd name="connsiteY20" fmla="*/ 514953 h 5095933"/>
              <a:gd name="connsiteX21" fmla="*/ 5747167 w 12192418"/>
              <a:gd name="connsiteY21" fmla="*/ 521259 h 5095933"/>
              <a:gd name="connsiteX22" fmla="*/ 5995877 w 12192418"/>
              <a:gd name="connsiteY22" fmla="*/ 525463 h 5095933"/>
              <a:gd name="connsiteX23" fmla="*/ 6247026 w 12192418"/>
              <a:gd name="connsiteY23" fmla="*/ 525463 h 5095933"/>
              <a:gd name="connsiteX24" fmla="*/ 6500613 w 12192418"/>
              <a:gd name="connsiteY24" fmla="*/ 527565 h 5095933"/>
              <a:gd name="connsiteX25" fmla="*/ 6756639 w 12192418"/>
              <a:gd name="connsiteY25" fmla="*/ 525463 h 5095933"/>
              <a:gd name="connsiteX26" fmla="*/ 7016322 w 12192418"/>
              <a:gd name="connsiteY26" fmla="*/ 521259 h 5095933"/>
              <a:gd name="connsiteX27" fmla="*/ 7276005 w 12192418"/>
              <a:gd name="connsiteY27" fmla="*/ 517406 h 5095933"/>
              <a:gd name="connsiteX28" fmla="*/ 7539345 w 12192418"/>
              <a:gd name="connsiteY28" fmla="*/ 508998 h 5095933"/>
              <a:gd name="connsiteX29" fmla="*/ 7805124 w 12192418"/>
              <a:gd name="connsiteY29" fmla="*/ 500241 h 5095933"/>
              <a:gd name="connsiteX30" fmla="*/ 8070903 w 12192418"/>
              <a:gd name="connsiteY30" fmla="*/ 490082 h 5095933"/>
              <a:gd name="connsiteX31" fmla="*/ 8339121 w 12192418"/>
              <a:gd name="connsiteY31" fmla="*/ 475719 h 5095933"/>
              <a:gd name="connsiteX32" fmla="*/ 8609776 w 12192418"/>
              <a:gd name="connsiteY32" fmla="*/ 458554 h 5095933"/>
              <a:gd name="connsiteX33" fmla="*/ 8881651 w 12192418"/>
              <a:gd name="connsiteY33" fmla="*/ 442089 h 5095933"/>
              <a:gd name="connsiteX34" fmla="*/ 9153526 w 12192418"/>
              <a:gd name="connsiteY34" fmla="*/ 421071 h 5095933"/>
              <a:gd name="connsiteX35" fmla="*/ 9429058 w 12192418"/>
              <a:gd name="connsiteY35" fmla="*/ 395849 h 5095933"/>
              <a:gd name="connsiteX36" fmla="*/ 9700933 w 12192418"/>
              <a:gd name="connsiteY36" fmla="*/ 370626 h 5095933"/>
              <a:gd name="connsiteX37" fmla="*/ 9977684 w 12192418"/>
              <a:gd name="connsiteY37" fmla="*/ 341551 h 5095933"/>
              <a:gd name="connsiteX38" fmla="*/ 10255655 w 12192418"/>
              <a:gd name="connsiteY38" fmla="*/ 309673 h 5095933"/>
              <a:gd name="connsiteX39" fmla="*/ 10529968 w 12192418"/>
              <a:gd name="connsiteY39" fmla="*/ 276043 h 5095933"/>
              <a:gd name="connsiteX40" fmla="*/ 10807939 w 12192418"/>
              <a:gd name="connsiteY40" fmla="*/ 236809 h 5095933"/>
              <a:gd name="connsiteX41" fmla="*/ 11084690 w 12192418"/>
              <a:gd name="connsiteY41" fmla="*/ 194772 h 5095933"/>
              <a:gd name="connsiteX42" fmla="*/ 11362661 w 12192418"/>
              <a:gd name="connsiteY42" fmla="*/ 153085 h 5095933"/>
              <a:gd name="connsiteX43" fmla="*/ 11639412 w 12192418"/>
              <a:gd name="connsiteY43" fmla="*/ 104392 h 5095933"/>
              <a:gd name="connsiteX44" fmla="*/ 11914945 w 12192418"/>
              <a:gd name="connsiteY44" fmla="*/ 54648 h 5095933"/>
              <a:gd name="connsiteX45" fmla="*/ 12191696 w 12192418"/>
              <a:gd name="connsiteY45" fmla="*/ 2452 h 5095933"/>
              <a:gd name="connsiteX46" fmla="*/ 12191696 w 12192418"/>
              <a:gd name="connsiteY46" fmla="*/ 2109542 h 5095933"/>
              <a:gd name="connsiteX47" fmla="*/ 12191999 w 12192418"/>
              <a:gd name="connsiteY47" fmla="*/ 2109542 h 5095933"/>
              <a:gd name="connsiteX48" fmla="*/ 12191999 w 12192418"/>
              <a:gd name="connsiteY48" fmla="*/ 2802467 h 5095933"/>
              <a:gd name="connsiteX49" fmla="*/ 12192418 w 12192418"/>
              <a:gd name="connsiteY49" fmla="*/ 2802467 h 5095933"/>
              <a:gd name="connsiteX50" fmla="*/ 12192418 w 12192418"/>
              <a:gd name="connsiteY50" fmla="*/ 5095933 h 5095933"/>
              <a:gd name="connsiteX51" fmla="*/ 1 w 12192418"/>
              <a:gd name="connsiteY51" fmla="*/ 5095933 h 5095933"/>
              <a:gd name="connsiteX52" fmla="*/ 1 w 12192418"/>
              <a:gd name="connsiteY52" fmla="*/ 4074529 h 5095933"/>
              <a:gd name="connsiteX53" fmla="*/ 0 w 12192418"/>
              <a:gd name="connsiteY53" fmla="*/ 4074529 h 5095933"/>
              <a:gd name="connsiteX54" fmla="*/ 0 w 12192418"/>
              <a:gd name="connsiteY54" fmla="*/ 2109542 h 5095933"/>
              <a:gd name="connsiteX55" fmla="*/ 1 w 12192418"/>
              <a:gd name="connsiteY55" fmla="*/ 2109542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2418" h="5095933">
                <a:moveTo>
                  <a:pt x="1" y="0"/>
                </a:moveTo>
                <a:lnTo>
                  <a:pt x="71932" y="12261"/>
                </a:lnTo>
                <a:lnTo>
                  <a:pt x="282849" y="48343"/>
                </a:lnTo>
                <a:lnTo>
                  <a:pt x="436464" y="73565"/>
                </a:lnTo>
                <a:lnTo>
                  <a:pt x="619339" y="100188"/>
                </a:lnTo>
                <a:lnTo>
                  <a:pt x="836351" y="132066"/>
                </a:lnTo>
                <a:lnTo>
                  <a:pt x="1076528" y="165696"/>
                </a:lnTo>
                <a:lnTo>
                  <a:pt x="1347184" y="201077"/>
                </a:lnTo>
                <a:lnTo>
                  <a:pt x="1642223" y="238560"/>
                </a:lnTo>
                <a:lnTo>
                  <a:pt x="1962864" y="276043"/>
                </a:lnTo>
                <a:lnTo>
                  <a:pt x="2304232" y="314227"/>
                </a:lnTo>
                <a:lnTo>
                  <a:pt x="2672421" y="349608"/>
                </a:lnTo>
                <a:lnTo>
                  <a:pt x="3057678" y="383588"/>
                </a:lnTo>
                <a:lnTo>
                  <a:pt x="3464881" y="414415"/>
                </a:lnTo>
                <a:lnTo>
                  <a:pt x="3889152" y="443841"/>
                </a:lnTo>
                <a:lnTo>
                  <a:pt x="4331710" y="471515"/>
                </a:lnTo>
                <a:lnTo>
                  <a:pt x="4558476" y="481324"/>
                </a:lnTo>
                <a:lnTo>
                  <a:pt x="4790118" y="492183"/>
                </a:lnTo>
                <a:lnTo>
                  <a:pt x="5025418" y="502342"/>
                </a:lnTo>
                <a:lnTo>
                  <a:pt x="5261937" y="508998"/>
                </a:lnTo>
                <a:lnTo>
                  <a:pt x="5503332" y="514953"/>
                </a:lnTo>
                <a:lnTo>
                  <a:pt x="5747167" y="521259"/>
                </a:lnTo>
                <a:lnTo>
                  <a:pt x="5995877" y="525463"/>
                </a:lnTo>
                <a:lnTo>
                  <a:pt x="6247026" y="525463"/>
                </a:lnTo>
                <a:lnTo>
                  <a:pt x="6500613" y="527565"/>
                </a:lnTo>
                <a:lnTo>
                  <a:pt x="6756639" y="525463"/>
                </a:lnTo>
                <a:lnTo>
                  <a:pt x="7016322" y="521259"/>
                </a:lnTo>
                <a:lnTo>
                  <a:pt x="7276005" y="517406"/>
                </a:lnTo>
                <a:lnTo>
                  <a:pt x="7539345" y="508998"/>
                </a:lnTo>
                <a:lnTo>
                  <a:pt x="7805124" y="500241"/>
                </a:lnTo>
                <a:lnTo>
                  <a:pt x="8070903" y="490082"/>
                </a:lnTo>
                <a:lnTo>
                  <a:pt x="8339121" y="475719"/>
                </a:lnTo>
                <a:lnTo>
                  <a:pt x="8609776" y="458554"/>
                </a:lnTo>
                <a:lnTo>
                  <a:pt x="8881651" y="442089"/>
                </a:lnTo>
                <a:lnTo>
                  <a:pt x="9153526" y="421071"/>
                </a:lnTo>
                <a:lnTo>
                  <a:pt x="9429058" y="395849"/>
                </a:lnTo>
                <a:lnTo>
                  <a:pt x="9700933" y="370626"/>
                </a:lnTo>
                <a:lnTo>
                  <a:pt x="9977684" y="341551"/>
                </a:lnTo>
                <a:lnTo>
                  <a:pt x="10255655" y="309673"/>
                </a:lnTo>
                <a:lnTo>
                  <a:pt x="10529968" y="276043"/>
                </a:lnTo>
                <a:lnTo>
                  <a:pt x="10807939" y="236809"/>
                </a:lnTo>
                <a:lnTo>
                  <a:pt x="11084690" y="194772"/>
                </a:lnTo>
                <a:lnTo>
                  <a:pt x="11362661" y="153085"/>
                </a:lnTo>
                <a:lnTo>
                  <a:pt x="11639412" y="104392"/>
                </a:lnTo>
                <a:lnTo>
                  <a:pt x="11914945" y="54648"/>
                </a:lnTo>
                <a:lnTo>
                  <a:pt x="12191696" y="2452"/>
                </a:lnTo>
                <a:lnTo>
                  <a:pt x="12191696" y="2109542"/>
                </a:lnTo>
                <a:lnTo>
                  <a:pt x="12191999" y="2109542"/>
                </a:lnTo>
                <a:lnTo>
                  <a:pt x="12191999" y="2802467"/>
                </a:lnTo>
                <a:lnTo>
                  <a:pt x="12192418" y="2802467"/>
                </a:lnTo>
                <a:lnTo>
                  <a:pt x="12192418" y="5095933"/>
                </a:lnTo>
                <a:lnTo>
                  <a:pt x="1" y="5095933"/>
                </a:lnTo>
                <a:lnTo>
                  <a:pt x="1" y="4074529"/>
                </a:lnTo>
                <a:lnTo>
                  <a:pt x="0" y="4074529"/>
                </a:lnTo>
                <a:lnTo>
                  <a:pt x="0" y="2109542"/>
                </a:lnTo>
                <a:lnTo>
                  <a:pt x="1" y="2109542"/>
                </a:lnTo>
                <a:close/>
              </a:path>
            </a:pathLst>
          </a:custGeom>
          <a:solidFill>
            <a:schemeClr val="bg1"/>
          </a:solidFill>
          <a:ln>
            <a:noFill/>
          </a:ln>
        </p:spPr>
        <p:txBody>
          <a:bodyPr/>
          <a:lstStyle/>
          <a:p>
            <a:endParaRPr lang="en-US"/>
          </a:p>
        </p:txBody>
      </p:sp>
      <p:sp>
        <p:nvSpPr>
          <p:cNvPr id="6" name="Rectangle 1">
            <a:extLst>
              <a:ext uri="{FF2B5EF4-FFF2-40B4-BE49-F238E27FC236}">
                <a16:creationId xmlns:a16="http://schemas.microsoft.com/office/drawing/2014/main" id="{D9553F9F-F5CB-E1D4-AC8D-746C2169DA4F}"/>
              </a:ext>
            </a:extLst>
          </p:cNvPr>
          <p:cNvSpPr>
            <a:spLocks noChangeArrowheads="1"/>
          </p:cNvSpPr>
          <p:nvPr/>
        </p:nvSpPr>
        <p:spPr bwMode="auto">
          <a:xfrm>
            <a:off x="-2896220" y="-12649"/>
            <a:ext cx="15088220" cy="4698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graphicFrame>
        <p:nvGraphicFramePr>
          <p:cNvPr id="19" name="Content Placeholder 10">
            <a:extLst>
              <a:ext uri="{FF2B5EF4-FFF2-40B4-BE49-F238E27FC236}">
                <a16:creationId xmlns:a16="http://schemas.microsoft.com/office/drawing/2014/main" id="{5E0E4675-7FA9-97BB-43B6-1762ED3081B2}"/>
              </a:ext>
            </a:extLst>
          </p:cNvPr>
          <p:cNvGraphicFramePr>
            <a:graphicFrameLocks noGrp="1"/>
          </p:cNvGraphicFramePr>
          <p:nvPr>
            <p:ph idx="1"/>
            <p:extLst>
              <p:ext uri="{D42A27DB-BD31-4B8C-83A1-F6EECF244321}">
                <p14:modId xmlns:p14="http://schemas.microsoft.com/office/powerpoint/2010/main" val="812700253"/>
              </p:ext>
            </p:extLst>
          </p:nvPr>
        </p:nvGraphicFramePr>
        <p:xfrm>
          <a:off x="883478" y="2484782"/>
          <a:ext cx="10435819" cy="3735828"/>
        </p:xfrm>
        <a:graphic>
          <a:graphicData uri="http://schemas.openxmlformats.org/drawingml/2006/table">
            <a:tbl>
              <a:tblPr firstRow="1" firstCol="1" bandRow="1">
                <a:tableStyleId>{5C22544A-7EE6-4342-B048-85BDC9FD1C3A}</a:tableStyleId>
              </a:tblPr>
              <a:tblGrid>
                <a:gridCol w="1421847">
                  <a:extLst>
                    <a:ext uri="{9D8B030D-6E8A-4147-A177-3AD203B41FA5}">
                      <a16:colId xmlns:a16="http://schemas.microsoft.com/office/drawing/2014/main" val="2661177667"/>
                    </a:ext>
                  </a:extLst>
                </a:gridCol>
                <a:gridCol w="7067826">
                  <a:extLst>
                    <a:ext uri="{9D8B030D-6E8A-4147-A177-3AD203B41FA5}">
                      <a16:colId xmlns:a16="http://schemas.microsoft.com/office/drawing/2014/main" val="2089812423"/>
                    </a:ext>
                  </a:extLst>
                </a:gridCol>
                <a:gridCol w="1946146">
                  <a:extLst>
                    <a:ext uri="{9D8B030D-6E8A-4147-A177-3AD203B41FA5}">
                      <a16:colId xmlns:a16="http://schemas.microsoft.com/office/drawing/2014/main" val="3172474792"/>
                    </a:ext>
                  </a:extLst>
                </a:gridCol>
              </a:tblGrid>
              <a:tr h="328087">
                <a:tc>
                  <a:txBody>
                    <a:bodyPr/>
                    <a:lstStyle/>
                    <a:p>
                      <a:pPr marL="0" marR="0">
                        <a:lnSpc>
                          <a:spcPct val="110000"/>
                        </a:lnSpc>
                        <a:spcAft>
                          <a:spcPts val="600"/>
                        </a:spcAft>
                        <a:buNone/>
                      </a:pPr>
                      <a:r>
                        <a:rPr lang="en-US" sz="1800">
                          <a:effectLst/>
                          <a:latin typeface="+mj-lt"/>
                        </a:rPr>
                        <a:t>Date</a:t>
                      </a:r>
                      <a:endParaRPr lang="en-US" sz="1800">
                        <a:effectLst/>
                        <a:latin typeface="+mj-lt"/>
                        <a:ea typeface="MS PGothic"/>
                        <a:cs typeface="Arial"/>
                      </a:endParaRPr>
                    </a:p>
                  </a:txBody>
                  <a:tcPr marL="70217" marR="70217" marT="0" marB="0"/>
                </a:tc>
                <a:tc>
                  <a:txBody>
                    <a:bodyPr/>
                    <a:lstStyle/>
                    <a:p>
                      <a:pPr marL="0" marR="0">
                        <a:lnSpc>
                          <a:spcPct val="110000"/>
                        </a:lnSpc>
                        <a:spcAft>
                          <a:spcPts val="600"/>
                        </a:spcAft>
                        <a:buNone/>
                      </a:pPr>
                      <a:r>
                        <a:rPr lang="en-US" sz="1800">
                          <a:effectLst/>
                          <a:latin typeface="+mj-lt"/>
                        </a:rPr>
                        <a:t>Task</a:t>
                      </a:r>
                      <a:endParaRPr lang="en-US" sz="1800">
                        <a:effectLst/>
                        <a:latin typeface="+mj-lt"/>
                        <a:ea typeface="MS PGothic"/>
                        <a:cs typeface="Arial"/>
                      </a:endParaRPr>
                    </a:p>
                  </a:txBody>
                  <a:tcPr marL="70217" marR="70217" marT="0" marB="0"/>
                </a:tc>
                <a:tc>
                  <a:txBody>
                    <a:bodyPr/>
                    <a:lstStyle/>
                    <a:p>
                      <a:pPr marL="0" marR="0">
                        <a:lnSpc>
                          <a:spcPct val="110000"/>
                        </a:lnSpc>
                        <a:spcAft>
                          <a:spcPts val="600"/>
                        </a:spcAft>
                        <a:buNone/>
                      </a:pPr>
                      <a:r>
                        <a:rPr lang="en-US" sz="1800">
                          <a:effectLst/>
                          <a:latin typeface="+mj-lt"/>
                        </a:rPr>
                        <a:t>Duration</a:t>
                      </a:r>
                      <a:endParaRPr lang="en-US" sz="1800">
                        <a:effectLst/>
                        <a:latin typeface="+mj-lt"/>
                        <a:ea typeface="MS PGothic"/>
                        <a:cs typeface="Arial"/>
                      </a:endParaRPr>
                    </a:p>
                  </a:txBody>
                  <a:tcPr marL="70217" marR="70217" marT="0" marB="0"/>
                </a:tc>
                <a:extLst>
                  <a:ext uri="{0D108BD9-81ED-4DB2-BD59-A6C34878D82A}">
                    <a16:rowId xmlns:a16="http://schemas.microsoft.com/office/drawing/2014/main" val="1647664942"/>
                  </a:ext>
                </a:extLst>
              </a:tr>
              <a:tr h="304473">
                <a:tc>
                  <a:txBody>
                    <a:bodyPr/>
                    <a:lstStyle/>
                    <a:p>
                      <a:pPr marL="0" marR="0">
                        <a:lnSpc>
                          <a:spcPct val="110000"/>
                        </a:lnSpc>
                        <a:spcAft>
                          <a:spcPts val="600"/>
                        </a:spcAft>
                        <a:buNone/>
                      </a:pPr>
                      <a:r>
                        <a:rPr lang="en-US" sz="1800">
                          <a:effectLst/>
                          <a:latin typeface="+mj-lt"/>
                          <a:ea typeface="MS PGothic"/>
                          <a:cs typeface="Arial"/>
                        </a:rPr>
                        <a:t>10/23/2025</a:t>
                      </a:r>
                    </a:p>
                  </a:txBody>
                  <a:tcPr marL="68580" marR="68580" marT="0" marB="0"/>
                </a:tc>
                <a:tc>
                  <a:txBody>
                    <a:bodyPr/>
                    <a:lstStyle/>
                    <a:p>
                      <a:pPr marL="0" marR="0">
                        <a:lnSpc>
                          <a:spcPct val="110000"/>
                        </a:lnSpc>
                        <a:spcAft>
                          <a:spcPts val="600"/>
                        </a:spcAft>
                        <a:buNone/>
                      </a:pPr>
                      <a:r>
                        <a:rPr lang="en-US" sz="1800">
                          <a:effectLst/>
                          <a:latin typeface="+mj-lt"/>
                          <a:ea typeface="MS PGothic"/>
                          <a:cs typeface="Arial"/>
                        </a:rPr>
                        <a:t>Mentor/advisor meetings, group discussion + documentation</a:t>
                      </a:r>
                    </a:p>
                  </a:txBody>
                  <a:tcPr marL="68580" marR="68580" marT="0" marB="0"/>
                </a:tc>
                <a:tc>
                  <a:txBody>
                    <a:bodyPr/>
                    <a:lstStyle/>
                    <a:p>
                      <a:pPr marL="0" marR="0">
                        <a:lnSpc>
                          <a:spcPct val="110000"/>
                        </a:lnSpc>
                        <a:spcAft>
                          <a:spcPts val="600"/>
                        </a:spcAft>
                        <a:buNone/>
                      </a:pPr>
                      <a:r>
                        <a:rPr lang="en-US" sz="1800">
                          <a:effectLst/>
                          <a:latin typeface="+mj-lt"/>
                          <a:ea typeface="MS PGothic"/>
                          <a:cs typeface="Arial"/>
                        </a:rPr>
                        <a:t>4 hours</a:t>
                      </a:r>
                    </a:p>
                  </a:txBody>
                  <a:tcPr marL="68580" marR="68580" marT="0" marB="0"/>
                </a:tc>
                <a:extLst>
                  <a:ext uri="{0D108BD9-81ED-4DB2-BD59-A6C34878D82A}">
                    <a16:rowId xmlns:a16="http://schemas.microsoft.com/office/drawing/2014/main" val="1582398609"/>
                  </a:ext>
                </a:extLst>
              </a:tr>
              <a:tr h="357052">
                <a:tc>
                  <a:txBody>
                    <a:bodyPr/>
                    <a:lstStyle/>
                    <a:p>
                      <a:pPr marL="0" marR="0">
                        <a:lnSpc>
                          <a:spcPct val="110000"/>
                        </a:lnSpc>
                        <a:spcAft>
                          <a:spcPts val="600"/>
                        </a:spcAft>
                        <a:buNone/>
                      </a:pPr>
                      <a:r>
                        <a:rPr lang="en-US" sz="1800">
                          <a:effectLst/>
                          <a:latin typeface="+mj-lt"/>
                          <a:ea typeface="MS PGothic"/>
                          <a:cs typeface="Arial"/>
                        </a:rPr>
                        <a:t>10/30/2025</a:t>
                      </a:r>
                    </a:p>
                  </a:txBody>
                  <a:tcPr marL="68580" marR="68580" marT="0" marB="0"/>
                </a:tc>
                <a:tc>
                  <a:txBody>
                    <a:bodyPr/>
                    <a:lstStyle/>
                    <a:p>
                      <a:pPr marL="0" marR="0">
                        <a:lnSpc>
                          <a:spcPct val="110000"/>
                        </a:lnSpc>
                        <a:spcAft>
                          <a:spcPts val="600"/>
                        </a:spcAft>
                        <a:buNone/>
                      </a:pPr>
                      <a:r>
                        <a:rPr lang="en-US" sz="1800">
                          <a:effectLst/>
                          <a:latin typeface="+mj-lt"/>
                          <a:ea typeface="MS PGothic"/>
                          <a:cs typeface="Arial"/>
                        </a:rPr>
                        <a:t>Tour of production facility, group discussion + documentation</a:t>
                      </a:r>
                    </a:p>
                  </a:txBody>
                  <a:tcPr marL="68580" marR="68580" marT="0" marB="0"/>
                </a:tc>
                <a:tc>
                  <a:txBody>
                    <a:bodyPr/>
                    <a:lstStyle/>
                    <a:p>
                      <a:pPr marL="0" marR="0">
                        <a:lnSpc>
                          <a:spcPct val="110000"/>
                        </a:lnSpc>
                        <a:spcAft>
                          <a:spcPts val="600"/>
                        </a:spcAft>
                        <a:buNone/>
                      </a:pPr>
                      <a:r>
                        <a:rPr lang="en-US" sz="1800">
                          <a:effectLst/>
                          <a:latin typeface="+mj-lt"/>
                          <a:ea typeface="MS PGothic"/>
                          <a:cs typeface="Arial"/>
                        </a:rPr>
                        <a:t>6 hours</a:t>
                      </a:r>
                    </a:p>
                  </a:txBody>
                  <a:tcPr marL="68580" marR="68580" marT="0" marB="0"/>
                </a:tc>
                <a:extLst>
                  <a:ext uri="{0D108BD9-81ED-4DB2-BD59-A6C34878D82A}">
                    <a16:rowId xmlns:a16="http://schemas.microsoft.com/office/drawing/2014/main" val="2869472046"/>
                  </a:ext>
                </a:extLst>
              </a:tr>
              <a:tr h="433459">
                <a:tc>
                  <a:txBody>
                    <a:bodyPr/>
                    <a:lstStyle/>
                    <a:p>
                      <a:pPr marL="0" marR="0">
                        <a:lnSpc>
                          <a:spcPct val="110000"/>
                        </a:lnSpc>
                        <a:spcAft>
                          <a:spcPts val="600"/>
                        </a:spcAft>
                        <a:buNone/>
                      </a:pPr>
                      <a:r>
                        <a:rPr lang="en-US" sz="1800">
                          <a:effectLst/>
                          <a:latin typeface="+mj-lt"/>
                          <a:ea typeface="MS PGothic"/>
                          <a:cs typeface="Arial"/>
                        </a:rPr>
                        <a:t>11/6/2025</a:t>
                      </a:r>
                    </a:p>
                  </a:txBody>
                  <a:tcPr marL="68580" marR="68580" marT="0" marB="0"/>
                </a:tc>
                <a:tc>
                  <a:txBody>
                    <a:bodyPr/>
                    <a:lstStyle/>
                    <a:p>
                      <a:pPr marL="0" marR="0">
                        <a:lnSpc>
                          <a:spcPct val="110000"/>
                        </a:lnSpc>
                        <a:spcAft>
                          <a:spcPts val="600"/>
                        </a:spcAft>
                        <a:buNone/>
                      </a:pPr>
                      <a:r>
                        <a:rPr lang="en-US" sz="1800">
                          <a:effectLst/>
                          <a:latin typeface="+mj-lt"/>
                          <a:ea typeface="MS PGothic"/>
                          <a:cs typeface="Arial"/>
                        </a:rPr>
                        <a:t>Mentor/advisor meetings, group discussion + documentation</a:t>
                      </a:r>
                    </a:p>
                  </a:txBody>
                  <a:tcPr marL="68580" marR="68580" marT="0" marB="0"/>
                </a:tc>
                <a:tc>
                  <a:txBody>
                    <a:bodyPr/>
                    <a:lstStyle/>
                    <a:p>
                      <a:pPr marL="0" marR="0">
                        <a:lnSpc>
                          <a:spcPct val="110000"/>
                        </a:lnSpc>
                        <a:spcAft>
                          <a:spcPts val="600"/>
                        </a:spcAft>
                        <a:buNone/>
                      </a:pPr>
                      <a:r>
                        <a:rPr lang="en-US" sz="1800">
                          <a:effectLst/>
                          <a:latin typeface="+mj-lt"/>
                          <a:ea typeface="MS PGothic"/>
                          <a:cs typeface="Arial"/>
                        </a:rPr>
                        <a:t>4 hours</a:t>
                      </a:r>
                    </a:p>
                  </a:txBody>
                  <a:tcPr marL="68580" marR="68580" marT="0" marB="0"/>
                </a:tc>
                <a:extLst>
                  <a:ext uri="{0D108BD9-81ED-4DB2-BD59-A6C34878D82A}">
                    <a16:rowId xmlns:a16="http://schemas.microsoft.com/office/drawing/2014/main" val="3386778529"/>
                  </a:ext>
                </a:extLst>
              </a:tr>
              <a:tr h="227490">
                <a:tc>
                  <a:txBody>
                    <a:bodyPr/>
                    <a:lstStyle/>
                    <a:p>
                      <a:pPr marL="0" marR="0">
                        <a:lnSpc>
                          <a:spcPct val="110000"/>
                        </a:lnSpc>
                        <a:spcAft>
                          <a:spcPts val="600"/>
                        </a:spcAft>
                        <a:buNone/>
                      </a:pPr>
                      <a:r>
                        <a:rPr lang="en-US" sz="1800">
                          <a:effectLst/>
                          <a:latin typeface="+mj-lt"/>
                          <a:ea typeface="MS PGothic"/>
                          <a:cs typeface="Arial"/>
                        </a:rPr>
                        <a:t>11/7/2025</a:t>
                      </a:r>
                    </a:p>
                  </a:txBody>
                  <a:tcPr marL="68580" marR="68580" marT="0" marB="0"/>
                </a:tc>
                <a:tc>
                  <a:txBody>
                    <a:bodyPr/>
                    <a:lstStyle/>
                    <a:p>
                      <a:pPr marL="0" marR="0">
                        <a:lnSpc>
                          <a:spcPct val="110000"/>
                        </a:lnSpc>
                        <a:spcAft>
                          <a:spcPts val="600"/>
                        </a:spcAft>
                        <a:buNone/>
                      </a:pPr>
                      <a:r>
                        <a:rPr lang="en-US" sz="1800">
                          <a:effectLst/>
                          <a:latin typeface="+mj-lt"/>
                          <a:ea typeface="MS PGothic"/>
                          <a:cs typeface="Arial"/>
                        </a:rPr>
                        <a:t>Researched different behavioral diagrams, Created Activity Diagram </a:t>
                      </a:r>
                    </a:p>
                  </a:txBody>
                  <a:tcPr marL="68580" marR="68580" marT="0" marB="0"/>
                </a:tc>
                <a:tc>
                  <a:txBody>
                    <a:bodyPr/>
                    <a:lstStyle/>
                    <a:p>
                      <a:pPr marL="0" marR="0">
                        <a:lnSpc>
                          <a:spcPct val="110000"/>
                        </a:lnSpc>
                        <a:spcAft>
                          <a:spcPts val="600"/>
                        </a:spcAft>
                        <a:buNone/>
                      </a:pPr>
                      <a:r>
                        <a:rPr lang="en-US" sz="1800">
                          <a:effectLst/>
                          <a:latin typeface="+mj-lt"/>
                          <a:ea typeface="MS PGothic"/>
                          <a:cs typeface="Arial"/>
                        </a:rPr>
                        <a:t>2.5 hours</a:t>
                      </a:r>
                    </a:p>
                  </a:txBody>
                  <a:tcPr marL="68580" marR="68580" marT="0" marB="0"/>
                </a:tc>
                <a:extLst>
                  <a:ext uri="{0D108BD9-81ED-4DB2-BD59-A6C34878D82A}">
                    <a16:rowId xmlns:a16="http://schemas.microsoft.com/office/drawing/2014/main" val="1002088506"/>
                  </a:ext>
                </a:extLst>
              </a:tr>
              <a:tr h="227490">
                <a:tc>
                  <a:txBody>
                    <a:bodyPr/>
                    <a:lstStyle/>
                    <a:p>
                      <a:pPr marL="0" marR="0">
                        <a:lnSpc>
                          <a:spcPct val="110000"/>
                        </a:lnSpc>
                        <a:spcAft>
                          <a:spcPts val="600"/>
                        </a:spcAft>
                        <a:buNone/>
                      </a:pPr>
                      <a:r>
                        <a:rPr lang="en-US" sz="1800">
                          <a:effectLst/>
                          <a:latin typeface="+mj-lt"/>
                          <a:ea typeface="MS PGothic"/>
                          <a:cs typeface="Arial"/>
                        </a:rPr>
                        <a:t>11/13/2025</a:t>
                      </a:r>
                    </a:p>
                  </a:txBody>
                  <a:tcPr marL="68580" marR="68580" marT="0" marB="0"/>
                </a:tc>
                <a:tc>
                  <a:txBody>
                    <a:bodyPr/>
                    <a:lstStyle/>
                    <a:p>
                      <a:pPr marL="0" marR="0">
                        <a:lnSpc>
                          <a:spcPct val="110000"/>
                        </a:lnSpc>
                        <a:spcAft>
                          <a:spcPts val="600"/>
                        </a:spcAft>
                        <a:buNone/>
                      </a:pPr>
                      <a:r>
                        <a:rPr lang="en-US" sz="1800">
                          <a:effectLst/>
                          <a:latin typeface="+mj-lt"/>
                          <a:ea typeface="MS PGothic"/>
                          <a:cs typeface="Arial"/>
                        </a:rPr>
                        <a:t>Mentor/advisor meetings, group discussion + documentation</a:t>
                      </a:r>
                    </a:p>
                  </a:txBody>
                  <a:tcPr marL="68580" marR="68580" marT="0" marB="0"/>
                </a:tc>
                <a:tc>
                  <a:txBody>
                    <a:bodyPr/>
                    <a:lstStyle/>
                    <a:p>
                      <a:pPr marL="0" marR="0">
                        <a:lnSpc>
                          <a:spcPct val="110000"/>
                        </a:lnSpc>
                        <a:spcAft>
                          <a:spcPts val="600"/>
                        </a:spcAft>
                        <a:buNone/>
                      </a:pPr>
                      <a:r>
                        <a:rPr lang="en-US" sz="1800">
                          <a:effectLst/>
                          <a:latin typeface="+mj-lt"/>
                          <a:ea typeface="MS PGothic"/>
                          <a:cs typeface="Arial"/>
                        </a:rPr>
                        <a:t>4 hours</a:t>
                      </a:r>
                    </a:p>
                  </a:txBody>
                  <a:tcPr marL="68580" marR="68580" marT="0" marB="0"/>
                </a:tc>
                <a:extLst>
                  <a:ext uri="{0D108BD9-81ED-4DB2-BD59-A6C34878D82A}">
                    <a16:rowId xmlns:a16="http://schemas.microsoft.com/office/drawing/2014/main" val="2469949909"/>
                  </a:ext>
                </a:extLst>
              </a:tr>
              <a:tr h="317499">
                <a:tc>
                  <a:txBody>
                    <a:bodyPr/>
                    <a:lstStyle/>
                    <a:p>
                      <a:pPr marL="0" marR="0">
                        <a:lnSpc>
                          <a:spcPct val="110000"/>
                        </a:lnSpc>
                        <a:spcAft>
                          <a:spcPts val="600"/>
                        </a:spcAft>
                        <a:buNone/>
                      </a:pPr>
                      <a:r>
                        <a:rPr lang="en-US" sz="1800">
                          <a:effectLst/>
                          <a:latin typeface="+mj-lt"/>
                          <a:ea typeface="MS PGothic"/>
                          <a:cs typeface="Arial"/>
                        </a:rPr>
                        <a:t>11/10/2025</a:t>
                      </a:r>
                    </a:p>
                  </a:txBody>
                  <a:tcPr marL="68580" marR="68580" marT="0" marB="0"/>
                </a:tc>
                <a:tc>
                  <a:txBody>
                    <a:bodyPr/>
                    <a:lstStyle/>
                    <a:p>
                      <a:pPr marL="0" marR="0">
                        <a:lnSpc>
                          <a:spcPct val="110000"/>
                        </a:lnSpc>
                        <a:spcAft>
                          <a:spcPts val="600"/>
                        </a:spcAft>
                        <a:buNone/>
                      </a:pPr>
                      <a:r>
                        <a:rPr lang="en-US" sz="1800">
                          <a:effectLst/>
                          <a:latin typeface="+mj-lt"/>
                          <a:ea typeface="MS PGothic"/>
                          <a:cs typeface="Arial"/>
                        </a:rPr>
                        <a:t>Worked on report</a:t>
                      </a:r>
                    </a:p>
                  </a:txBody>
                  <a:tcPr marL="68580" marR="68580" marT="0" marB="0"/>
                </a:tc>
                <a:tc>
                  <a:txBody>
                    <a:bodyPr/>
                    <a:lstStyle/>
                    <a:p>
                      <a:pPr marL="0" marR="0">
                        <a:lnSpc>
                          <a:spcPct val="110000"/>
                        </a:lnSpc>
                        <a:spcAft>
                          <a:spcPts val="600"/>
                        </a:spcAft>
                        <a:buNone/>
                      </a:pPr>
                      <a:r>
                        <a:rPr lang="en-US" sz="1800">
                          <a:effectLst/>
                          <a:latin typeface="+mj-lt"/>
                          <a:ea typeface="MS PGothic"/>
                          <a:cs typeface="Arial"/>
                        </a:rPr>
                        <a:t>3 hours</a:t>
                      </a:r>
                    </a:p>
                  </a:txBody>
                  <a:tcPr marL="68580" marR="68580" marT="0" marB="0"/>
                </a:tc>
                <a:extLst>
                  <a:ext uri="{0D108BD9-81ED-4DB2-BD59-A6C34878D82A}">
                    <a16:rowId xmlns:a16="http://schemas.microsoft.com/office/drawing/2014/main" val="1600486133"/>
                  </a:ext>
                </a:extLst>
              </a:tr>
              <a:tr h="303695">
                <a:tc>
                  <a:txBody>
                    <a:bodyPr/>
                    <a:lstStyle/>
                    <a:p>
                      <a:pPr marL="0" marR="0">
                        <a:lnSpc>
                          <a:spcPct val="110000"/>
                        </a:lnSpc>
                        <a:spcAft>
                          <a:spcPts val="600"/>
                        </a:spcAft>
                        <a:buNone/>
                      </a:pPr>
                      <a:r>
                        <a:rPr lang="en-US" sz="1800">
                          <a:effectLst/>
                          <a:latin typeface="+mj-lt"/>
                          <a:ea typeface="MS PGothic"/>
                          <a:cs typeface="Arial"/>
                        </a:rPr>
                        <a:t>11/28/2025</a:t>
                      </a:r>
                    </a:p>
                  </a:txBody>
                  <a:tcPr marL="68580" marR="68580" marT="0" marB="0"/>
                </a:tc>
                <a:tc>
                  <a:txBody>
                    <a:bodyPr/>
                    <a:lstStyle/>
                    <a:p>
                      <a:pPr marL="0" marR="0">
                        <a:lnSpc>
                          <a:spcPct val="110000"/>
                        </a:lnSpc>
                        <a:spcAft>
                          <a:spcPts val="600"/>
                        </a:spcAft>
                        <a:buNone/>
                      </a:pPr>
                      <a:r>
                        <a:rPr lang="en-US" sz="1800">
                          <a:effectLst/>
                          <a:latin typeface="+mj-lt"/>
                          <a:ea typeface="MS PGothic"/>
                          <a:cs typeface="Arial"/>
                        </a:rPr>
                        <a:t>Helped Collin Revise the Class Diagram</a:t>
                      </a:r>
                    </a:p>
                  </a:txBody>
                  <a:tcPr marL="68580" marR="68580" marT="0" marB="0"/>
                </a:tc>
                <a:tc>
                  <a:txBody>
                    <a:bodyPr/>
                    <a:lstStyle/>
                    <a:p>
                      <a:pPr marL="0" marR="0">
                        <a:lnSpc>
                          <a:spcPct val="110000"/>
                        </a:lnSpc>
                        <a:spcAft>
                          <a:spcPts val="600"/>
                        </a:spcAft>
                        <a:buNone/>
                      </a:pPr>
                      <a:r>
                        <a:rPr lang="en-US" sz="1800">
                          <a:effectLst/>
                          <a:latin typeface="+mj-lt"/>
                          <a:ea typeface="MS PGothic"/>
                          <a:cs typeface="Arial"/>
                        </a:rPr>
                        <a:t>1.5 hours</a:t>
                      </a:r>
                    </a:p>
                  </a:txBody>
                  <a:tcPr marL="68580" marR="68580" marT="0" marB="0"/>
                </a:tc>
                <a:extLst>
                  <a:ext uri="{0D108BD9-81ED-4DB2-BD59-A6C34878D82A}">
                    <a16:rowId xmlns:a16="http://schemas.microsoft.com/office/drawing/2014/main" val="1940546393"/>
                  </a:ext>
                </a:extLst>
              </a:tr>
              <a:tr h="227490">
                <a:tc>
                  <a:txBody>
                    <a:bodyPr/>
                    <a:lstStyle/>
                    <a:p>
                      <a:pPr marL="0" marR="0">
                        <a:lnSpc>
                          <a:spcPct val="110000"/>
                        </a:lnSpc>
                        <a:spcAft>
                          <a:spcPts val="600"/>
                        </a:spcAft>
                        <a:buNone/>
                      </a:pPr>
                      <a:r>
                        <a:rPr lang="en-US" sz="1800">
                          <a:effectLst/>
                          <a:latin typeface="+mj-lt"/>
                          <a:ea typeface="MS PGothic"/>
                          <a:cs typeface="Arial"/>
                        </a:rPr>
                        <a:t>11/28/2025</a:t>
                      </a:r>
                    </a:p>
                  </a:txBody>
                  <a:tcPr marL="68580" marR="68580" marT="0" marB="0"/>
                </a:tc>
                <a:tc>
                  <a:txBody>
                    <a:bodyPr/>
                    <a:lstStyle/>
                    <a:p>
                      <a:pPr marL="0" marR="0">
                        <a:lnSpc>
                          <a:spcPct val="110000"/>
                        </a:lnSpc>
                        <a:spcAft>
                          <a:spcPts val="600"/>
                        </a:spcAft>
                        <a:buNone/>
                      </a:pPr>
                      <a:r>
                        <a:rPr lang="en-US" sz="1800">
                          <a:effectLst/>
                          <a:latin typeface="+mj-lt"/>
                          <a:ea typeface="MS PGothic"/>
                          <a:cs typeface="Arial"/>
                        </a:rPr>
                        <a:t>Rewrote the Package Diagram</a:t>
                      </a:r>
                    </a:p>
                  </a:txBody>
                  <a:tcPr marL="68580" marR="68580" marT="0" marB="0"/>
                </a:tc>
                <a:tc>
                  <a:txBody>
                    <a:bodyPr/>
                    <a:lstStyle/>
                    <a:p>
                      <a:pPr marL="0" marR="0">
                        <a:lnSpc>
                          <a:spcPct val="110000"/>
                        </a:lnSpc>
                        <a:spcAft>
                          <a:spcPts val="600"/>
                        </a:spcAft>
                        <a:buNone/>
                      </a:pPr>
                      <a:r>
                        <a:rPr lang="en-US" sz="1800">
                          <a:effectLst/>
                          <a:latin typeface="+mj-lt"/>
                          <a:ea typeface="MS PGothic"/>
                          <a:cs typeface="Arial"/>
                        </a:rPr>
                        <a:t>1.5 hours</a:t>
                      </a:r>
                    </a:p>
                  </a:txBody>
                  <a:tcPr marL="68580" marR="68580" marT="0" marB="0"/>
                </a:tc>
                <a:extLst>
                  <a:ext uri="{0D108BD9-81ED-4DB2-BD59-A6C34878D82A}">
                    <a16:rowId xmlns:a16="http://schemas.microsoft.com/office/drawing/2014/main" val="2986812498"/>
                  </a:ext>
                </a:extLst>
              </a:tr>
              <a:tr h="227490">
                <a:tc>
                  <a:txBody>
                    <a:bodyPr/>
                    <a:lstStyle/>
                    <a:p>
                      <a:pPr marL="0" marR="0">
                        <a:lnSpc>
                          <a:spcPct val="110000"/>
                        </a:lnSpc>
                        <a:spcAft>
                          <a:spcPts val="600"/>
                        </a:spcAft>
                        <a:buNone/>
                      </a:pPr>
                      <a:r>
                        <a:rPr lang="en-US" sz="1800">
                          <a:effectLst/>
                          <a:latin typeface="+mj-lt"/>
                          <a:ea typeface="MS PGothic"/>
                          <a:cs typeface="Arial"/>
                        </a:rPr>
                        <a:t>12/1/2025</a:t>
                      </a:r>
                    </a:p>
                  </a:txBody>
                  <a:tcPr marL="68580" marR="68580" marT="0" marB="0"/>
                </a:tc>
                <a:tc>
                  <a:txBody>
                    <a:bodyPr/>
                    <a:lstStyle/>
                    <a:p>
                      <a:pPr marL="0" marR="0">
                        <a:lnSpc>
                          <a:spcPct val="110000"/>
                        </a:lnSpc>
                        <a:spcAft>
                          <a:spcPts val="600"/>
                        </a:spcAft>
                        <a:buNone/>
                      </a:pPr>
                      <a:r>
                        <a:rPr lang="en-US" sz="1800">
                          <a:effectLst/>
                          <a:latin typeface="+mj-lt"/>
                          <a:ea typeface="MS PGothic"/>
                          <a:cs typeface="Arial"/>
                        </a:rPr>
                        <a:t>Reviewed and Revised Report</a:t>
                      </a:r>
                    </a:p>
                  </a:txBody>
                  <a:tcPr marL="68580" marR="68580" marT="0" marB="0"/>
                </a:tc>
                <a:tc>
                  <a:txBody>
                    <a:bodyPr/>
                    <a:lstStyle/>
                    <a:p>
                      <a:pPr marL="0" marR="0">
                        <a:lnSpc>
                          <a:spcPct val="110000"/>
                        </a:lnSpc>
                        <a:spcAft>
                          <a:spcPts val="600"/>
                        </a:spcAft>
                        <a:buNone/>
                      </a:pPr>
                      <a:r>
                        <a:rPr lang="en-US" sz="1800">
                          <a:effectLst/>
                          <a:latin typeface="+mj-lt"/>
                          <a:ea typeface="MS PGothic"/>
                          <a:cs typeface="Arial"/>
                        </a:rPr>
                        <a:t>6 hours</a:t>
                      </a:r>
                    </a:p>
                  </a:txBody>
                  <a:tcPr marL="68580" marR="68580" marT="0" marB="0"/>
                </a:tc>
                <a:extLst>
                  <a:ext uri="{0D108BD9-81ED-4DB2-BD59-A6C34878D82A}">
                    <a16:rowId xmlns:a16="http://schemas.microsoft.com/office/drawing/2014/main" val="3968097353"/>
                  </a:ext>
                </a:extLst>
              </a:tr>
              <a:tr h="281607">
                <a:tc>
                  <a:txBody>
                    <a:bodyPr/>
                    <a:lstStyle/>
                    <a:p>
                      <a:pPr marL="0" marR="0">
                        <a:lnSpc>
                          <a:spcPct val="110000"/>
                        </a:lnSpc>
                        <a:spcAft>
                          <a:spcPts val="600"/>
                        </a:spcAft>
                        <a:buNone/>
                      </a:pPr>
                      <a:endParaRPr lang="en-US" sz="1800">
                        <a:effectLst/>
                        <a:latin typeface="+mj-lt"/>
                        <a:ea typeface="MS PGothic"/>
                        <a:cs typeface="Arial"/>
                      </a:endParaRPr>
                    </a:p>
                  </a:txBody>
                  <a:tcPr marL="68580" marR="68580" marT="0" marB="0"/>
                </a:tc>
                <a:tc>
                  <a:txBody>
                    <a:bodyPr/>
                    <a:lstStyle/>
                    <a:p>
                      <a:pPr marL="0" marR="0">
                        <a:lnSpc>
                          <a:spcPct val="110000"/>
                        </a:lnSpc>
                        <a:spcAft>
                          <a:spcPts val="600"/>
                        </a:spcAft>
                        <a:buNone/>
                      </a:pPr>
                      <a:endParaRPr lang="en-US" sz="1800">
                        <a:effectLst/>
                        <a:latin typeface="+mj-lt"/>
                        <a:ea typeface="MS PGothic"/>
                        <a:cs typeface="Arial"/>
                      </a:endParaRPr>
                    </a:p>
                  </a:txBody>
                  <a:tcPr marL="68580" marR="68580" marT="0" marB="0"/>
                </a:tc>
                <a:tc>
                  <a:txBody>
                    <a:bodyPr/>
                    <a:lstStyle/>
                    <a:p>
                      <a:pPr marL="0" marR="0">
                        <a:lnSpc>
                          <a:spcPct val="110000"/>
                        </a:lnSpc>
                        <a:spcAft>
                          <a:spcPts val="600"/>
                        </a:spcAft>
                        <a:buNone/>
                      </a:pPr>
                      <a:r>
                        <a:rPr lang="en-US" sz="1800">
                          <a:effectLst/>
                          <a:latin typeface="+mj-lt"/>
                          <a:ea typeface="MS PGothic"/>
                          <a:cs typeface="Arial"/>
                        </a:rPr>
                        <a:t>Total: 32.5 hours</a:t>
                      </a:r>
                    </a:p>
                  </a:txBody>
                  <a:tcPr marL="68580" marR="68580" marT="0" marB="0"/>
                </a:tc>
                <a:extLst>
                  <a:ext uri="{0D108BD9-81ED-4DB2-BD59-A6C34878D82A}">
                    <a16:rowId xmlns:a16="http://schemas.microsoft.com/office/drawing/2014/main" val="444071784"/>
                  </a:ext>
                </a:extLst>
              </a:tr>
            </a:tbl>
          </a:graphicData>
        </a:graphic>
      </p:graphicFrame>
    </p:spTree>
    <p:extLst>
      <p:ext uri="{BB962C8B-B14F-4D97-AF65-F5344CB8AC3E}">
        <p14:creationId xmlns:p14="http://schemas.microsoft.com/office/powerpoint/2010/main" val="1600737212"/>
      </p:ext>
    </p:extLst>
  </p:cSld>
  <p:clrMapOvr>
    <a:overrideClrMapping bg1="lt1" tx1="dk1" bg2="lt2" tx2="dk2" accent1="accent1" accent2="accent2" accent3="accent3" accent4="accent4" accent5="accent5" accent6="accent6" hlink="hlink" folHlink="folHlink"/>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E42C8728-084B-6071-7A9E-1ABBABF66BD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3643EC7-4C5D-4EDB-8114-809B631CD44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6" name="Picture 5">
            <a:extLst>
              <a:ext uri="{FF2B5EF4-FFF2-40B4-BE49-F238E27FC236}">
                <a16:creationId xmlns:a16="http://schemas.microsoft.com/office/drawing/2014/main" id="{635343F2-738D-5114-1585-DB18356BC6E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7" name="Oval 6">
            <a:extLst>
              <a:ext uri="{FF2B5EF4-FFF2-40B4-BE49-F238E27FC236}">
                <a16:creationId xmlns:a16="http://schemas.microsoft.com/office/drawing/2014/main" id="{D9070500-0027-DCAA-8BD3-D66C271338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9" name="Picture 8">
            <a:extLst>
              <a:ext uri="{FF2B5EF4-FFF2-40B4-BE49-F238E27FC236}">
                <a16:creationId xmlns:a16="http://schemas.microsoft.com/office/drawing/2014/main" id="{D1E36D12-35D9-8B65-1F98-BBB86B766D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1" name="Picture 10">
            <a:extLst>
              <a:ext uri="{FF2B5EF4-FFF2-40B4-BE49-F238E27FC236}">
                <a16:creationId xmlns:a16="http://schemas.microsoft.com/office/drawing/2014/main" id="{CD3808E2-40E2-18E1-0420-82FB5A25DD0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3" name="Rectangle 12">
            <a:extLst>
              <a:ext uri="{FF2B5EF4-FFF2-40B4-BE49-F238E27FC236}">
                <a16:creationId xmlns:a16="http://schemas.microsoft.com/office/drawing/2014/main" id="{338D0590-E8E3-9D3E-363E-6643B72412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15" name="Rectangle 14">
            <a:extLst>
              <a:ext uri="{FF2B5EF4-FFF2-40B4-BE49-F238E27FC236}">
                <a16:creationId xmlns:a16="http://schemas.microsoft.com/office/drawing/2014/main" id="{3D0FF3C3-E008-BA56-80BD-688051459D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C6F61DE6-2E54-A72F-77B9-4273AB4963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Slide Number Placeholder 2">
            <a:extLst>
              <a:ext uri="{FF2B5EF4-FFF2-40B4-BE49-F238E27FC236}">
                <a16:creationId xmlns:a16="http://schemas.microsoft.com/office/drawing/2014/main" id="{A8F46464-11ED-F070-6C1C-45E93D383702}"/>
              </a:ext>
            </a:extLst>
          </p:cNvPr>
          <p:cNvSpPr>
            <a:spLocks noGrp="1"/>
          </p:cNvSpPr>
          <p:nvPr>
            <p:ph type="sldNum" sz="quarter" idx="12"/>
          </p:nvPr>
        </p:nvSpPr>
        <p:spPr>
          <a:xfrm>
            <a:off x="10352540" y="295729"/>
            <a:ext cx="838199" cy="767687"/>
          </a:xfrm>
        </p:spPr>
        <p:txBody>
          <a:bodyPr vert="horz" lIns="91440" tIns="45720" rIns="91440" bIns="45720" rtlCol="0" anchor="b">
            <a:normAutofit/>
          </a:bodyPr>
          <a:lstStyle/>
          <a:p>
            <a:pPr defTabSz="457200">
              <a:spcAft>
                <a:spcPts val="600"/>
              </a:spcAft>
            </a:pPr>
            <a:fld id="{D57F1E4F-1CFF-5643-939E-02111984F565}" type="slidenum">
              <a:rPr lang="en-US" b="0" i="0" kern="1200">
                <a:solidFill>
                  <a:srgbClr val="FFFFFF"/>
                </a:solidFill>
                <a:latin typeface="+mn-lt"/>
                <a:ea typeface="+mn-ea"/>
                <a:cs typeface="+mn-cs"/>
              </a:rPr>
              <a:pPr defTabSz="457200">
                <a:spcAft>
                  <a:spcPts val="600"/>
                </a:spcAft>
              </a:pPr>
              <a:t>36</a:t>
            </a:fld>
            <a:endParaRPr lang="en-US" b="0" i="0" kern="1200">
              <a:solidFill>
                <a:srgbClr val="FFFFFF"/>
              </a:solidFill>
              <a:latin typeface="+mn-lt"/>
              <a:ea typeface="+mn-ea"/>
              <a:cs typeface="+mn-cs"/>
            </a:endParaRPr>
          </a:p>
        </p:txBody>
      </p:sp>
      <p:cxnSp>
        <p:nvCxnSpPr>
          <p:cNvPr id="19" name="Straight Connector 18">
            <a:extLst>
              <a:ext uri="{FF2B5EF4-FFF2-40B4-BE49-F238E27FC236}">
                <a16:creationId xmlns:a16="http://schemas.microsoft.com/office/drawing/2014/main" id="{5E2DDED1-E9E2-E5AD-0016-5F0292A8F2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56687" y="1930986"/>
            <a:ext cx="0" cy="3200400"/>
          </a:xfrm>
          <a:prstGeom prst="line">
            <a:avLst/>
          </a:prstGeom>
          <a:ln w="15875" cap="sq">
            <a:solidFill>
              <a:schemeClr val="tx2">
                <a:alpha val="70000"/>
              </a:schemeClr>
            </a:solidFill>
            <a:miter lim="800000"/>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EE648A6-A5F1-8C59-773E-D3410FA46643}"/>
              </a:ext>
            </a:extLst>
          </p:cNvPr>
          <p:cNvSpPr>
            <a:spLocks noGrp="1"/>
          </p:cNvSpPr>
          <p:nvPr>
            <p:ph type="title"/>
          </p:nvPr>
        </p:nvSpPr>
        <p:spPr>
          <a:xfrm>
            <a:off x="4654295" y="1266958"/>
            <a:ext cx="6808362" cy="4528457"/>
          </a:xfrm>
        </p:spPr>
        <p:txBody>
          <a:bodyPr vert="horz" lIns="91440" tIns="45720" rIns="91440" bIns="45720" rtlCol="0" anchor="ctr">
            <a:normAutofit/>
          </a:bodyPr>
          <a:lstStyle/>
          <a:p>
            <a:r>
              <a:rPr lang="en-US" sz="7200"/>
              <a:t>Demo</a:t>
            </a:r>
            <a:endParaRPr lang="en-US">
              <a:ea typeface="+mj-ea"/>
              <a:cs typeface="+mj-cs"/>
            </a:endParaRPr>
          </a:p>
        </p:txBody>
      </p:sp>
    </p:spTree>
    <p:extLst>
      <p:ext uri="{BB962C8B-B14F-4D97-AF65-F5344CB8AC3E}">
        <p14:creationId xmlns:p14="http://schemas.microsoft.com/office/powerpoint/2010/main" val="33258264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5888DA6E-1920-9CC3-92DC-3037E0FB4F3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1B28F63-CF00-448F-B141-FE33C33B18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6" name="Picture 5">
            <a:extLst>
              <a:ext uri="{FF2B5EF4-FFF2-40B4-BE49-F238E27FC236}">
                <a16:creationId xmlns:a16="http://schemas.microsoft.com/office/drawing/2014/main" id="{2AE609E2-8522-44E4-9077-980E5BCF3E1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7" name="Oval 6">
            <a:extLst>
              <a:ext uri="{FF2B5EF4-FFF2-40B4-BE49-F238E27FC236}">
                <a16:creationId xmlns:a16="http://schemas.microsoft.com/office/drawing/2014/main" id="{4FA533C5-33E3-4611-AF9F-72811D8B26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9" name="Picture 8">
            <a:extLst>
              <a:ext uri="{FF2B5EF4-FFF2-40B4-BE49-F238E27FC236}">
                <a16:creationId xmlns:a16="http://schemas.microsoft.com/office/drawing/2014/main" id="{8949AD42-25FD-4C3D-9EEE-B7FEC580998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1" name="Picture 10">
            <a:extLst>
              <a:ext uri="{FF2B5EF4-FFF2-40B4-BE49-F238E27FC236}">
                <a16:creationId xmlns:a16="http://schemas.microsoft.com/office/drawing/2014/main" id="{6AC7D913-60B7-4603-881B-831DA5D3A94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3" name="Rectangle 12">
            <a:extLst>
              <a:ext uri="{FF2B5EF4-FFF2-40B4-BE49-F238E27FC236}">
                <a16:creationId xmlns:a16="http://schemas.microsoft.com/office/drawing/2014/main" id="{87F0FDC4-AD8C-47D9-9131-623C98ADB0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15" name="Rectangle 14">
            <a:extLst>
              <a:ext uri="{FF2B5EF4-FFF2-40B4-BE49-F238E27FC236}">
                <a16:creationId xmlns:a16="http://schemas.microsoft.com/office/drawing/2014/main" id="{E6A222EB-A81E-4238-B08D-AAB1828C8E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E014676C-074B-475A-8346-9C901C86CB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Slide Number Placeholder 2">
            <a:extLst>
              <a:ext uri="{FF2B5EF4-FFF2-40B4-BE49-F238E27FC236}">
                <a16:creationId xmlns:a16="http://schemas.microsoft.com/office/drawing/2014/main" id="{070ECCE0-768F-E3DD-833B-0CB6894110D8}"/>
              </a:ext>
            </a:extLst>
          </p:cNvPr>
          <p:cNvSpPr>
            <a:spLocks noGrp="1"/>
          </p:cNvSpPr>
          <p:nvPr>
            <p:ph type="sldNum" sz="quarter" idx="12"/>
          </p:nvPr>
        </p:nvSpPr>
        <p:spPr>
          <a:xfrm>
            <a:off x="10352540" y="295729"/>
            <a:ext cx="838199" cy="767687"/>
          </a:xfrm>
        </p:spPr>
        <p:txBody>
          <a:bodyPr vert="horz" lIns="91440" tIns="45720" rIns="91440" bIns="45720" rtlCol="0" anchor="b">
            <a:normAutofit/>
          </a:bodyPr>
          <a:lstStyle/>
          <a:p>
            <a:pPr defTabSz="457200">
              <a:spcAft>
                <a:spcPts val="600"/>
              </a:spcAft>
            </a:pPr>
            <a:fld id="{D57F1E4F-1CFF-5643-939E-02111984F565}" type="slidenum">
              <a:rPr lang="en-US" b="0" i="0" kern="1200">
                <a:solidFill>
                  <a:srgbClr val="FFFFFF"/>
                </a:solidFill>
                <a:latin typeface="+mn-lt"/>
                <a:ea typeface="+mn-ea"/>
                <a:cs typeface="+mn-cs"/>
              </a:rPr>
              <a:pPr defTabSz="457200">
                <a:spcAft>
                  <a:spcPts val="600"/>
                </a:spcAft>
              </a:pPr>
              <a:t>37</a:t>
            </a:fld>
            <a:endParaRPr lang="en-US" b="0" i="0" kern="1200">
              <a:solidFill>
                <a:srgbClr val="FFFFFF"/>
              </a:solidFill>
              <a:latin typeface="+mn-lt"/>
              <a:ea typeface="+mn-ea"/>
              <a:cs typeface="+mn-cs"/>
            </a:endParaRPr>
          </a:p>
        </p:txBody>
      </p:sp>
      <p:cxnSp>
        <p:nvCxnSpPr>
          <p:cNvPr id="19" name="Straight Connector 18">
            <a:extLst>
              <a:ext uri="{FF2B5EF4-FFF2-40B4-BE49-F238E27FC236}">
                <a16:creationId xmlns:a16="http://schemas.microsoft.com/office/drawing/2014/main" id="{179C4C8E-197B-4679-AE96-B5147F971C9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56687" y="1930986"/>
            <a:ext cx="0" cy="3200400"/>
          </a:xfrm>
          <a:prstGeom prst="line">
            <a:avLst/>
          </a:prstGeom>
          <a:ln w="15875" cap="sq">
            <a:solidFill>
              <a:schemeClr val="tx2">
                <a:alpha val="70000"/>
              </a:schemeClr>
            </a:solidFill>
            <a:miter lim="800000"/>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87DAD8E-AF06-05E0-4B66-A22E09D2ED56}"/>
              </a:ext>
            </a:extLst>
          </p:cNvPr>
          <p:cNvSpPr>
            <a:spLocks noGrp="1"/>
          </p:cNvSpPr>
          <p:nvPr>
            <p:ph type="title"/>
          </p:nvPr>
        </p:nvSpPr>
        <p:spPr>
          <a:xfrm>
            <a:off x="4654295" y="1266958"/>
            <a:ext cx="6808362" cy="4528457"/>
          </a:xfrm>
        </p:spPr>
        <p:txBody>
          <a:bodyPr vert="horz" lIns="91440" tIns="45720" rIns="91440" bIns="45720" rtlCol="0" anchor="ctr">
            <a:normAutofit/>
          </a:bodyPr>
          <a:lstStyle/>
          <a:p>
            <a:r>
              <a:rPr lang="en-US" sz="7200" b="0" i="0" kern="1200">
                <a:solidFill>
                  <a:schemeClr val="tx2"/>
                </a:solidFill>
                <a:latin typeface="+mj-lt"/>
                <a:ea typeface="+mj-ea"/>
                <a:cs typeface="+mj-cs"/>
              </a:rPr>
              <a:t>Questions?</a:t>
            </a:r>
          </a:p>
        </p:txBody>
      </p:sp>
    </p:spTree>
    <p:extLst>
      <p:ext uri="{BB962C8B-B14F-4D97-AF65-F5344CB8AC3E}">
        <p14:creationId xmlns:p14="http://schemas.microsoft.com/office/powerpoint/2010/main" val="18851359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8CAF2ED3-7A63-CC50-C5A5-F4CFB94FCCC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BA24482-B125-09CF-B3C4-E9F311320AA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6" name="Picture 5">
            <a:extLst>
              <a:ext uri="{FF2B5EF4-FFF2-40B4-BE49-F238E27FC236}">
                <a16:creationId xmlns:a16="http://schemas.microsoft.com/office/drawing/2014/main" id="{232EE01E-B9FD-AA59-1BFA-050AA1B731E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7" name="Oval 6">
            <a:extLst>
              <a:ext uri="{FF2B5EF4-FFF2-40B4-BE49-F238E27FC236}">
                <a16:creationId xmlns:a16="http://schemas.microsoft.com/office/drawing/2014/main" id="{123FDB21-06A3-3F42-1993-8B6CDF2E2C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9" name="Picture 8">
            <a:extLst>
              <a:ext uri="{FF2B5EF4-FFF2-40B4-BE49-F238E27FC236}">
                <a16:creationId xmlns:a16="http://schemas.microsoft.com/office/drawing/2014/main" id="{367724E6-85D4-8847-DF12-D86CE935EB8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1" name="Picture 10">
            <a:extLst>
              <a:ext uri="{FF2B5EF4-FFF2-40B4-BE49-F238E27FC236}">
                <a16:creationId xmlns:a16="http://schemas.microsoft.com/office/drawing/2014/main" id="{74AE0654-D559-E0A3-E7C7-5BD8446E597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3" name="Rectangle 12">
            <a:extLst>
              <a:ext uri="{FF2B5EF4-FFF2-40B4-BE49-F238E27FC236}">
                <a16:creationId xmlns:a16="http://schemas.microsoft.com/office/drawing/2014/main" id="{3533B1C3-FA39-893A-7FB1-8C910572DC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15" name="Rectangle 14">
            <a:extLst>
              <a:ext uri="{FF2B5EF4-FFF2-40B4-BE49-F238E27FC236}">
                <a16:creationId xmlns:a16="http://schemas.microsoft.com/office/drawing/2014/main" id="{88EC19F0-54A5-9031-F9BB-020E9E94DF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896BDC97-DD3E-A4EB-DE25-46E9B2C21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Slide Number Placeholder 2">
            <a:extLst>
              <a:ext uri="{FF2B5EF4-FFF2-40B4-BE49-F238E27FC236}">
                <a16:creationId xmlns:a16="http://schemas.microsoft.com/office/drawing/2014/main" id="{E280F33B-003A-98C6-E3BF-C59E67125B4E}"/>
              </a:ext>
            </a:extLst>
          </p:cNvPr>
          <p:cNvSpPr>
            <a:spLocks noGrp="1"/>
          </p:cNvSpPr>
          <p:nvPr>
            <p:ph type="sldNum" sz="quarter" idx="12"/>
          </p:nvPr>
        </p:nvSpPr>
        <p:spPr>
          <a:xfrm>
            <a:off x="10352540" y="295729"/>
            <a:ext cx="838199" cy="767687"/>
          </a:xfrm>
        </p:spPr>
        <p:txBody>
          <a:bodyPr vert="horz" lIns="91440" tIns="45720" rIns="91440" bIns="45720" rtlCol="0" anchor="b">
            <a:normAutofit/>
          </a:bodyPr>
          <a:lstStyle/>
          <a:p>
            <a:pPr defTabSz="457200">
              <a:spcAft>
                <a:spcPts val="600"/>
              </a:spcAft>
            </a:pPr>
            <a:fld id="{D57F1E4F-1CFF-5643-939E-02111984F565}" type="slidenum">
              <a:rPr lang="en-US" b="0" i="0" kern="1200">
                <a:solidFill>
                  <a:srgbClr val="FFFFFF"/>
                </a:solidFill>
                <a:latin typeface="+mn-lt"/>
                <a:ea typeface="+mn-ea"/>
                <a:cs typeface="+mn-cs"/>
              </a:rPr>
              <a:pPr defTabSz="457200">
                <a:spcAft>
                  <a:spcPts val="600"/>
                </a:spcAft>
              </a:pPr>
              <a:t>38</a:t>
            </a:fld>
            <a:endParaRPr lang="en-US" b="0" i="0" kern="1200">
              <a:solidFill>
                <a:srgbClr val="FFFFFF"/>
              </a:solidFill>
              <a:latin typeface="+mn-lt"/>
              <a:ea typeface="+mn-ea"/>
              <a:cs typeface="+mn-cs"/>
            </a:endParaRPr>
          </a:p>
        </p:txBody>
      </p:sp>
      <p:cxnSp>
        <p:nvCxnSpPr>
          <p:cNvPr id="19" name="Straight Connector 18">
            <a:extLst>
              <a:ext uri="{FF2B5EF4-FFF2-40B4-BE49-F238E27FC236}">
                <a16:creationId xmlns:a16="http://schemas.microsoft.com/office/drawing/2014/main" id="{D70540A8-7908-7A8A-CC42-72B7F263CED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56687" y="1930986"/>
            <a:ext cx="0" cy="3200400"/>
          </a:xfrm>
          <a:prstGeom prst="line">
            <a:avLst/>
          </a:prstGeom>
          <a:ln w="15875" cap="sq">
            <a:solidFill>
              <a:schemeClr val="tx2">
                <a:alpha val="70000"/>
              </a:schemeClr>
            </a:solidFill>
            <a:miter lim="800000"/>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53067094-70A6-AC7B-B138-4BBF817C6A37}"/>
              </a:ext>
            </a:extLst>
          </p:cNvPr>
          <p:cNvSpPr>
            <a:spLocks noGrp="1"/>
          </p:cNvSpPr>
          <p:nvPr>
            <p:ph type="title"/>
          </p:nvPr>
        </p:nvSpPr>
        <p:spPr>
          <a:xfrm>
            <a:off x="4654295" y="1266958"/>
            <a:ext cx="6808362" cy="4528457"/>
          </a:xfrm>
        </p:spPr>
        <p:txBody>
          <a:bodyPr vert="horz" lIns="91440" tIns="45720" rIns="91440" bIns="45720" rtlCol="0" anchor="ctr">
            <a:normAutofit/>
          </a:bodyPr>
          <a:lstStyle/>
          <a:p>
            <a:r>
              <a:rPr lang="en-US" sz="7200"/>
              <a:t>Thank you</a:t>
            </a:r>
            <a:endParaRPr lang="en-US">
              <a:ea typeface="+mj-ea"/>
              <a:cs typeface="+mj-cs"/>
            </a:endParaRPr>
          </a:p>
        </p:txBody>
      </p:sp>
    </p:spTree>
    <p:extLst>
      <p:ext uri="{BB962C8B-B14F-4D97-AF65-F5344CB8AC3E}">
        <p14:creationId xmlns:p14="http://schemas.microsoft.com/office/powerpoint/2010/main" val="137431299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7cf48d45-3ddb-4389-a9c1-c115526eb52e}" enabled="0" method="" siteId="{7cf48d45-3ddb-4389-a9c1-c115526eb52e}" removed="1"/>
</clbl:labelList>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38</Slides>
  <Notes>29</Notes>
  <HiddenSlides>0</HiddenSlides>
  <ScaleCrop>false</ScaleCrop>
  <HeadingPairs>
    <vt:vector size="4" baseType="variant">
      <vt:variant>
        <vt:lpstr>Theme</vt:lpstr>
      </vt:variant>
      <vt:variant>
        <vt:i4>1</vt:i4>
      </vt:variant>
      <vt:variant>
        <vt:lpstr>Slide Titles</vt:lpstr>
      </vt:variant>
      <vt:variant>
        <vt:i4>38</vt:i4>
      </vt:variant>
    </vt:vector>
  </HeadingPairs>
  <TitlesOfParts>
    <vt:vector size="39" baseType="lpstr">
      <vt:lpstr>Ion</vt:lpstr>
      <vt:lpstr>AIBI Computer Vision for Manufacturing</vt:lpstr>
      <vt:lpstr>Outline</vt:lpstr>
      <vt:lpstr>Overview</vt:lpstr>
      <vt:lpstr>Sponsor</vt:lpstr>
      <vt:lpstr>Needs</vt:lpstr>
      <vt:lpstr>Objectives</vt:lpstr>
      <vt:lpstr>Broader Impact</vt:lpstr>
      <vt:lpstr>Where Are We?</vt:lpstr>
      <vt:lpstr>Changes</vt:lpstr>
      <vt:lpstr>What’s New?</vt:lpstr>
      <vt:lpstr>Use case diagram</vt:lpstr>
      <vt:lpstr>System Requirements</vt:lpstr>
      <vt:lpstr>Preliminary System Design</vt:lpstr>
      <vt:lpstr>Architectural Design</vt:lpstr>
      <vt:lpstr>Structural Design</vt:lpstr>
      <vt:lpstr>Activity Diagram</vt:lpstr>
      <vt:lpstr>Design Alternatives</vt:lpstr>
      <vt:lpstr>Test Cases</vt:lpstr>
      <vt:lpstr>Test Cases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Challenges</vt:lpstr>
      <vt:lpstr>Challenges</vt:lpstr>
      <vt:lpstr>Team Member Logs</vt:lpstr>
      <vt:lpstr>Nathan DiGilio</vt:lpstr>
      <vt:lpstr>Jacob Dzikowski</vt:lpstr>
      <vt:lpstr>Collin Miller</vt:lpstr>
      <vt:lpstr>Dan Pora</vt:lpstr>
      <vt:lpstr>Demo</vt:lpstr>
      <vt:lpstr>Questions?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cp:revision>
  <cp:lastPrinted>2025-12-04T16:39:01Z</cp:lastPrinted>
  <dcterms:created xsi:type="dcterms:W3CDTF">2025-10-14T19:14:03Z</dcterms:created>
  <dcterms:modified xsi:type="dcterms:W3CDTF">2026-02-23T01:45:14Z</dcterms:modified>
</cp:coreProperties>
</file>